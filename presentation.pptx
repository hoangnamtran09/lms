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Rounded Rectangle 1"/>
          <p:cNvSpPr/>
          <p:nvPr/>
        </p:nvSpPr>
        <p:spPr>
          <a:xfrm>
            <a:off x="5303520" y="1188720"/>
            <a:ext cx="1463040" cy="1463040"/>
          </a:xfrm>
          <a:prstGeom prst="roundRect">
            <a:avLst/>
          </a:prstGeom>
          <a:solidFill>
            <a:srgbClr val="0D183A"/>
          </a:solidFill>
          <a:ln w="12700">
            <a:solidFill>
              <a:srgbClr val="25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0" y="1417320"/>
            <a:ext cx="1463040" cy="731520"/>
          </a:xfrm>
          <a:prstGeom prst="rect">
            <a:avLst/>
          </a:prstGeom>
          <a:noFill/>
        </p:spPr>
        <p:txBody>
          <a:bodyPr wrap="square">
            <a:spAutoFit/>
          </a:bodyPr>
          <a:lstStyle/>
          <a:p>
            <a:pPr algn="ctr">
              <a:defRPr sz="4400" b="0">
                <a:solidFill>
                  <a:srgbClr val="F8FAFC"/>
                </a:solidFill>
                <a:latin typeface="Be Vietnam Pro"/>
              </a:defRPr>
            </a:pPr>
            <a:r>
              <a:t>🎓</a:t>
            </a:r>
          </a:p>
        </p:txBody>
      </p:sp>
      <p:sp>
        <p:nvSpPr>
          <p:cNvPr id="4" name="TextBox 3"/>
          <p:cNvSpPr txBox="1"/>
          <p:nvPr/>
        </p:nvSpPr>
        <p:spPr>
          <a:xfrm>
            <a:off x="1371600" y="3017520"/>
            <a:ext cx="9418320" cy="2011680"/>
          </a:xfrm>
          <a:prstGeom prst="rect">
            <a:avLst/>
          </a:prstGeom>
          <a:noFill/>
        </p:spPr>
        <p:txBody>
          <a:bodyPr wrap="square">
            <a:spAutoFit/>
          </a:bodyPr>
          <a:lstStyle/>
          <a:p>
            <a:pPr algn="ctr">
              <a:defRPr sz="5400" b="1">
                <a:solidFill>
                  <a:srgbClr val="F8FAFC"/>
                </a:solidFill>
                <a:latin typeface="Be Vietnam Pro"/>
              </a:defRPr>
            </a:pPr>
            <a:r>
              <a:t>Hệ thống Quản lý</a:t>
            </a:r>
            <a:br/>
            <a:r>
              <a:t>Học tập Thông minh</a:t>
            </a:r>
          </a:p>
        </p:txBody>
      </p:sp>
      <p:sp>
        <p:nvSpPr>
          <p:cNvPr id="5" name="TextBox 4"/>
          <p:cNvSpPr txBox="1"/>
          <p:nvPr/>
        </p:nvSpPr>
        <p:spPr>
          <a:xfrm>
            <a:off x="2286000" y="4754880"/>
            <a:ext cx="7589520" cy="731520"/>
          </a:xfrm>
          <a:prstGeom prst="rect">
            <a:avLst/>
          </a:prstGeom>
          <a:noFill/>
        </p:spPr>
        <p:txBody>
          <a:bodyPr wrap="square">
            <a:spAutoFit/>
          </a:bodyPr>
          <a:lstStyle/>
          <a:p>
            <a:pPr algn="ctr">
              <a:defRPr sz="1800" b="0">
                <a:solidFill>
                  <a:srgbClr val="94A3B8"/>
                </a:solidFill>
                <a:latin typeface="Be Vietnam Pro"/>
              </a:defRPr>
            </a:pPr>
            <a:r>
              <a:t>Nền tảng học tập cá nhân hoá ứng dụng Trí tuệ Nhân tạo dành cho học sinh Việt Nam</a:t>
            </a:r>
          </a:p>
        </p:txBody>
      </p:sp>
      <p:sp>
        <p:nvSpPr>
          <p:cNvPr id="6" name="TextBox 5"/>
          <p:cNvSpPr txBox="1"/>
          <p:nvPr/>
        </p:nvSpPr>
        <p:spPr>
          <a:xfrm>
            <a:off x="2926080" y="5760720"/>
            <a:ext cx="2560320" cy="365760"/>
          </a:xfrm>
          <a:prstGeom prst="rect">
            <a:avLst/>
          </a:prstGeom>
          <a:noFill/>
        </p:spPr>
        <p:txBody>
          <a:bodyPr wrap="square">
            <a:spAutoFit/>
          </a:bodyPr>
          <a:lstStyle/>
          <a:p>
            <a:pPr algn="ctr">
              <a:defRPr sz="1200" b="0">
                <a:solidFill>
                  <a:srgbClr val="C4B5FD"/>
                </a:solidFill>
                <a:latin typeface="Be Vietnam Pro"/>
              </a:defRPr>
            </a:pPr>
            <a:r>
              <a:t>🤖 Trợ lý AI thông minh</a:t>
            </a:r>
          </a:p>
        </p:txBody>
      </p:sp>
      <p:sp>
        <p:nvSpPr>
          <p:cNvPr id="7" name="TextBox 6"/>
          <p:cNvSpPr txBox="1"/>
          <p:nvPr/>
        </p:nvSpPr>
        <p:spPr>
          <a:xfrm>
            <a:off x="5669280" y="5760720"/>
            <a:ext cx="2560320" cy="365760"/>
          </a:xfrm>
          <a:prstGeom prst="rect">
            <a:avLst/>
          </a:prstGeom>
          <a:noFill/>
        </p:spPr>
        <p:txBody>
          <a:bodyPr wrap="square">
            <a:spAutoFit/>
          </a:bodyPr>
          <a:lstStyle/>
          <a:p>
            <a:pPr algn="ctr">
              <a:defRPr sz="1200" b="0">
                <a:solidFill>
                  <a:srgbClr val="93C5FD"/>
                </a:solidFill>
                <a:latin typeface="Be Vietnam Pro"/>
              </a:defRPr>
            </a:pPr>
            <a:r>
              <a:t>📚 Quản lý học tập toàn diện</a:t>
            </a:r>
          </a:p>
        </p:txBody>
      </p:sp>
      <p:sp>
        <p:nvSpPr>
          <p:cNvPr id="8" name="TextBox 7"/>
          <p:cNvSpPr txBox="1"/>
          <p:nvPr/>
        </p:nvSpPr>
        <p:spPr>
          <a:xfrm>
            <a:off x="8412480" y="5760720"/>
            <a:ext cx="2560320" cy="365760"/>
          </a:xfrm>
          <a:prstGeom prst="rect">
            <a:avLst/>
          </a:prstGeom>
          <a:noFill/>
        </p:spPr>
        <p:txBody>
          <a:bodyPr wrap="square">
            <a:spAutoFit/>
          </a:bodyPr>
          <a:lstStyle/>
          <a:p>
            <a:pPr algn="ctr">
              <a:defRPr sz="1200" b="0">
                <a:solidFill>
                  <a:srgbClr val="6EE7B7"/>
                </a:solidFill>
                <a:latin typeface="Be Vietnam Pro"/>
              </a:defRPr>
            </a:pPr>
            <a:r>
              <a:t>🏆 Học mà chơi &amp; Thành tựu</a:t>
            </a:r>
          </a:p>
        </p:txBody>
      </p:sp>
      <p:sp>
        <p:nvSpPr>
          <p:cNvPr id="9" name="TextBox 8"/>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1/27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0" y="1371600"/>
            <a:ext cx="12191695" cy="2743200"/>
          </a:xfrm>
          <a:prstGeom prst="rect">
            <a:avLst/>
          </a:prstGeom>
          <a:noFill/>
        </p:spPr>
        <p:txBody>
          <a:bodyPr wrap="square">
            <a:spAutoFit/>
          </a:bodyPr>
          <a:lstStyle/>
          <a:p>
            <a:pPr algn="ctr">
              <a:defRPr sz="14000" b="1">
                <a:solidFill>
                  <a:srgbClr val="0D1530"/>
                </a:solidFill>
                <a:latin typeface="Be Vietnam Pro"/>
              </a:defRPr>
            </a:pPr>
            <a:r>
              <a:t>01</a:t>
            </a:r>
          </a:p>
        </p:txBody>
      </p:sp>
      <p:sp>
        <p:nvSpPr>
          <p:cNvPr id="3" name="TextBox 2"/>
          <p:cNvSpPr txBox="1"/>
          <p:nvPr/>
        </p:nvSpPr>
        <p:spPr>
          <a:xfrm>
            <a:off x="0" y="2560320"/>
            <a:ext cx="12191695" cy="914400"/>
          </a:xfrm>
          <a:prstGeom prst="rect">
            <a:avLst/>
          </a:prstGeom>
          <a:noFill/>
        </p:spPr>
        <p:txBody>
          <a:bodyPr wrap="square">
            <a:spAutoFit/>
          </a:bodyPr>
          <a:lstStyle/>
          <a:p>
            <a:pPr algn="ctr">
              <a:defRPr sz="4400" b="1">
                <a:solidFill>
                  <a:srgbClr val="F8FAFC"/>
                </a:solidFill>
                <a:latin typeface="Be Vietnam Pro"/>
              </a:defRPr>
            </a:pPr>
            <a:r>
              <a:t>Giới thiệu về EduSelf</a:t>
            </a:r>
          </a:p>
        </p:txBody>
      </p:sp>
      <p:sp>
        <p:nvSpPr>
          <p:cNvPr id="4" name="TextBox 3"/>
          <p:cNvSpPr txBox="1"/>
          <p:nvPr/>
        </p:nvSpPr>
        <p:spPr>
          <a:xfrm>
            <a:off x="1828800" y="3657600"/>
            <a:ext cx="8503920" cy="1371600"/>
          </a:xfrm>
          <a:prstGeom prst="rect">
            <a:avLst/>
          </a:prstGeom>
          <a:noFill/>
        </p:spPr>
        <p:txBody>
          <a:bodyPr wrap="square">
            <a:spAutoFit/>
          </a:bodyPr>
          <a:lstStyle/>
          <a:p>
            <a:pPr algn="ctr">
              <a:defRPr sz="1800" b="0">
                <a:solidFill>
                  <a:srgbClr val="94A3B8"/>
                </a:solidFill>
                <a:latin typeface="Be Vietnam Pro"/>
              </a:defRPr>
            </a:pPr>
            <a:r>
              <a:t>EduSelf là nền tảng học tập trực tuyến thông minh, kết hợp công nghệ AI hiện đại với phương pháp sư phạm gợi mở, giúp cá nhân hoá trải nghiệm học tập cho từng học sinh Việt Nam.</a:t>
            </a:r>
          </a:p>
        </p:txBody>
      </p:sp>
      <p:sp>
        <p:nvSpPr>
          <p:cNvPr id="5" name="TextBox 4"/>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2/27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pPr algn="ctr">
              <a:defRPr sz="3400" b="1">
                <a:solidFill>
                  <a:srgbClr val="F8FAFC"/>
                </a:solidFill>
                <a:latin typeface="Be Vietnam Pro"/>
              </a:defRPr>
            </a:pPr>
            <a:r>
              <a:t>EduSelf là nền tảng toàn diện cho giáo dục</a:t>
            </a:r>
          </a:p>
        </p:txBody>
      </p:sp>
      <p:sp>
        <p:nvSpPr>
          <p:cNvPr id="3" name="TextBox 2"/>
          <p:cNvSpPr txBox="1"/>
          <p:nvPr/>
        </p:nvSpPr>
        <p:spPr>
          <a:xfrm>
            <a:off x="1371600" y="1188720"/>
            <a:ext cx="2286000" cy="731520"/>
          </a:xfrm>
          <a:prstGeom prst="rect">
            <a:avLst/>
          </a:prstGeom>
          <a:noFill/>
        </p:spPr>
        <p:txBody>
          <a:bodyPr wrap="square">
            <a:spAutoFit/>
          </a:bodyPr>
          <a:lstStyle/>
          <a:p>
            <a:pPr algn="ctr">
              <a:defRPr sz="4400" b="1">
                <a:solidFill>
                  <a:srgbClr val="60A5FA"/>
                </a:solidFill>
                <a:latin typeface="Be Vietnam Pro"/>
              </a:defRPr>
            </a:pPr>
            <a:r>
              <a:t>5</a:t>
            </a:r>
          </a:p>
        </p:txBody>
      </p:sp>
      <p:sp>
        <p:nvSpPr>
          <p:cNvPr id="4" name="TextBox 3"/>
          <p:cNvSpPr txBox="1"/>
          <p:nvPr/>
        </p:nvSpPr>
        <p:spPr>
          <a:xfrm>
            <a:off x="1371600" y="1828800"/>
            <a:ext cx="2286000" cy="365760"/>
          </a:xfrm>
          <a:prstGeom prst="rect">
            <a:avLst/>
          </a:prstGeom>
          <a:noFill/>
        </p:spPr>
        <p:txBody>
          <a:bodyPr wrap="square">
            <a:spAutoFit/>
          </a:bodyPr>
          <a:lstStyle/>
          <a:p>
            <a:pPr algn="ctr">
              <a:defRPr sz="1400" b="0">
                <a:solidFill>
                  <a:srgbClr val="94A3B8"/>
                </a:solidFill>
                <a:latin typeface="Be Vietnam Pro"/>
              </a:defRPr>
            </a:pPr>
            <a:r>
              <a:t>Vai trò người dùng</a:t>
            </a:r>
          </a:p>
        </p:txBody>
      </p:sp>
      <p:sp>
        <p:nvSpPr>
          <p:cNvPr id="5" name="TextBox 4"/>
          <p:cNvSpPr txBox="1"/>
          <p:nvPr/>
        </p:nvSpPr>
        <p:spPr>
          <a:xfrm>
            <a:off x="3931920" y="1188720"/>
            <a:ext cx="2286000" cy="731520"/>
          </a:xfrm>
          <a:prstGeom prst="rect">
            <a:avLst/>
          </a:prstGeom>
          <a:noFill/>
        </p:spPr>
        <p:txBody>
          <a:bodyPr wrap="square">
            <a:spAutoFit/>
          </a:bodyPr>
          <a:lstStyle/>
          <a:p>
            <a:pPr algn="ctr">
              <a:defRPr sz="4400" b="1">
                <a:solidFill>
                  <a:srgbClr val="60A5FA"/>
                </a:solidFill>
                <a:latin typeface="Be Vietnam Pro"/>
              </a:defRPr>
            </a:pPr>
            <a:r>
              <a:t>45+</a:t>
            </a:r>
          </a:p>
        </p:txBody>
      </p:sp>
      <p:sp>
        <p:nvSpPr>
          <p:cNvPr id="6" name="TextBox 5"/>
          <p:cNvSpPr txBox="1"/>
          <p:nvPr/>
        </p:nvSpPr>
        <p:spPr>
          <a:xfrm>
            <a:off x="3931920" y="1828800"/>
            <a:ext cx="2286000" cy="365760"/>
          </a:xfrm>
          <a:prstGeom prst="rect">
            <a:avLst/>
          </a:prstGeom>
          <a:noFill/>
        </p:spPr>
        <p:txBody>
          <a:bodyPr wrap="square">
            <a:spAutoFit/>
          </a:bodyPr>
          <a:lstStyle/>
          <a:p>
            <a:pPr algn="ctr">
              <a:defRPr sz="1400" b="0">
                <a:solidFill>
                  <a:srgbClr val="94A3B8"/>
                </a:solidFill>
                <a:latin typeface="Be Vietnam Pro"/>
              </a:defRPr>
            </a:pPr>
            <a:r>
              <a:t>API Endpoints</a:t>
            </a:r>
          </a:p>
        </p:txBody>
      </p:sp>
      <p:sp>
        <p:nvSpPr>
          <p:cNvPr id="7" name="TextBox 6"/>
          <p:cNvSpPr txBox="1"/>
          <p:nvPr/>
        </p:nvSpPr>
        <p:spPr>
          <a:xfrm>
            <a:off x="6492240" y="1188720"/>
            <a:ext cx="2286000" cy="731520"/>
          </a:xfrm>
          <a:prstGeom prst="rect">
            <a:avLst/>
          </a:prstGeom>
          <a:noFill/>
        </p:spPr>
        <p:txBody>
          <a:bodyPr wrap="square">
            <a:spAutoFit/>
          </a:bodyPr>
          <a:lstStyle/>
          <a:p>
            <a:pPr algn="ctr">
              <a:defRPr sz="4400" b="1">
                <a:solidFill>
                  <a:srgbClr val="60A5FA"/>
                </a:solidFill>
                <a:latin typeface="Be Vietnam Pro"/>
              </a:defRPr>
            </a:pPr>
            <a:r>
              <a:t>10</a:t>
            </a:r>
          </a:p>
        </p:txBody>
      </p:sp>
      <p:sp>
        <p:nvSpPr>
          <p:cNvPr id="8" name="TextBox 7"/>
          <p:cNvSpPr txBox="1"/>
          <p:nvPr/>
        </p:nvSpPr>
        <p:spPr>
          <a:xfrm>
            <a:off x="6492240" y="1828800"/>
            <a:ext cx="2286000" cy="365760"/>
          </a:xfrm>
          <a:prstGeom prst="rect">
            <a:avLst/>
          </a:prstGeom>
          <a:noFill/>
        </p:spPr>
        <p:txBody>
          <a:bodyPr wrap="square">
            <a:spAutoFit/>
          </a:bodyPr>
          <a:lstStyle/>
          <a:p>
            <a:pPr algn="ctr">
              <a:defRPr sz="1400" b="0">
                <a:solidFill>
                  <a:srgbClr val="94A3B8"/>
                </a:solidFill>
                <a:latin typeface="Be Vietnam Pro"/>
              </a:defRPr>
            </a:pPr>
            <a:r>
              <a:t>Nhóm tính năng</a:t>
            </a:r>
          </a:p>
        </p:txBody>
      </p:sp>
      <p:sp>
        <p:nvSpPr>
          <p:cNvPr id="9" name="TextBox 8"/>
          <p:cNvSpPr txBox="1"/>
          <p:nvPr/>
        </p:nvSpPr>
        <p:spPr>
          <a:xfrm>
            <a:off x="9052559" y="1188720"/>
            <a:ext cx="2286000" cy="731520"/>
          </a:xfrm>
          <a:prstGeom prst="rect">
            <a:avLst/>
          </a:prstGeom>
          <a:noFill/>
        </p:spPr>
        <p:txBody>
          <a:bodyPr wrap="square">
            <a:spAutoFit/>
          </a:bodyPr>
          <a:lstStyle/>
          <a:p>
            <a:pPr algn="ctr">
              <a:defRPr sz="4400" b="1">
                <a:solidFill>
                  <a:srgbClr val="60A5FA"/>
                </a:solidFill>
                <a:latin typeface="Be Vietnam Pro"/>
              </a:defRPr>
            </a:pPr>
            <a:r>
              <a:t>24/7</a:t>
            </a:r>
          </a:p>
        </p:txBody>
      </p:sp>
      <p:sp>
        <p:nvSpPr>
          <p:cNvPr id="10" name="TextBox 9"/>
          <p:cNvSpPr txBox="1"/>
          <p:nvPr/>
        </p:nvSpPr>
        <p:spPr>
          <a:xfrm>
            <a:off x="9052559" y="1828800"/>
            <a:ext cx="2286000" cy="365760"/>
          </a:xfrm>
          <a:prstGeom prst="rect">
            <a:avLst/>
          </a:prstGeom>
          <a:noFill/>
        </p:spPr>
        <p:txBody>
          <a:bodyPr wrap="square">
            <a:spAutoFit/>
          </a:bodyPr>
          <a:lstStyle/>
          <a:p>
            <a:pPr algn="ctr">
              <a:defRPr sz="1400" b="0">
                <a:solidFill>
                  <a:srgbClr val="94A3B8"/>
                </a:solidFill>
                <a:latin typeface="Be Vietnam Pro"/>
              </a:defRPr>
            </a:pPr>
            <a:r>
              <a:t>AI sẵn sàng</a:t>
            </a:r>
          </a:p>
        </p:txBody>
      </p:sp>
      <p:sp>
        <p:nvSpPr>
          <p:cNvPr id="11" name="Rounded Rectangle 10"/>
          <p:cNvSpPr/>
          <p:nvPr/>
        </p:nvSpPr>
        <p:spPr>
          <a:xfrm>
            <a:off x="548640" y="2560320"/>
            <a:ext cx="2148840" cy="292608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743200"/>
            <a:ext cx="2148840" cy="457200"/>
          </a:xfrm>
          <a:prstGeom prst="rect">
            <a:avLst/>
          </a:prstGeom>
          <a:noFill/>
        </p:spPr>
        <p:txBody>
          <a:bodyPr wrap="square">
            <a:spAutoFit/>
          </a:bodyPr>
          <a:lstStyle/>
          <a:p>
            <a:pPr algn="ctr">
              <a:defRPr sz="2800" b="0">
                <a:solidFill>
                  <a:srgbClr val="F8FAFC"/>
                </a:solidFill>
                <a:latin typeface="Be Vietnam Pro"/>
              </a:defRPr>
            </a:pPr>
            <a:r>
              <a:t>👑</a:t>
            </a:r>
          </a:p>
        </p:txBody>
      </p:sp>
      <p:sp>
        <p:nvSpPr>
          <p:cNvPr id="13" name="TextBox 12"/>
          <p:cNvSpPr txBox="1"/>
          <p:nvPr/>
        </p:nvSpPr>
        <p:spPr>
          <a:xfrm>
            <a:off x="548640" y="3291840"/>
            <a:ext cx="2148840" cy="365760"/>
          </a:xfrm>
          <a:prstGeom prst="rect">
            <a:avLst/>
          </a:prstGeom>
          <a:noFill/>
        </p:spPr>
        <p:txBody>
          <a:bodyPr wrap="square">
            <a:spAutoFit/>
          </a:bodyPr>
          <a:lstStyle/>
          <a:p>
            <a:pPr algn="ctr">
              <a:defRPr sz="1400" b="1">
                <a:solidFill>
                  <a:srgbClr val="F8FAFC"/>
                </a:solidFill>
                <a:latin typeface="Be Vietnam Pro"/>
              </a:defRPr>
            </a:pPr>
            <a:r>
              <a:t>Super Admin</a:t>
            </a:r>
          </a:p>
        </p:txBody>
      </p:sp>
      <p:sp>
        <p:nvSpPr>
          <p:cNvPr id="14" name="TextBox 13"/>
          <p:cNvSpPr txBox="1"/>
          <p:nvPr/>
        </p:nvSpPr>
        <p:spPr>
          <a:xfrm>
            <a:off x="548640" y="3749039"/>
            <a:ext cx="2148840" cy="822960"/>
          </a:xfrm>
          <a:prstGeom prst="rect">
            <a:avLst/>
          </a:prstGeom>
          <a:noFill/>
        </p:spPr>
        <p:txBody>
          <a:bodyPr wrap="square">
            <a:spAutoFit/>
          </a:bodyPr>
          <a:lstStyle/>
          <a:p>
            <a:pPr algn="ctr">
              <a:defRPr sz="1000" b="0">
                <a:solidFill>
                  <a:srgbClr val="94A3B8"/>
                </a:solidFill>
                <a:latin typeface="Be Vietnam Pro"/>
              </a:defRPr>
            </a:pPr>
            <a:r>
              <a:t>Quản trị hệ thống cao nhất,</a:t>
            </a:r>
            <a:br/>
            <a:r>
              <a:t>toàn quyền kiểm soát</a:t>
            </a:r>
          </a:p>
        </p:txBody>
      </p:sp>
      <p:sp>
        <p:nvSpPr>
          <p:cNvPr id="15" name="Rounded Rectangle 14"/>
          <p:cNvSpPr/>
          <p:nvPr/>
        </p:nvSpPr>
        <p:spPr>
          <a:xfrm>
            <a:off x="2880360" y="2560320"/>
            <a:ext cx="2148840" cy="292608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80360" y="2743200"/>
            <a:ext cx="2148840" cy="457200"/>
          </a:xfrm>
          <a:prstGeom prst="rect">
            <a:avLst/>
          </a:prstGeom>
          <a:noFill/>
        </p:spPr>
        <p:txBody>
          <a:bodyPr wrap="square">
            <a:spAutoFit/>
          </a:bodyPr>
          <a:lstStyle/>
          <a:p>
            <a:pPr algn="ctr">
              <a:defRPr sz="2800" b="0">
                <a:solidFill>
                  <a:srgbClr val="F8FAFC"/>
                </a:solidFill>
                <a:latin typeface="Be Vietnam Pro"/>
              </a:defRPr>
            </a:pPr>
            <a:r>
              <a:t>⚙️</a:t>
            </a:r>
          </a:p>
        </p:txBody>
      </p:sp>
      <p:sp>
        <p:nvSpPr>
          <p:cNvPr id="17" name="TextBox 16"/>
          <p:cNvSpPr txBox="1"/>
          <p:nvPr/>
        </p:nvSpPr>
        <p:spPr>
          <a:xfrm>
            <a:off x="2880360" y="3291840"/>
            <a:ext cx="2148840" cy="365760"/>
          </a:xfrm>
          <a:prstGeom prst="rect">
            <a:avLst/>
          </a:prstGeom>
          <a:noFill/>
        </p:spPr>
        <p:txBody>
          <a:bodyPr wrap="square">
            <a:spAutoFit/>
          </a:bodyPr>
          <a:lstStyle/>
          <a:p>
            <a:pPr algn="ctr">
              <a:defRPr sz="1400" b="1">
                <a:solidFill>
                  <a:srgbClr val="F8FAFC"/>
                </a:solidFill>
                <a:latin typeface="Be Vietnam Pro"/>
              </a:defRPr>
            </a:pPr>
            <a:r>
              <a:t>Admin</a:t>
            </a:r>
          </a:p>
        </p:txBody>
      </p:sp>
      <p:sp>
        <p:nvSpPr>
          <p:cNvPr id="18" name="TextBox 17"/>
          <p:cNvSpPr txBox="1"/>
          <p:nvPr/>
        </p:nvSpPr>
        <p:spPr>
          <a:xfrm>
            <a:off x="2880360" y="3749039"/>
            <a:ext cx="2148840" cy="822960"/>
          </a:xfrm>
          <a:prstGeom prst="rect">
            <a:avLst/>
          </a:prstGeom>
          <a:noFill/>
        </p:spPr>
        <p:txBody>
          <a:bodyPr wrap="square">
            <a:spAutoFit/>
          </a:bodyPr>
          <a:lstStyle/>
          <a:p>
            <a:pPr algn="ctr">
              <a:defRPr sz="1000" b="0">
                <a:solidFill>
                  <a:srgbClr val="94A3B8"/>
                </a:solidFill>
                <a:latin typeface="Be Vietnam Pro"/>
              </a:defRPr>
            </a:pPr>
            <a:r>
              <a:t>Quản lý người dùng, môn học,</a:t>
            </a:r>
            <a:br/>
            <a:r>
              <a:t>bài tập &amp; xuất dữ liệu</a:t>
            </a:r>
          </a:p>
        </p:txBody>
      </p:sp>
      <p:sp>
        <p:nvSpPr>
          <p:cNvPr id="19" name="Rounded Rectangle 18"/>
          <p:cNvSpPr/>
          <p:nvPr/>
        </p:nvSpPr>
        <p:spPr>
          <a:xfrm>
            <a:off x="5212079" y="2560320"/>
            <a:ext cx="2148840" cy="292608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2079" y="2743200"/>
            <a:ext cx="2148840" cy="457200"/>
          </a:xfrm>
          <a:prstGeom prst="rect">
            <a:avLst/>
          </a:prstGeom>
          <a:noFill/>
        </p:spPr>
        <p:txBody>
          <a:bodyPr wrap="square">
            <a:spAutoFit/>
          </a:bodyPr>
          <a:lstStyle/>
          <a:p>
            <a:pPr algn="ctr">
              <a:defRPr sz="2800" b="0">
                <a:solidFill>
                  <a:srgbClr val="F8FAFC"/>
                </a:solidFill>
                <a:latin typeface="Be Vietnam Pro"/>
              </a:defRPr>
            </a:pPr>
            <a:r>
              <a:t>👩‍🏫</a:t>
            </a:r>
          </a:p>
        </p:txBody>
      </p:sp>
      <p:sp>
        <p:nvSpPr>
          <p:cNvPr id="21" name="TextBox 20"/>
          <p:cNvSpPr txBox="1"/>
          <p:nvPr/>
        </p:nvSpPr>
        <p:spPr>
          <a:xfrm>
            <a:off x="5212079" y="3291840"/>
            <a:ext cx="2148840" cy="365760"/>
          </a:xfrm>
          <a:prstGeom prst="rect">
            <a:avLst/>
          </a:prstGeom>
          <a:noFill/>
        </p:spPr>
        <p:txBody>
          <a:bodyPr wrap="square">
            <a:spAutoFit/>
          </a:bodyPr>
          <a:lstStyle/>
          <a:p>
            <a:pPr algn="ctr">
              <a:defRPr sz="1400" b="1">
                <a:solidFill>
                  <a:srgbClr val="F8FAFC"/>
                </a:solidFill>
                <a:latin typeface="Be Vietnam Pro"/>
              </a:defRPr>
            </a:pPr>
            <a:r>
              <a:t>Giáo viên</a:t>
            </a:r>
          </a:p>
        </p:txBody>
      </p:sp>
      <p:sp>
        <p:nvSpPr>
          <p:cNvPr id="22" name="TextBox 21"/>
          <p:cNvSpPr txBox="1"/>
          <p:nvPr/>
        </p:nvSpPr>
        <p:spPr>
          <a:xfrm>
            <a:off x="5212079" y="3749039"/>
            <a:ext cx="2148840" cy="822960"/>
          </a:xfrm>
          <a:prstGeom prst="rect">
            <a:avLst/>
          </a:prstGeom>
          <a:noFill/>
        </p:spPr>
        <p:txBody>
          <a:bodyPr wrap="square">
            <a:spAutoFit/>
          </a:bodyPr>
          <a:lstStyle/>
          <a:p>
            <a:pPr algn="ctr">
              <a:defRPr sz="1000" b="0">
                <a:solidFill>
                  <a:srgbClr val="94A3B8"/>
                </a:solidFill>
                <a:latin typeface="Be Vietnam Pro"/>
              </a:defRPr>
            </a:pPr>
            <a:r>
              <a:t>Tạo bài tập, chấm điểm,</a:t>
            </a:r>
            <a:br/>
            <a:r>
              <a:t>theo dõi học sinh, điểm danh</a:t>
            </a:r>
          </a:p>
        </p:txBody>
      </p:sp>
      <p:sp>
        <p:nvSpPr>
          <p:cNvPr id="23" name="Rounded Rectangle 22"/>
          <p:cNvSpPr/>
          <p:nvPr/>
        </p:nvSpPr>
        <p:spPr>
          <a:xfrm>
            <a:off x="7543800" y="2560320"/>
            <a:ext cx="2148840" cy="292608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800" y="2743200"/>
            <a:ext cx="2148840" cy="457200"/>
          </a:xfrm>
          <a:prstGeom prst="rect">
            <a:avLst/>
          </a:prstGeom>
          <a:noFill/>
        </p:spPr>
        <p:txBody>
          <a:bodyPr wrap="square">
            <a:spAutoFit/>
          </a:bodyPr>
          <a:lstStyle/>
          <a:p>
            <a:pPr algn="ctr">
              <a:defRPr sz="2800" b="0">
                <a:solidFill>
                  <a:srgbClr val="F8FAFC"/>
                </a:solidFill>
                <a:latin typeface="Be Vietnam Pro"/>
              </a:defRPr>
            </a:pPr>
            <a:r>
              <a:t>👨‍👩‍👧</a:t>
            </a:r>
          </a:p>
        </p:txBody>
      </p:sp>
      <p:sp>
        <p:nvSpPr>
          <p:cNvPr id="25" name="TextBox 24"/>
          <p:cNvSpPr txBox="1"/>
          <p:nvPr/>
        </p:nvSpPr>
        <p:spPr>
          <a:xfrm>
            <a:off x="7543800" y="3291840"/>
            <a:ext cx="2148840" cy="365760"/>
          </a:xfrm>
          <a:prstGeom prst="rect">
            <a:avLst/>
          </a:prstGeom>
          <a:noFill/>
        </p:spPr>
        <p:txBody>
          <a:bodyPr wrap="square">
            <a:spAutoFit/>
          </a:bodyPr>
          <a:lstStyle/>
          <a:p>
            <a:pPr algn="ctr">
              <a:defRPr sz="1400" b="1">
                <a:solidFill>
                  <a:srgbClr val="F8FAFC"/>
                </a:solidFill>
                <a:latin typeface="Be Vietnam Pro"/>
              </a:defRPr>
            </a:pPr>
            <a:r>
              <a:t>Phụ huynh</a:t>
            </a:r>
          </a:p>
        </p:txBody>
      </p:sp>
      <p:sp>
        <p:nvSpPr>
          <p:cNvPr id="26" name="TextBox 25"/>
          <p:cNvSpPr txBox="1"/>
          <p:nvPr/>
        </p:nvSpPr>
        <p:spPr>
          <a:xfrm>
            <a:off x="7543800" y="3749039"/>
            <a:ext cx="2148840" cy="822960"/>
          </a:xfrm>
          <a:prstGeom prst="rect">
            <a:avLst/>
          </a:prstGeom>
          <a:noFill/>
        </p:spPr>
        <p:txBody>
          <a:bodyPr wrap="square">
            <a:spAutoFit/>
          </a:bodyPr>
          <a:lstStyle/>
          <a:p>
            <a:pPr algn="ctr">
              <a:defRPr sz="1000" b="0">
                <a:solidFill>
                  <a:srgbClr val="94A3B8"/>
                </a:solidFill>
                <a:latin typeface="Be Vietnam Pro"/>
              </a:defRPr>
            </a:pPr>
            <a:r>
              <a:t>Theo dõi tiến độ học tập</a:t>
            </a:r>
            <a:br/>
            <a:r>
              <a:t>của con, nhận báo cáo AI</a:t>
            </a:r>
          </a:p>
        </p:txBody>
      </p:sp>
      <p:sp>
        <p:nvSpPr>
          <p:cNvPr id="27" name="Rounded Rectangle 26"/>
          <p:cNvSpPr/>
          <p:nvPr/>
        </p:nvSpPr>
        <p:spPr>
          <a:xfrm>
            <a:off x="9875519" y="2560320"/>
            <a:ext cx="2148840" cy="292608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5519" y="2743200"/>
            <a:ext cx="2148840" cy="457200"/>
          </a:xfrm>
          <a:prstGeom prst="rect">
            <a:avLst/>
          </a:prstGeom>
          <a:noFill/>
        </p:spPr>
        <p:txBody>
          <a:bodyPr wrap="square">
            <a:spAutoFit/>
          </a:bodyPr>
          <a:lstStyle/>
          <a:p>
            <a:pPr algn="ctr">
              <a:defRPr sz="2800" b="0">
                <a:solidFill>
                  <a:srgbClr val="F8FAFC"/>
                </a:solidFill>
                <a:latin typeface="Be Vietnam Pro"/>
              </a:defRPr>
            </a:pPr>
            <a:r>
              <a:t>🎓</a:t>
            </a:r>
          </a:p>
        </p:txBody>
      </p:sp>
      <p:sp>
        <p:nvSpPr>
          <p:cNvPr id="29" name="TextBox 28"/>
          <p:cNvSpPr txBox="1"/>
          <p:nvPr/>
        </p:nvSpPr>
        <p:spPr>
          <a:xfrm>
            <a:off x="9875519" y="3291840"/>
            <a:ext cx="2148840" cy="365760"/>
          </a:xfrm>
          <a:prstGeom prst="rect">
            <a:avLst/>
          </a:prstGeom>
          <a:noFill/>
        </p:spPr>
        <p:txBody>
          <a:bodyPr wrap="square">
            <a:spAutoFit/>
          </a:bodyPr>
          <a:lstStyle/>
          <a:p>
            <a:pPr algn="ctr">
              <a:defRPr sz="1400" b="1">
                <a:solidFill>
                  <a:srgbClr val="F8FAFC"/>
                </a:solidFill>
                <a:latin typeface="Be Vietnam Pro"/>
              </a:defRPr>
            </a:pPr>
            <a:r>
              <a:t>Học sinh</a:t>
            </a:r>
          </a:p>
        </p:txBody>
      </p:sp>
      <p:sp>
        <p:nvSpPr>
          <p:cNvPr id="30" name="TextBox 29"/>
          <p:cNvSpPr txBox="1"/>
          <p:nvPr/>
        </p:nvSpPr>
        <p:spPr>
          <a:xfrm>
            <a:off x="9875519" y="3749039"/>
            <a:ext cx="2148840" cy="822960"/>
          </a:xfrm>
          <a:prstGeom prst="rect">
            <a:avLst/>
          </a:prstGeom>
          <a:noFill/>
        </p:spPr>
        <p:txBody>
          <a:bodyPr wrap="square">
            <a:spAutoFit/>
          </a:bodyPr>
          <a:lstStyle/>
          <a:p>
            <a:pPr algn="ctr">
              <a:defRPr sz="1000" b="0">
                <a:solidFill>
                  <a:srgbClr val="94A3B8"/>
                </a:solidFill>
                <a:latin typeface="Be Vietnam Pro"/>
              </a:defRPr>
            </a:pPr>
            <a:r>
              <a:t>Học bài, chat AI, làm quiz,</a:t>
            </a:r>
            <a:br/>
            <a:r>
              <a:t>nộp bài tập, tích luỹ thành tựu</a:t>
            </a:r>
          </a:p>
        </p:txBody>
      </p:sp>
      <p:sp>
        <p:nvSpPr>
          <p:cNvPr id="31" name="TextBox 30"/>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3/27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0" y="1371600"/>
            <a:ext cx="12191695" cy="2743200"/>
          </a:xfrm>
          <a:prstGeom prst="rect">
            <a:avLst/>
          </a:prstGeom>
          <a:noFill/>
        </p:spPr>
        <p:txBody>
          <a:bodyPr wrap="square">
            <a:spAutoFit/>
          </a:bodyPr>
          <a:lstStyle/>
          <a:p>
            <a:pPr algn="ctr">
              <a:defRPr sz="14000" b="1">
                <a:solidFill>
                  <a:srgbClr val="0D1530"/>
                </a:solidFill>
                <a:latin typeface="Be Vietnam Pro"/>
              </a:defRPr>
            </a:pPr>
            <a:r>
              <a:t>02</a:t>
            </a:r>
          </a:p>
        </p:txBody>
      </p:sp>
      <p:sp>
        <p:nvSpPr>
          <p:cNvPr id="3" name="TextBox 2"/>
          <p:cNvSpPr txBox="1"/>
          <p:nvPr/>
        </p:nvSpPr>
        <p:spPr>
          <a:xfrm>
            <a:off x="0" y="2560320"/>
            <a:ext cx="12191695" cy="914400"/>
          </a:xfrm>
          <a:prstGeom prst="rect">
            <a:avLst/>
          </a:prstGeom>
          <a:noFill/>
        </p:spPr>
        <p:txBody>
          <a:bodyPr wrap="square">
            <a:spAutoFit/>
          </a:bodyPr>
          <a:lstStyle/>
          <a:p>
            <a:pPr algn="ctr">
              <a:defRPr sz="4400" b="1">
                <a:solidFill>
                  <a:srgbClr val="F8FAFC"/>
                </a:solidFill>
                <a:latin typeface="Be Vietnam Pro"/>
              </a:defRPr>
            </a:pPr>
            <a:r>
              <a:t>Lý do chọn đề tài</a:t>
            </a:r>
          </a:p>
        </p:txBody>
      </p:sp>
      <p:sp>
        <p:nvSpPr>
          <p:cNvPr id="4" name="TextBox 3"/>
          <p:cNvSpPr txBox="1"/>
          <p:nvPr/>
        </p:nvSpPr>
        <p:spPr>
          <a:xfrm>
            <a:off x="1371600" y="3657600"/>
            <a:ext cx="9418320" cy="1371600"/>
          </a:xfrm>
          <a:prstGeom prst="rect">
            <a:avLst/>
          </a:prstGeom>
          <a:noFill/>
        </p:spPr>
        <p:txBody>
          <a:bodyPr wrap="square">
            <a:spAutoFit/>
          </a:bodyPr>
          <a:lstStyle/>
          <a:p>
            <a:pPr algn="ctr">
              <a:defRPr sz="1800" b="0">
                <a:solidFill>
                  <a:srgbClr val="94A3B8"/>
                </a:solidFill>
                <a:latin typeface="Be Vietnam Pro"/>
              </a:defRPr>
            </a:pPr>
            <a:r>
              <a:t>Từ thực tiễn giáo dục Việt Nam đến khát vọng tạo ra sản phẩm công nghệ "Make in Vietnam" phục vụ học sinh, giáo viên và phụ huynh</a:t>
            </a:r>
          </a:p>
        </p:txBody>
      </p:sp>
      <p:sp>
        <p:nvSpPr>
          <p:cNvPr id="5" name="TextBox 4"/>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4/27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274320" y="137160"/>
            <a:ext cx="11612880" cy="640080"/>
          </a:xfrm>
          <a:prstGeom prst="rect">
            <a:avLst/>
          </a:prstGeom>
          <a:noFill/>
        </p:spPr>
        <p:txBody>
          <a:bodyPr wrap="square">
            <a:spAutoFit/>
          </a:bodyPr>
          <a:lstStyle/>
          <a:p>
            <a:pPr algn="ctr">
              <a:defRPr sz="3000" b="1">
                <a:solidFill>
                  <a:srgbClr val="F8FAFC"/>
                </a:solidFill>
                <a:latin typeface="Be Vietnam Pro"/>
              </a:defRPr>
            </a:pPr>
            <a:r>
              <a:t>Tại sao chúng tôi chọn xây dựng EduSelf?</a:t>
            </a:r>
          </a:p>
        </p:txBody>
      </p:sp>
      <p:sp>
        <p:nvSpPr>
          <p:cNvPr id="3" name="Rounded Rectangle 2"/>
          <p:cNvSpPr/>
          <p:nvPr/>
        </p:nvSpPr>
        <p:spPr>
          <a:xfrm>
            <a:off x="457200" y="100584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5" name="TextBox 4"/>
          <p:cNvSpPr txBox="1"/>
          <p:nvPr/>
        </p:nvSpPr>
        <p:spPr>
          <a:xfrm>
            <a:off x="1188720" y="1188720"/>
            <a:ext cx="2560320" cy="457200"/>
          </a:xfrm>
          <a:prstGeom prst="rect">
            <a:avLst/>
          </a:prstGeom>
          <a:noFill/>
        </p:spPr>
        <p:txBody>
          <a:bodyPr wrap="square">
            <a:spAutoFit/>
          </a:bodyPr>
          <a:lstStyle/>
          <a:p>
            <a:pPr algn="l">
              <a:defRPr sz="1400" b="1">
                <a:solidFill>
                  <a:srgbClr val="F8FAFC"/>
                </a:solidFill>
                <a:latin typeface="Be Vietnam Pro"/>
              </a:defRPr>
            </a:pPr>
            <a:r>
              <a:t>Nhu cầu chuyển đổi số giáo dục</a:t>
            </a:r>
          </a:p>
        </p:txBody>
      </p:sp>
      <p:sp>
        <p:nvSpPr>
          <p:cNvPr id="6" name="TextBox 5"/>
          <p:cNvSpPr txBox="1"/>
          <p:nvPr/>
        </p:nvSpPr>
        <p:spPr>
          <a:xfrm>
            <a:off x="640080" y="1920240"/>
            <a:ext cx="3200400" cy="1463040"/>
          </a:xfrm>
          <a:prstGeom prst="rect">
            <a:avLst/>
          </a:prstGeom>
          <a:noFill/>
        </p:spPr>
        <p:txBody>
          <a:bodyPr wrap="square">
            <a:spAutoFit/>
          </a:bodyPr>
          <a:lstStyle/>
          <a:p>
            <a:pPr algn="l">
              <a:defRPr sz="1050" b="0">
                <a:solidFill>
                  <a:srgbClr val="94A3B8"/>
                </a:solidFill>
                <a:latin typeface="Be Vietnam Pro"/>
              </a:defRPr>
            </a:pPr>
            <a:r>
              <a:t>Việt Nam đẩy mạnh chuyển đổi số</a:t>
            </a:r>
            <a:br/>
            <a:r>
              <a:t>theo đề án Chính phủ. Cần nền tảng</a:t>
            </a:r>
            <a:br/>
            <a:r>
              <a:t>học tập số thực sự hiệu quả.</a:t>
            </a:r>
          </a:p>
        </p:txBody>
      </p:sp>
      <p:sp>
        <p:nvSpPr>
          <p:cNvPr id="7" name="Rounded Rectangle 6"/>
          <p:cNvSpPr/>
          <p:nvPr/>
        </p:nvSpPr>
        <p:spPr>
          <a:xfrm>
            <a:off x="4297680" y="100584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18872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9" name="TextBox 8"/>
          <p:cNvSpPr txBox="1"/>
          <p:nvPr/>
        </p:nvSpPr>
        <p:spPr>
          <a:xfrm>
            <a:off x="5029200" y="1188720"/>
            <a:ext cx="2560320" cy="457200"/>
          </a:xfrm>
          <a:prstGeom prst="rect">
            <a:avLst/>
          </a:prstGeom>
          <a:noFill/>
        </p:spPr>
        <p:txBody>
          <a:bodyPr wrap="square">
            <a:spAutoFit/>
          </a:bodyPr>
          <a:lstStyle/>
          <a:p>
            <a:pPr algn="l">
              <a:defRPr sz="1400" b="1">
                <a:solidFill>
                  <a:srgbClr val="F8FAFC"/>
                </a:solidFill>
                <a:latin typeface="Be Vietnam Pro"/>
              </a:defRPr>
            </a:pPr>
            <a:r>
              <a:t>Khoảng cách thành thị – nông thôn</a:t>
            </a:r>
          </a:p>
        </p:txBody>
      </p:sp>
      <p:sp>
        <p:nvSpPr>
          <p:cNvPr id="10" name="TextBox 9"/>
          <p:cNvSpPr txBox="1"/>
          <p:nvPr/>
        </p:nvSpPr>
        <p:spPr>
          <a:xfrm>
            <a:off x="4480560" y="1920240"/>
            <a:ext cx="3200400" cy="1463040"/>
          </a:xfrm>
          <a:prstGeom prst="rect">
            <a:avLst/>
          </a:prstGeom>
          <a:noFill/>
        </p:spPr>
        <p:txBody>
          <a:bodyPr wrap="square">
            <a:spAutoFit/>
          </a:bodyPr>
          <a:lstStyle/>
          <a:p>
            <a:pPr algn="l">
              <a:defRPr sz="1050" b="0">
                <a:solidFill>
                  <a:srgbClr val="94A3B8"/>
                </a:solidFill>
                <a:latin typeface="Be Vietnam Pro"/>
              </a:defRPr>
            </a:pPr>
            <a:r>
              <a:t>Học sinh vùng sâu thiếu giáo viên</a:t>
            </a:r>
            <a:br/>
            <a:r>
              <a:t>giỏi &amp; tài liệu chất lượng.</a:t>
            </a:r>
            <a:br/>
            <a:r>
              <a:t>AI có thể thu hẹp khoảng cách này.</a:t>
            </a:r>
          </a:p>
        </p:txBody>
      </p:sp>
      <p:sp>
        <p:nvSpPr>
          <p:cNvPr id="11" name="Rounded Rectangle 10"/>
          <p:cNvSpPr/>
          <p:nvPr/>
        </p:nvSpPr>
        <p:spPr>
          <a:xfrm>
            <a:off x="8138160" y="100584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18872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13" name="TextBox 12"/>
          <p:cNvSpPr txBox="1"/>
          <p:nvPr/>
        </p:nvSpPr>
        <p:spPr>
          <a:xfrm>
            <a:off x="8869680" y="1188720"/>
            <a:ext cx="2560320" cy="457200"/>
          </a:xfrm>
          <a:prstGeom prst="rect">
            <a:avLst/>
          </a:prstGeom>
          <a:noFill/>
        </p:spPr>
        <p:txBody>
          <a:bodyPr wrap="square">
            <a:spAutoFit/>
          </a:bodyPr>
          <a:lstStyle/>
          <a:p>
            <a:pPr algn="l">
              <a:defRPr sz="1400" b="1">
                <a:solidFill>
                  <a:srgbClr val="F8FAFC"/>
                </a:solidFill>
                <a:latin typeface="Be Vietnam Pro"/>
              </a:defRPr>
            </a:pPr>
            <a:r>
              <a:t>Tiềm năng đột phá của AI</a:t>
            </a:r>
          </a:p>
        </p:txBody>
      </p:sp>
      <p:sp>
        <p:nvSpPr>
          <p:cNvPr id="14" name="TextBox 13"/>
          <p:cNvSpPr txBox="1"/>
          <p:nvPr/>
        </p:nvSpPr>
        <p:spPr>
          <a:xfrm>
            <a:off x="8321040" y="1920240"/>
            <a:ext cx="3200400" cy="1463040"/>
          </a:xfrm>
          <a:prstGeom prst="rect">
            <a:avLst/>
          </a:prstGeom>
          <a:noFill/>
        </p:spPr>
        <p:txBody>
          <a:bodyPr wrap="square">
            <a:spAutoFit/>
          </a:bodyPr>
          <a:lstStyle/>
          <a:p>
            <a:pPr algn="l">
              <a:defRPr sz="1050" b="0">
                <a:solidFill>
                  <a:srgbClr val="94A3B8"/>
                </a:solidFill>
                <a:latin typeface="Be Vietnam Pro"/>
              </a:defRPr>
            </a:pPr>
            <a:r>
              <a:t>Trí tuệ nhân tạo đã đủ trưởng thành</a:t>
            </a:r>
            <a:br/>
            <a:r>
              <a:t>để làm gia sư ảo. gợi mở + AI =</a:t>
            </a:r>
            <a:br/>
            <a:r>
              <a:t>trải nghiệm học tập chưa từng có.</a:t>
            </a:r>
          </a:p>
        </p:txBody>
      </p:sp>
      <p:sp>
        <p:nvSpPr>
          <p:cNvPr id="15" name="Rounded Rectangle 14"/>
          <p:cNvSpPr/>
          <p:nvPr/>
        </p:nvSpPr>
        <p:spPr>
          <a:xfrm>
            <a:off x="457200" y="384048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2336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17" name="TextBox 16"/>
          <p:cNvSpPr txBox="1"/>
          <p:nvPr/>
        </p:nvSpPr>
        <p:spPr>
          <a:xfrm>
            <a:off x="1188720" y="4023360"/>
            <a:ext cx="2560320" cy="457200"/>
          </a:xfrm>
          <a:prstGeom prst="rect">
            <a:avLst/>
          </a:prstGeom>
          <a:noFill/>
        </p:spPr>
        <p:txBody>
          <a:bodyPr wrap="square">
            <a:spAutoFit/>
          </a:bodyPr>
          <a:lstStyle/>
          <a:p>
            <a:pPr algn="l">
              <a:defRPr sz="1400" b="1">
                <a:solidFill>
                  <a:srgbClr val="F8FAFC"/>
                </a:solidFill>
                <a:latin typeface="Be Vietnam Pro"/>
              </a:defRPr>
            </a:pPr>
            <a:r>
              <a:t>Hạn chế của LMS hiện có</a:t>
            </a:r>
          </a:p>
        </p:txBody>
      </p:sp>
      <p:sp>
        <p:nvSpPr>
          <p:cNvPr id="18" name="TextBox 17"/>
          <p:cNvSpPr txBox="1"/>
          <p:nvPr/>
        </p:nvSpPr>
        <p:spPr>
          <a:xfrm>
            <a:off x="640080" y="4754880"/>
            <a:ext cx="3200400" cy="1463040"/>
          </a:xfrm>
          <a:prstGeom prst="rect">
            <a:avLst/>
          </a:prstGeom>
          <a:noFill/>
        </p:spPr>
        <p:txBody>
          <a:bodyPr wrap="square">
            <a:spAutoFit/>
          </a:bodyPr>
          <a:lstStyle/>
          <a:p>
            <a:pPr algn="l">
              <a:defRPr sz="1050" b="0">
                <a:solidFill>
                  <a:srgbClr val="94A3B8"/>
                </a:solidFill>
                <a:latin typeface="Be Vietnam Pro"/>
              </a:defRPr>
            </a:pPr>
            <a:r>
              <a:t>Moodle, Google Classroom... thiếu AI,</a:t>
            </a:r>
            <a:br/>
            <a:r>
              <a:t>thiếu gamification, giao diện phức tạp,</a:t>
            </a:r>
            <a:br/>
            <a:r>
              <a:t>không Việt hoá đầy đủ.</a:t>
            </a:r>
          </a:p>
        </p:txBody>
      </p:sp>
      <p:sp>
        <p:nvSpPr>
          <p:cNvPr id="19" name="Rounded Rectangle 18"/>
          <p:cNvSpPr/>
          <p:nvPr/>
        </p:nvSpPr>
        <p:spPr>
          <a:xfrm>
            <a:off x="4297680" y="384048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02336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21" name="TextBox 20"/>
          <p:cNvSpPr txBox="1"/>
          <p:nvPr/>
        </p:nvSpPr>
        <p:spPr>
          <a:xfrm>
            <a:off x="5029200" y="4023360"/>
            <a:ext cx="2560320" cy="457200"/>
          </a:xfrm>
          <a:prstGeom prst="rect">
            <a:avLst/>
          </a:prstGeom>
          <a:noFill/>
        </p:spPr>
        <p:txBody>
          <a:bodyPr wrap="square">
            <a:spAutoFit/>
          </a:bodyPr>
          <a:lstStyle/>
          <a:p>
            <a:pPr algn="l">
              <a:defRPr sz="1400" b="1">
                <a:solidFill>
                  <a:srgbClr val="F8FAFC"/>
                </a:solidFill>
                <a:latin typeface="Be Vietnam Pro"/>
              </a:defRPr>
            </a:pPr>
            <a:r>
              <a:t>Thói quen học tập sau COVID-19</a:t>
            </a:r>
          </a:p>
        </p:txBody>
      </p:sp>
      <p:sp>
        <p:nvSpPr>
          <p:cNvPr id="22" name="TextBox 21"/>
          <p:cNvSpPr txBox="1"/>
          <p:nvPr/>
        </p:nvSpPr>
        <p:spPr>
          <a:xfrm>
            <a:off x="4480560" y="4754880"/>
            <a:ext cx="3200400" cy="1463040"/>
          </a:xfrm>
          <a:prstGeom prst="rect">
            <a:avLst/>
          </a:prstGeom>
          <a:noFill/>
        </p:spPr>
        <p:txBody>
          <a:bodyPr wrap="square">
            <a:spAutoFit/>
          </a:bodyPr>
          <a:lstStyle/>
          <a:p>
            <a:pPr algn="l">
              <a:defRPr sz="1050" b="0">
                <a:solidFill>
                  <a:srgbClr val="94A3B8"/>
                </a:solidFill>
                <a:latin typeface="Be Vietnam Pro"/>
              </a:defRPr>
            </a:pPr>
            <a:r>
              <a:t>Học trực tuyến là tất yếu. Học sinh cần</a:t>
            </a:r>
            <a:br/>
            <a:r>
              <a:t>hơn cả video call — cần nền tảng</a:t>
            </a:r>
            <a:br/>
            <a:r>
              <a:t>tương tác, thông minh, tạo động lực.</a:t>
            </a:r>
          </a:p>
        </p:txBody>
      </p:sp>
      <p:sp>
        <p:nvSpPr>
          <p:cNvPr id="23" name="Rounded Rectangle 22"/>
          <p:cNvSpPr/>
          <p:nvPr/>
        </p:nvSpPr>
        <p:spPr>
          <a:xfrm>
            <a:off x="8138160" y="384048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402336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25" name="TextBox 24"/>
          <p:cNvSpPr txBox="1"/>
          <p:nvPr/>
        </p:nvSpPr>
        <p:spPr>
          <a:xfrm>
            <a:off x="8869680" y="4023360"/>
            <a:ext cx="2560320" cy="457200"/>
          </a:xfrm>
          <a:prstGeom prst="rect">
            <a:avLst/>
          </a:prstGeom>
          <a:noFill/>
        </p:spPr>
        <p:txBody>
          <a:bodyPr wrap="square">
            <a:spAutoFit/>
          </a:bodyPr>
          <a:lstStyle/>
          <a:p>
            <a:pPr algn="l">
              <a:defRPr sz="1400" b="1">
                <a:solidFill>
                  <a:srgbClr val="F8FAFC"/>
                </a:solidFill>
                <a:latin typeface="Be Vietnam Pro"/>
              </a:defRPr>
            </a:pPr>
            <a:r>
              <a:t>Khát vọng "Make in Vietnam"</a:t>
            </a:r>
          </a:p>
        </p:txBody>
      </p:sp>
      <p:sp>
        <p:nvSpPr>
          <p:cNvPr id="26" name="TextBox 25"/>
          <p:cNvSpPr txBox="1"/>
          <p:nvPr/>
        </p:nvSpPr>
        <p:spPr>
          <a:xfrm>
            <a:off x="8321040" y="4754880"/>
            <a:ext cx="3200400" cy="1463040"/>
          </a:xfrm>
          <a:prstGeom prst="rect">
            <a:avLst/>
          </a:prstGeom>
          <a:noFill/>
        </p:spPr>
        <p:txBody>
          <a:bodyPr wrap="square">
            <a:spAutoFit/>
          </a:bodyPr>
          <a:lstStyle/>
          <a:p>
            <a:pPr algn="l">
              <a:defRPr sz="1050" b="0">
                <a:solidFill>
                  <a:srgbClr val="94A3B8"/>
                </a:solidFill>
                <a:latin typeface="Be Vietnam Pro"/>
              </a:defRPr>
            </a:pPr>
            <a:r>
              <a:t>Chứng minh người Việt làm được sản</a:t>
            </a:r>
            <a:br/>
            <a:r>
              <a:t>phẩm công nghệ giáo dục đẳng cấp,</a:t>
            </a:r>
            <a:br/>
            <a:r>
              <a:t>bằng tiếng Việt, cho người Việt.</a:t>
            </a:r>
          </a:p>
        </p:txBody>
      </p:sp>
      <p:sp>
        <p:nvSpPr>
          <p:cNvPr id="27" name="TextBox 26"/>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5/27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0" y="1371600"/>
            <a:ext cx="12191695" cy="2743200"/>
          </a:xfrm>
          <a:prstGeom prst="rect">
            <a:avLst/>
          </a:prstGeom>
          <a:noFill/>
        </p:spPr>
        <p:txBody>
          <a:bodyPr wrap="square">
            <a:spAutoFit/>
          </a:bodyPr>
          <a:lstStyle/>
          <a:p>
            <a:pPr algn="ctr">
              <a:defRPr sz="14000" b="1">
                <a:solidFill>
                  <a:srgbClr val="0D1530"/>
                </a:solidFill>
                <a:latin typeface="Be Vietnam Pro"/>
              </a:defRPr>
            </a:pPr>
            <a:r>
              <a:t>07</a:t>
            </a:r>
          </a:p>
        </p:txBody>
      </p:sp>
      <p:sp>
        <p:nvSpPr>
          <p:cNvPr id="3" name="TextBox 2"/>
          <p:cNvSpPr txBox="1"/>
          <p:nvPr/>
        </p:nvSpPr>
        <p:spPr>
          <a:xfrm>
            <a:off x="0" y="2560320"/>
            <a:ext cx="12191695" cy="914400"/>
          </a:xfrm>
          <a:prstGeom prst="rect">
            <a:avLst/>
          </a:prstGeom>
          <a:noFill/>
        </p:spPr>
        <p:txBody>
          <a:bodyPr wrap="square">
            <a:spAutoFit/>
          </a:bodyPr>
          <a:lstStyle/>
          <a:p>
            <a:pPr algn="ctr">
              <a:defRPr sz="4400" b="1">
                <a:solidFill>
                  <a:srgbClr val="F8FAFC"/>
                </a:solidFill>
                <a:latin typeface="Be Vietnam Pro"/>
              </a:defRPr>
            </a:pPr>
            <a:r>
              <a:t>Thực trạng &amp; Vấn đề</a:t>
            </a:r>
          </a:p>
        </p:txBody>
      </p:sp>
      <p:sp>
        <p:nvSpPr>
          <p:cNvPr id="4" name="TextBox 3"/>
          <p:cNvSpPr txBox="1"/>
          <p:nvPr/>
        </p:nvSpPr>
        <p:spPr>
          <a:xfrm>
            <a:off x="1828800" y="3657600"/>
            <a:ext cx="8503920" cy="1371600"/>
          </a:xfrm>
          <a:prstGeom prst="rect">
            <a:avLst/>
          </a:prstGeom>
          <a:noFill/>
        </p:spPr>
        <p:txBody>
          <a:bodyPr wrap="square">
            <a:spAutoFit/>
          </a:bodyPr>
          <a:lstStyle/>
          <a:p>
            <a:pPr algn="ctr">
              <a:defRPr sz="1800" b="0">
                <a:solidFill>
                  <a:srgbClr val="94A3B8"/>
                </a:solidFill>
                <a:latin typeface="Be Vietnam Pro"/>
              </a:defRPr>
            </a:pPr>
            <a:r>
              <a:t>Những khó khăn trong giáo dục truyền thống mà học sinh, giáo viên và phụ huynh đang đối mặt mỗi ngày</a:t>
            </a:r>
          </a:p>
        </p:txBody>
      </p:sp>
      <p:sp>
        <p:nvSpPr>
          <p:cNvPr id="5" name="TextBox 4"/>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4/27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457200" y="182880"/>
            <a:ext cx="11247120" cy="640080"/>
          </a:xfrm>
          <a:prstGeom prst="rect">
            <a:avLst/>
          </a:prstGeom>
          <a:noFill/>
        </p:spPr>
        <p:txBody>
          <a:bodyPr wrap="square">
            <a:spAutoFit/>
          </a:bodyPr>
          <a:lstStyle/>
          <a:p>
            <a:pPr algn="ctr">
              <a:defRPr sz="3200" b="1">
                <a:solidFill>
                  <a:srgbClr val="F8FAFC"/>
                </a:solidFill>
                <a:latin typeface="Be Vietnam Pro"/>
              </a:defRPr>
            </a:pPr>
            <a:r>
              <a:t>Những vấn đề trước khi có EduSelf</a:t>
            </a:r>
          </a:p>
        </p:txBody>
      </p:sp>
      <p:sp>
        <p:nvSpPr>
          <p:cNvPr id="3" name="Rounded Rectangle 2"/>
          <p:cNvSpPr/>
          <p:nvPr/>
        </p:nvSpPr>
        <p:spPr>
          <a:xfrm>
            <a:off x="457200" y="109728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5" name="TextBox 4"/>
          <p:cNvSpPr txBox="1"/>
          <p:nvPr/>
        </p:nvSpPr>
        <p:spPr>
          <a:xfrm>
            <a:off x="1188720" y="1280160"/>
            <a:ext cx="2560320" cy="457200"/>
          </a:xfrm>
          <a:prstGeom prst="rect">
            <a:avLst/>
          </a:prstGeom>
          <a:noFill/>
        </p:spPr>
        <p:txBody>
          <a:bodyPr wrap="square">
            <a:spAutoFit/>
          </a:bodyPr>
          <a:lstStyle/>
          <a:p>
            <a:pPr algn="l">
              <a:defRPr sz="1500" b="1">
                <a:solidFill>
                  <a:srgbClr val="F8FAFC"/>
                </a:solidFill>
                <a:latin typeface="Be Vietnam Pro"/>
              </a:defRPr>
            </a:pPr>
            <a:r>
              <a:t>Học tập thụ động, một chiều</a:t>
            </a:r>
          </a:p>
        </p:txBody>
      </p:sp>
      <p:sp>
        <p:nvSpPr>
          <p:cNvPr id="6" name="TextBox 5"/>
          <p:cNvSpPr txBox="1"/>
          <p:nvPr/>
        </p:nvSpPr>
        <p:spPr>
          <a:xfrm>
            <a:off x="640080" y="2011680"/>
            <a:ext cx="3200400" cy="1463040"/>
          </a:xfrm>
          <a:prstGeom prst="rect">
            <a:avLst/>
          </a:prstGeom>
          <a:noFill/>
        </p:spPr>
        <p:txBody>
          <a:bodyPr wrap="square">
            <a:spAutoFit/>
          </a:bodyPr>
          <a:lstStyle/>
          <a:p>
            <a:pPr algn="l">
              <a:defRPr sz="1100" b="0">
                <a:solidFill>
                  <a:srgbClr val="94A3B8"/>
                </a:solidFill>
                <a:latin typeface="Be Vietnam Pro"/>
              </a:defRPr>
            </a:pPr>
            <a:r>
              <a:t>Học sinh chỉ đọc và ghi nhớ. Không có người hướng dẫn khi tự học ở nhà. Thắc mắc không được giải đáp kịp thời.</a:t>
            </a:r>
          </a:p>
        </p:txBody>
      </p:sp>
      <p:sp>
        <p:nvSpPr>
          <p:cNvPr id="7" name="Rounded Rectangle 6"/>
          <p:cNvSpPr/>
          <p:nvPr/>
        </p:nvSpPr>
        <p:spPr>
          <a:xfrm>
            <a:off x="4297680" y="109728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28016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9" name="TextBox 8"/>
          <p:cNvSpPr txBox="1"/>
          <p:nvPr/>
        </p:nvSpPr>
        <p:spPr>
          <a:xfrm>
            <a:off x="5029200" y="1280160"/>
            <a:ext cx="2560320" cy="457200"/>
          </a:xfrm>
          <a:prstGeom prst="rect">
            <a:avLst/>
          </a:prstGeom>
          <a:noFill/>
        </p:spPr>
        <p:txBody>
          <a:bodyPr wrap="square">
            <a:spAutoFit/>
          </a:bodyPr>
          <a:lstStyle/>
          <a:p>
            <a:pPr algn="l">
              <a:defRPr sz="1500" b="1">
                <a:solidFill>
                  <a:srgbClr val="F8FAFC"/>
                </a:solidFill>
                <a:latin typeface="Be Vietnam Pro"/>
              </a:defRPr>
            </a:pPr>
            <a:r>
              <a:t>Thiếu cá nhân hoá</a:t>
            </a:r>
          </a:p>
        </p:txBody>
      </p:sp>
      <p:sp>
        <p:nvSpPr>
          <p:cNvPr id="10" name="TextBox 9"/>
          <p:cNvSpPr txBox="1"/>
          <p:nvPr/>
        </p:nvSpPr>
        <p:spPr>
          <a:xfrm>
            <a:off x="4480560" y="2011680"/>
            <a:ext cx="3200400" cy="1463040"/>
          </a:xfrm>
          <a:prstGeom prst="rect">
            <a:avLst/>
          </a:prstGeom>
          <a:noFill/>
        </p:spPr>
        <p:txBody>
          <a:bodyPr wrap="square">
            <a:spAutoFit/>
          </a:bodyPr>
          <a:lstStyle/>
          <a:p>
            <a:pPr algn="l">
              <a:defRPr sz="1100" b="0">
                <a:solidFill>
                  <a:srgbClr val="94A3B8"/>
                </a:solidFill>
                <a:latin typeface="Be Vietnam Pro"/>
              </a:defRPr>
            </a:pPr>
            <a:r>
              <a:t>Một giáo viên dạy hàng chục học sinh cùng một phương pháp. Học sinh giỏi nhàm chán, học sinh yếu không theo kịp.</a:t>
            </a:r>
          </a:p>
        </p:txBody>
      </p:sp>
      <p:sp>
        <p:nvSpPr>
          <p:cNvPr id="11" name="Rounded Rectangle 10"/>
          <p:cNvSpPr/>
          <p:nvPr/>
        </p:nvSpPr>
        <p:spPr>
          <a:xfrm>
            <a:off x="8138160" y="109728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28016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13" name="TextBox 12"/>
          <p:cNvSpPr txBox="1"/>
          <p:nvPr/>
        </p:nvSpPr>
        <p:spPr>
          <a:xfrm>
            <a:off x="8869680" y="1280160"/>
            <a:ext cx="2560320" cy="457200"/>
          </a:xfrm>
          <a:prstGeom prst="rect">
            <a:avLst/>
          </a:prstGeom>
          <a:noFill/>
        </p:spPr>
        <p:txBody>
          <a:bodyPr wrap="square">
            <a:spAutoFit/>
          </a:bodyPr>
          <a:lstStyle/>
          <a:p>
            <a:pPr algn="l">
              <a:defRPr sz="1500" b="1">
                <a:solidFill>
                  <a:srgbClr val="F8FAFC"/>
                </a:solidFill>
                <a:latin typeface="Be Vietnam Pro"/>
              </a:defRPr>
            </a:pPr>
            <a:r>
              <a:t>Chấm điểm thủ công, nặng nhọc</a:t>
            </a:r>
          </a:p>
        </p:txBody>
      </p:sp>
      <p:sp>
        <p:nvSpPr>
          <p:cNvPr id="14" name="TextBox 13"/>
          <p:cNvSpPr txBox="1"/>
          <p:nvPr/>
        </p:nvSpPr>
        <p:spPr>
          <a:xfrm>
            <a:off x="8321040" y="2011680"/>
            <a:ext cx="3200400" cy="1463040"/>
          </a:xfrm>
          <a:prstGeom prst="rect">
            <a:avLst/>
          </a:prstGeom>
          <a:noFill/>
        </p:spPr>
        <p:txBody>
          <a:bodyPr wrap="square">
            <a:spAutoFit/>
          </a:bodyPr>
          <a:lstStyle/>
          <a:p>
            <a:pPr algn="l">
              <a:defRPr sz="1100" b="0">
                <a:solidFill>
                  <a:srgbClr val="94A3B8"/>
                </a:solidFill>
                <a:latin typeface="Be Vietnam Pro"/>
              </a:defRPr>
            </a:pPr>
            <a:r>
              <a:t>Giáo viên mất hàng giờ soạn đề, chấm bài, vào điểm. Thời gian quý báu cho giảng dạy bị cắt giảm.</a:t>
            </a:r>
          </a:p>
        </p:txBody>
      </p:sp>
      <p:sp>
        <p:nvSpPr>
          <p:cNvPr id="15" name="Rounded Rectangle 14"/>
          <p:cNvSpPr/>
          <p:nvPr/>
        </p:nvSpPr>
        <p:spPr>
          <a:xfrm>
            <a:off x="457200" y="393192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11480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17" name="TextBox 16"/>
          <p:cNvSpPr txBox="1"/>
          <p:nvPr/>
        </p:nvSpPr>
        <p:spPr>
          <a:xfrm>
            <a:off x="1188720" y="4114800"/>
            <a:ext cx="2560320" cy="457200"/>
          </a:xfrm>
          <a:prstGeom prst="rect">
            <a:avLst/>
          </a:prstGeom>
          <a:noFill/>
        </p:spPr>
        <p:txBody>
          <a:bodyPr wrap="square">
            <a:spAutoFit/>
          </a:bodyPr>
          <a:lstStyle/>
          <a:p>
            <a:pPr algn="l">
              <a:defRPr sz="1500" b="1">
                <a:solidFill>
                  <a:srgbClr val="F8FAFC"/>
                </a:solidFill>
                <a:latin typeface="Be Vietnam Pro"/>
              </a:defRPr>
            </a:pPr>
            <a:r>
              <a:t>Không theo dõi được tiến độ</a:t>
            </a:r>
          </a:p>
        </p:txBody>
      </p:sp>
      <p:sp>
        <p:nvSpPr>
          <p:cNvPr id="18" name="TextBox 17"/>
          <p:cNvSpPr txBox="1"/>
          <p:nvPr/>
        </p:nvSpPr>
        <p:spPr>
          <a:xfrm>
            <a:off x="640080" y="4846320"/>
            <a:ext cx="3200400" cy="1463040"/>
          </a:xfrm>
          <a:prstGeom prst="rect">
            <a:avLst/>
          </a:prstGeom>
          <a:noFill/>
        </p:spPr>
        <p:txBody>
          <a:bodyPr wrap="square">
            <a:spAutoFit/>
          </a:bodyPr>
          <a:lstStyle/>
          <a:p>
            <a:pPr algn="l">
              <a:defRPr sz="1100" b="0">
                <a:solidFill>
                  <a:srgbClr val="94A3B8"/>
                </a:solidFill>
                <a:latin typeface="Be Vietnam Pro"/>
              </a:defRPr>
            </a:pPr>
            <a:r>
              <a:t>Phụ huynh không biết con học gì, học bao lâu. Nhà trường không có dữ liệu để đánh giá chất lượng.</a:t>
            </a:r>
          </a:p>
        </p:txBody>
      </p:sp>
      <p:sp>
        <p:nvSpPr>
          <p:cNvPr id="19" name="Rounded Rectangle 18"/>
          <p:cNvSpPr/>
          <p:nvPr/>
        </p:nvSpPr>
        <p:spPr>
          <a:xfrm>
            <a:off x="4297680" y="393192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411480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21" name="TextBox 20"/>
          <p:cNvSpPr txBox="1"/>
          <p:nvPr/>
        </p:nvSpPr>
        <p:spPr>
          <a:xfrm>
            <a:off x="5029200" y="4114800"/>
            <a:ext cx="2560320" cy="457200"/>
          </a:xfrm>
          <a:prstGeom prst="rect">
            <a:avLst/>
          </a:prstGeom>
          <a:noFill/>
        </p:spPr>
        <p:txBody>
          <a:bodyPr wrap="square">
            <a:spAutoFit/>
          </a:bodyPr>
          <a:lstStyle/>
          <a:p>
            <a:pPr algn="l">
              <a:defRPr sz="1500" b="1">
                <a:solidFill>
                  <a:srgbClr val="F8FAFC"/>
                </a:solidFill>
                <a:latin typeface="Be Vietnam Pro"/>
              </a:defRPr>
            </a:pPr>
            <a:r>
              <a:t>Không phát hiện lỗ hổng kiến thức</a:t>
            </a:r>
          </a:p>
        </p:txBody>
      </p:sp>
      <p:sp>
        <p:nvSpPr>
          <p:cNvPr id="22" name="TextBox 21"/>
          <p:cNvSpPr txBox="1"/>
          <p:nvPr/>
        </p:nvSpPr>
        <p:spPr>
          <a:xfrm>
            <a:off x="4480560" y="4846320"/>
            <a:ext cx="3200400" cy="1463040"/>
          </a:xfrm>
          <a:prstGeom prst="rect">
            <a:avLst/>
          </a:prstGeom>
          <a:noFill/>
        </p:spPr>
        <p:txBody>
          <a:bodyPr wrap="square">
            <a:spAutoFit/>
          </a:bodyPr>
          <a:lstStyle/>
          <a:p>
            <a:pPr algn="l">
              <a:defRPr sz="1100" b="0">
                <a:solidFill>
                  <a:srgbClr val="94A3B8"/>
                </a:solidFill>
                <a:latin typeface="Be Vietnam Pro"/>
              </a:defRPr>
            </a:pPr>
            <a:r>
              <a:t>Học sinh không biết mình yếu phần nào để ôn tập. Lỗ hổng tích luỹ âm thầm qua thời gian.</a:t>
            </a:r>
          </a:p>
        </p:txBody>
      </p:sp>
      <p:sp>
        <p:nvSpPr>
          <p:cNvPr id="23" name="Rounded Rectangle 22"/>
          <p:cNvSpPr/>
          <p:nvPr/>
        </p:nvSpPr>
        <p:spPr>
          <a:xfrm>
            <a:off x="8138160" y="3931920"/>
            <a:ext cx="356616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4114800"/>
            <a:ext cx="457200" cy="457200"/>
          </a:xfrm>
          <a:prstGeom prst="rect">
            <a:avLst/>
          </a:prstGeom>
          <a:noFill/>
        </p:spPr>
        <p:txBody>
          <a:bodyPr wrap="square">
            <a:spAutoFit/>
          </a:bodyPr>
          <a:lstStyle/>
          <a:p>
            <a:pPr algn="l">
              <a:defRPr sz="2200" b="0">
                <a:solidFill>
                  <a:srgbClr val="F8FAFC"/>
                </a:solidFill>
                <a:latin typeface="Be Vietnam Pro"/>
              </a:defRPr>
            </a:pPr>
            <a:r>
              <a:t>😴</a:t>
            </a:r>
          </a:p>
        </p:txBody>
      </p:sp>
      <p:sp>
        <p:nvSpPr>
          <p:cNvPr id="25" name="TextBox 24"/>
          <p:cNvSpPr txBox="1"/>
          <p:nvPr/>
        </p:nvSpPr>
        <p:spPr>
          <a:xfrm>
            <a:off x="8869680" y="4114800"/>
            <a:ext cx="2560320" cy="457200"/>
          </a:xfrm>
          <a:prstGeom prst="rect">
            <a:avLst/>
          </a:prstGeom>
          <a:noFill/>
        </p:spPr>
        <p:txBody>
          <a:bodyPr wrap="square">
            <a:spAutoFit/>
          </a:bodyPr>
          <a:lstStyle/>
          <a:p>
            <a:pPr algn="l">
              <a:defRPr sz="1500" b="1">
                <a:solidFill>
                  <a:srgbClr val="F8FAFC"/>
                </a:solidFill>
                <a:latin typeface="Be Vietnam Pro"/>
              </a:defRPr>
            </a:pPr>
            <a:r>
              <a:t>Thiếu động lực học tập</a:t>
            </a:r>
          </a:p>
        </p:txBody>
      </p:sp>
      <p:sp>
        <p:nvSpPr>
          <p:cNvPr id="26" name="TextBox 25"/>
          <p:cNvSpPr txBox="1"/>
          <p:nvPr/>
        </p:nvSpPr>
        <p:spPr>
          <a:xfrm>
            <a:off x="8321040" y="4846320"/>
            <a:ext cx="3200400" cy="1463040"/>
          </a:xfrm>
          <a:prstGeom prst="rect">
            <a:avLst/>
          </a:prstGeom>
          <a:noFill/>
        </p:spPr>
        <p:txBody>
          <a:bodyPr wrap="square">
            <a:spAutoFit/>
          </a:bodyPr>
          <a:lstStyle/>
          <a:p>
            <a:pPr algn="l">
              <a:defRPr sz="1100" b="0">
                <a:solidFill>
                  <a:srgbClr val="94A3B8"/>
                </a:solidFill>
                <a:latin typeface="Be Vietnam Pro"/>
              </a:defRPr>
            </a:pPr>
            <a:r>
              <a:t>Không có yếu tố khuyến khích hay khen thưởng. Học sinh dễ chán nản, thiếu cạnh tranh lành mạnh.</a:t>
            </a:r>
          </a:p>
        </p:txBody>
      </p:sp>
      <p:sp>
        <p:nvSpPr>
          <p:cNvPr id="27" name="TextBox 26"/>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5/27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0" y="1371600"/>
            <a:ext cx="12191695" cy="2743200"/>
          </a:xfrm>
          <a:prstGeom prst="rect">
            <a:avLst/>
          </a:prstGeom>
          <a:noFill/>
        </p:spPr>
        <p:txBody>
          <a:bodyPr wrap="square">
            <a:spAutoFit/>
          </a:bodyPr>
          <a:lstStyle/>
          <a:p>
            <a:pPr algn="ctr">
              <a:defRPr sz="14000" b="1">
                <a:solidFill>
                  <a:srgbClr val="0D1530"/>
                </a:solidFill>
                <a:latin typeface="Be Vietnam Pro"/>
              </a:defRPr>
            </a:pPr>
            <a:r>
              <a:t>07</a:t>
            </a:r>
          </a:p>
        </p:txBody>
      </p:sp>
      <p:sp>
        <p:nvSpPr>
          <p:cNvPr id="3" name="TextBox 2"/>
          <p:cNvSpPr txBox="1"/>
          <p:nvPr/>
        </p:nvSpPr>
        <p:spPr>
          <a:xfrm>
            <a:off x="0" y="2560320"/>
            <a:ext cx="12191695" cy="914400"/>
          </a:xfrm>
          <a:prstGeom prst="rect">
            <a:avLst/>
          </a:prstGeom>
          <a:noFill/>
        </p:spPr>
        <p:txBody>
          <a:bodyPr wrap="square">
            <a:spAutoFit/>
          </a:bodyPr>
          <a:lstStyle/>
          <a:p>
            <a:pPr algn="ctr">
              <a:defRPr sz="4400" b="1">
                <a:solidFill>
                  <a:srgbClr val="F8FAFC"/>
                </a:solidFill>
                <a:latin typeface="Be Vietnam Pro"/>
              </a:defRPr>
            </a:pPr>
            <a:r>
              <a:t>Giải pháp của EduSelf</a:t>
            </a:r>
          </a:p>
        </p:txBody>
      </p:sp>
      <p:sp>
        <p:nvSpPr>
          <p:cNvPr id="4" name="TextBox 3"/>
          <p:cNvSpPr txBox="1"/>
          <p:nvPr/>
        </p:nvSpPr>
        <p:spPr>
          <a:xfrm>
            <a:off x="1828800" y="3657600"/>
            <a:ext cx="8503920" cy="1371600"/>
          </a:xfrm>
          <a:prstGeom prst="rect">
            <a:avLst/>
          </a:prstGeom>
          <a:noFill/>
        </p:spPr>
        <p:txBody>
          <a:bodyPr wrap="square">
            <a:spAutoFit/>
          </a:bodyPr>
          <a:lstStyle/>
          <a:p>
            <a:pPr algn="ctr">
              <a:defRPr sz="1800" b="0">
                <a:solidFill>
                  <a:srgbClr val="94A3B8"/>
                </a:solidFill>
                <a:latin typeface="Be Vietnam Pro"/>
              </a:defRPr>
            </a:pPr>
            <a:r>
              <a:t>Cách EduSelf giải quyết từng vấn đề bằng công nghệ AI tiên tiến và thiết kế lấy người học làm trung tâm</a:t>
            </a:r>
          </a:p>
        </p:txBody>
      </p:sp>
      <p:sp>
        <p:nvSpPr>
          <p:cNvPr id="5" name="TextBox 4"/>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6/27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457200" y="182880"/>
            <a:ext cx="11247120" cy="640080"/>
          </a:xfrm>
          <a:prstGeom prst="rect">
            <a:avLst/>
          </a:prstGeom>
          <a:noFill/>
        </p:spPr>
        <p:txBody>
          <a:bodyPr wrap="square">
            <a:spAutoFit/>
          </a:bodyPr>
          <a:lstStyle/>
          <a:p>
            <a:pPr algn="ctr">
              <a:defRPr sz="3000" b="1">
                <a:solidFill>
                  <a:srgbClr val="F8FAFC"/>
                </a:solidFill>
                <a:latin typeface="Be Vietnam Pro"/>
              </a:defRPr>
            </a:pPr>
            <a:r>
              <a:t>EduSelf đã giải quyết những vấn đề đó như thế nào?</a:t>
            </a:r>
          </a:p>
        </p:txBody>
      </p:sp>
      <p:sp>
        <p:nvSpPr>
          <p:cNvPr id="3" name="Rounded Rectangle 2"/>
          <p:cNvSpPr/>
          <p:nvPr/>
        </p:nvSpPr>
        <p:spPr>
          <a:xfrm>
            <a:off x="457200" y="1097280"/>
            <a:ext cx="5394960" cy="16002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234439"/>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5" name="TextBox 4"/>
          <p:cNvSpPr txBox="1"/>
          <p:nvPr/>
        </p:nvSpPr>
        <p:spPr>
          <a:xfrm>
            <a:off x="1143000" y="1234439"/>
            <a:ext cx="4572000" cy="365760"/>
          </a:xfrm>
          <a:prstGeom prst="rect">
            <a:avLst/>
          </a:prstGeom>
          <a:noFill/>
        </p:spPr>
        <p:txBody>
          <a:bodyPr wrap="square">
            <a:spAutoFit/>
          </a:bodyPr>
          <a:lstStyle/>
          <a:p>
            <a:pPr algn="l">
              <a:defRPr sz="1400" b="1">
                <a:solidFill>
                  <a:srgbClr val="F8FAFC"/>
                </a:solidFill>
                <a:latin typeface="Be Vietnam Pro"/>
              </a:defRPr>
            </a:pPr>
            <a:r>
              <a:t>Trợ lý AI thông minh — Học chủ động</a:t>
            </a:r>
          </a:p>
        </p:txBody>
      </p:sp>
      <p:sp>
        <p:nvSpPr>
          <p:cNvPr id="6" name="TextBox 5"/>
          <p:cNvSpPr txBox="1"/>
          <p:nvPr/>
        </p:nvSpPr>
        <p:spPr>
          <a:xfrm>
            <a:off x="1143000" y="1691640"/>
            <a:ext cx="4572000" cy="822960"/>
          </a:xfrm>
          <a:prstGeom prst="rect">
            <a:avLst/>
          </a:prstGeom>
          <a:noFill/>
        </p:spPr>
        <p:txBody>
          <a:bodyPr wrap="square">
            <a:spAutoFit/>
          </a:bodyPr>
          <a:lstStyle/>
          <a:p>
            <a:pPr algn="l">
              <a:defRPr sz="1100" b="0">
                <a:solidFill>
                  <a:srgbClr val="94A3B8"/>
                </a:solidFill>
                <a:latin typeface="Be Vietnam Pro"/>
              </a:defRPr>
            </a:pPr>
            <a:r>
              <a:t>Trợ lý AI 24/7 đặt câu hỏi gợi mở, dẫn dắt học sinh tự khám phá kiến thức.</a:t>
            </a:r>
          </a:p>
        </p:txBody>
      </p:sp>
      <p:sp>
        <p:nvSpPr>
          <p:cNvPr id="7" name="Rounded Rectangle 6"/>
          <p:cNvSpPr/>
          <p:nvPr/>
        </p:nvSpPr>
        <p:spPr>
          <a:xfrm>
            <a:off x="6217920" y="1097280"/>
            <a:ext cx="5394960" cy="16002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234439"/>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9" name="TextBox 8"/>
          <p:cNvSpPr txBox="1"/>
          <p:nvPr/>
        </p:nvSpPr>
        <p:spPr>
          <a:xfrm>
            <a:off x="6903720" y="1234439"/>
            <a:ext cx="4572000" cy="365760"/>
          </a:xfrm>
          <a:prstGeom prst="rect">
            <a:avLst/>
          </a:prstGeom>
          <a:noFill/>
        </p:spPr>
        <p:txBody>
          <a:bodyPr wrap="square">
            <a:spAutoFit/>
          </a:bodyPr>
          <a:lstStyle/>
          <a:p>
            <a:pPr algn="l">
              <a:defRPr sz="1400" b="1">
                <a:solidFill>
                  <a:srgbClr val="F8FAFC"/>
                </a:solidFill>
                <a:latin typeface="Be Vietnam Pro"/>
              </a:defRPr>
            </a:pPr>
            <a:r>
              <a:t>Lộ trình học cá nhân hoá</a:t>
            </a:r>
          </a:p>
        </p:txBody>
      </p:sp>
      <p:sp>
        <p:nvSpPr>
          <p:cNvPr id="10" name="TextBox 9"/>
          <p:cNvSpPr txBox="1"/>
          <p:nvPr/>
        </p:nvSpPr>
        <p:spPr>
          <a:xfrm>
            <a:off x="6903720" y="1691640"/>
            <a:ext cx="4572000" cy="822960"/>
          </a:xfrm>
          <a:prstGeom prst="rect">
            <a:avLst/>
          </a:prstGeom>
          <a:noFill/>
        </p:spPr>
        <p:txBody>
          <a:bodyPr wrap="square">
            <a:spAutoFit/>
          </a:bodyPr>
          <a:lstStyle/>
          <a:p>
            <a:pPr algn="l">
              <a:defRPr sz="1100" b="0">
                <a:solidFill>
                  <a:srgbClr val="94A3B8"/>
                </a:solidFill>
                <a:latin typeface="Be Vietnam Pro"/>
              </a:defRPr>
            </a:pPr>
            <a:r>
              <a:t>AI phân tích năng lực từng học sinh, đề xuất lộ trình phù hợp và bài tập riêng biệt.</a:t>
            </a:r>
          </a:p>
        </p:txBody>
      </p:sp>
      <p:sp>
        <p:nvSpPr>
          <p:cNvPr id="11" name="Rounded Rectangle 10"/>
          <p:cNvSpPr/>
          <p:nvPr/>
        </p:nvSpPr>
        <p:spPr>
          <a:xfrm>
            <a:off x="457200" y="2926080"/>
            <a:ext cx="5394960" cy="16002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06324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13" name="TextBox 12"/>
          <p:cNvSpPr txBox="1"/>
          <p:nvPr/>
        </p:nvSpPr>
        <p:spPr>
          <a:xfrm>
            <a:off x="1143000" y="3063240"/>
            <a:ext cx="4572000" cy="365760"/>
          </a:xfrm>
          <a:prstGeom prst="rect">
            <a:avLst/>
          </a:prstGeom>
          <a:noFill/>
        </p:spPr>
        <p:txBody>
          <a:bodyPr wrap="square">
            <a:spAutoFit/>
          </a:bodyPr>
          <a:lstStyle/>
          <a:p>
            <a:pPr algn="l">
              <a:defRPr sz="1400" b="1">
                <a:solidFill>
                  <a:srgbClr val="F8FAFC"/>
                </a:solidFill>
                <a:latin typeface="Be Vietnam Pro"/>
              </a:defRPr>
            </a:pPr>
            <a:r>
              <a:t>Tự động tạo &amp; chấm bài</a:t>
            </a:r>
          </a:p>
        </p:txBody>
      </p:sp>
      <p:sp>
        <p:nvSpPr>
          <p:cNvPr id="14" name="TextBox 13"/>
          <p:cNvSpPr txBox="1"/>
          <p:nvPr/>
        </p:nvSpPr>
        <p:spPr>
          <a:xfrm>
            <a:off x="1143000" y="3520440"/>
            <a:ext cx="4572000" cy="822960"/>
          </a:xfrm>
          <a:prstGeom prst="rect">
            <a:avLst/>
          </a:prstGeom>
          <a:noFill/>
        </p:spPr>
        <p:txBody>
          <a:bodyPr wrap="square">
            <a:spAutoFit/>
          </a:bodyPr>
          <a:lstStyle/>
          <a:p>
            <a:pPr algn="l">
              <a:defRPr sz="1100" b="0">
                <a:solidFill>
                  <a:srgbClr val="94A3B8"/>
                </a:solidFill>
                <a:latin typeface="Be Vietnam Pro"/>
              </a:defRPr>
            </a:pPr>
            <a:r>
              <a:t>AI tạo câu hỏi + tự luận, tự động chấm điểm theo rubric. Giáo viên tiết kiệm 70% thời gian.</a:t>
            </a:r>
          </a:p>
        </p:txBody>
      </p:sp>
      <p:sp>
        <p:nvSpPr>
          <p:cNvPr id="15" name="Rounded Rectangle 14"/>
          <p:cNvSpPr/>
          <p:nvPr/>
        </p:nvSpPr>
        <p:spPr>
          <a:xfrm>
            <a:off x="6217920" y="2926080"/>
            <a:ext cx="5394960" cy="16002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06324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17" name="TextBox 16"/>
          <p:cNvSpPr txBox="1"/>
          <p:nvPr/>
        </p:nvSpPr>
        <p:spPr>
          <a:xfrm>
            <a:off x="6903720" y="3063240"/>
            <a:ext cx="4572000" cy="365760"/>
          </a:xfrm>
          <a:prstGeom prst="rect">
            <a:avLst/>
          </a:prstGeom>
          <a:noFill/>
        </p:spPr>
        <p:txBody>
          <a:bodyPr wrap="square">
            <a:spAutoFit/>
          </a:bodyPr>
          <a:lstStyle/>
          <a:p>
            <a:pPr algn="l">
              <a:defRPr sz="1400" b="1">
                <a:solidFill>
                  <a:srgbClr val="F8FAFC"/>
                </a:solidFill>
                <a:latin typeface="Be Vietnam Pro"/>
              </a:defRPr>
            </a:pPr>
            <a:r>
              <a:t>Theo dõi tiến độ minh bạch</a:t>
            </a:r>
          </a:p>
        </p:txBody>
      </p:sp>
      <p:sp>
        <p:nvSpPr>
          <p:cNvPr id="18" name="TextBox 17"/>
          <p:cNvSpPr txBox="1"/>
          <p:nvPr/>
        </p:nvSpPr>
        <p:spPr>
          <a:xfrm>
            <a:off x="6903720" y="3520440"/>
            <a:ext cx="4572000" cy="822960"/>
          </a:xfrm>
          <a:prstGeom prst="rect">
            <a:avLst/>
          </a:prstGeom>
          <a:noFill/>
        </p:spPr>
        <p:txBody>
          <a:bodyPr wrap="square">
            <a:spAutoFit/>
          </a:bodyPr>
          <a:lstStyle/>
          <a:p>
            <a:pPr algn="l">
              <a:defRPr sz="1100" b="0">
                <a:solidFill>
                  <a:srgbClr val="94A3B8"/>
                </a:solidFill>
                <a:latin typeface="Be Vietnam Pro"/>
              </a:defRPr>
            </a:pPr>
            <a:r>
              <a:t>Dashboard trực quan với biểu đồ. Phụ huynh nhận báo cáo AI hàng tuần.</a:t>
            </a:r>
          </a:p>
        </p:txBody>
      </p:sp>
      <p:sp>
        <p:nvSpPr>
          <p:cNvPr id="19" name="Rounded Rectangle 18"/>
          <p:cNvSpPr/>
          <p:nvPr/>
        </p:nvSpPr>
        <p:spPr>
          <a:xfrm>
            <a:off x="457200" y="4754880"/>
            <a:ext cx="5394960" cy="16002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89204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21" name="TextBox 20"/>
          <p:cNvSpPr txBox="1"/>
          <p:nvPr/>
        </p:nvSpPr>
        <p:spPr>
          <a:xfrm>
            <a:off x="1143000" y="4892040"/>
            <a:ext cx="4572000" cy="365760"/>
          </a:xfrm>
          <a:prstGeom prst="rect">
            <a:avLst/>
          </a:prstGeom>
          <a:noFill/>
        </p:spPr>
        <p:txBody>
          <a:bodyPr wrap="square">
            <a:spAutoFit/>
          </a:bodyPr>
          <a:lstStyle/>
          <a:p>
            <a:pPr algn="l">
              <a:defRPr sz="1400" b="1">
                <a:solidFill>
                  <a:srgbClr val="F8FAFC"/>
                </a:solidFill>
                <a:latin typeface="Be Vietnam Pro"/>
              </a:defRPr>
            </a:pPr>
            <a:r>
              <a:t>Chẩn đoán điểm yếu thông minh</a:t>
            </a:r>
          </a:p>
        </p:txBody>
      </p:sp>
      <p:sp>
        <p:nvSpPr>
          <p:cNvPr id="22" name="TextBox 21"/>
          <p:cNvSpPr txBox="1"/>
          <p:nvPr/>
        </p:nvSpPr>
        <p:spPr>
          <a:xfrm>
            <a:off x="1143000" y="5349240"/>
            <a:ext cx="4572000" cy="822960"/>
          </a:xfrm>
          <a:prstGeom prst="rect">
            <a:avLst/>
          </a:prstGeom>
          <a:noFill/>
        </p:spPr>
        <p:txBody>
          <a:bodyPr wrap="square">
            <a:spAutoFit/>
          </a:bodyPr>
          <a:lstStyle/>
          <a:p>
            <a:pPr algn="l">
              <a:defRPr sz="1100" b="0">
                <a:solidFill>
                  <a:srgbClr val="94A3B8"/>
                </a:solidFill>
                <a:latin typeface="Be Vietnam Pro"/>
              </a:defRPr>
            </a:pPr>
            <a:r>
              <a:t>Phát hiện lỗ hổng kiến thức qua bài sai, AI tạo bài tập riêng để khắc phục.</a:t>
            </a:r>
          </a:p>
        </p:txBody>
      </p:sp>
      <p:sp>
        <p:nvSpPr>
          <p:cNvPr id="23" name="Rounded Rectangle 22"/>
          <p:cNvSpPr/>
          <p:nvPr/>
        </p:nvSpPr>
        <p:spPr>
          <a:xfrm>
            <a:off x="6217920" y="4754880"/>
            <a:ext cx="5394960" cy="16002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489204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25" name="TextBox 24"/>
          <p:cNvSpPr txBox="1"/>
          <p:nvPr/>
        </p:nvSpPr>
        <p:spPr>
          <a:xfrm>
            <a:off x="6903720" y="4892040"/>
            <a:ext cx="4572000" cy="365760"/>
          </a:xfrm>
          <a:prstGeom prst="rect">
            <a:avLst/>
          </a:prstGeom>
          <a:noFill/>
        </p:spPr>
        <p:txBody>
          <a:bodyPr wrap="square">
            <a:spAutoFit/>
          </a:bodyPr>
          <a:lstStyle/>
          <a:p>
            <a:pPr algn="l">
              <a:defRPr sz="1400" b="1">
                <a:solidFill>
                  <a:srgbClr val="F8FAFC"/>
                </a:solidFill>
                <a:latin typeface="Be Vietnam Pro"/>
              </a:defRPr>
            </a:pPr>
            <a:r>
              <a:t>Học mà chơi — Học mà chơi</a:t>
            </a:r>
          </a:p>
        </p:txBody>
      </p:sp>
      <p:sp>
        <p:nvSpPr>
          <p:cNvPr id="26" name="TextBox 25"/>
          <p:cNvSpPr txBox="1"/>
          <p:nvPr/>
        </p:nvSpPr>
        <p:spPr>
          <a:xfrm>
            <a:off x="6903720" y="5349240"/>
            <a:ext cx="4572000" cy="822960"/>
          </a:xfrm>
          <a:prstGeom prst="rect">
            <a:avLst/>
          </a:prstGeom>
          <a:noFill/>
        </p:spPr>
        <p:txBody>
          <a:bodyPr wrap="square">
            <a:spAutoFit/>
          </a:bodyPr>
          <a:lstStyle/>
          <a:p>
            <a:pPr algn="l">
              <a:defRPr sz="1100" b="0">
                <a:solidFill>
                  <a:srgbClr val="94A3B8"/>
                </a:solidFill>
                <a:latin typeface="Be Vietnam Pro"/>
              </a:defRPr>
            </a:pPr>
            <a:r>
              <a:t>Kim cương, streak, thành tựu và bảng xếp hạng tạo động lực học tập.</a:t>
            </a:r>
          </a:p>
        </p:txBody>
      </p:sp>
      <p:sp>
        <p:nvSpPr>
          <p:cNvPr id="27" name="TextBox 26"/>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7/27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914400" y="182880"/>
            <a:ext cx="10332720" cy="640080"/>
          </a:xfrm>
          <a:prstGeom prst="rect">
            <a:avLst/>
          </a:prstGeom>
          <a:noFill/>
        </p:spPr>
        <p:txBody>
          <a:bodyPr wrap="square">
            <a:spAutoFit/>
          </a:bodyPr>
          <a:lstStyle/>
          <a:p>
            <a:pPr algn="ctr">
              <a:defRPr sz="3400" b="1">
                <a:solidFill>
                  <a:srgbClr val="F8FAFC"/>
                </a:solidFill>
                <a:latin typeface="Be Vietnam Pro"/>
              </a:defRPr>
            </a:pPr>
            <a:r>
              <a:t>Trước và sau khi có EduSelf</a:t>
            </a:r>
          </a:p>
        </p:txBody>
      </p:sp>
      <p:sp>
        <p:nvSpPr>
          <p:cNvPr id="3" name="Rounded Rectangle 2"/>
          <p:cNvSpPr/>
          <p:nvPr/>
        </p:nvSpPr>
        <p:spPr>
          <a:xfrm>
            <a:off x="274320" y="1097280"/>
            <a:ext cx="5303520" cy="4754880"/>
          </a:xfrm>
          <a:prstGeom prst="roundRect">
            <a:avLst/>
          </a:prstGeom>
          <a:solidFill>
            <a:srgbClr val="1A0808"/>
          </a:solidFill>
          <a:ln w="12700">
            <a:solidFill>
              <a:srgbClr val="401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937760" cy="365760"/>
          </a:xfrm>
          <a:prstGeom prst="rect">
            <a:avLst/>
          </a:prstGeom>
          <a:noFill/>
        </p:spPr>
        <p:txBody>
          <a:bodyPr wrap="square">
            <a:spAutoFit/>
          </a:bodyPr>
          <a:lstStyle/>
          <a:p>
            <a:pPr algn="l">
              <a:defRPr sz="1600" b="1">
                <a:solidFill>
                  <a:srgbClr val="FCA5A5"/>
                </a:solidFill>
                <a:latin typeface="Be Vietnam Pro"/>
              </a:defRPr>
            </a:pPr>
            <a:r>
              <a:t>✕ Trước khi có EduSelf</a:t>
            </a:r>
          </a:p>
        </p:txBody>
      </p:sp>
      <p:sp>
        <p:nvSpPr>
          <p:cNvPr id="5" name="TextBox 4"/>
          <p:cNvSpPr txBox="1"/>
          <p:nvPr/>
        </p:nvSpPr>
        <p:spPr>
          <a:xfrm>
            <a:off x="548640" y="1737360"/>
            <a:ext cx="4754880" cy="548640"/>
          </a:xfrm>
          <a:prstGeom prst="rect">
            <a:avLst/>
          </a:prstGeom>
          <a:noFill/>
        </p:spPr>
        <p:txBody>
          <a:bodyPr wrap="square">
            <a:spAutoFit/>
          </a:bodyPr>
          <a:lstStyle/>
          <a:p>
            <a:pPr algn="l">
              <a:defRPr sz="1150" b="0">
                <a:solidFill>
                  <a:srgbClr val="94A3B8"/>
                </a:solidFill>
                <a:latin typeface="Be Vietnam Pro"/>
              </a:defRPr>
            </a:pPr>
            <a:r>
              <a:t>✕  Học sinh tự học một mình, không ai hướng dẫn khi gặp khó</a:t>
            </a:r>
          </a:p>
        </p:txBody>
      </p:sp>
      <p:sp>
        <p:nvSpPr>
          <p:cNvPr id="6" name="TextBox 5"/>
          <p:cNvSpPr txBox="1"/>
          <p:nvPr/>
        </p:nvSpPr>
        <p:spPr>
          <a:xfrm>
            <a:off x="548640" y="2377439"/>
            <a:ext cx="4754880" cy="548640"/>
          </a:xfrm>
          <a:prstGeom prst="rect">
            <a:avLst/>
          </a:prstGeom>
          <a:noFill/>
        </p:spPr>
        <p:txBody>
          <a:bodyPr wrap="square">
            <a:spAutoFit/>
          </a:bodyPr>
          <a:lstStyle/>
          <a:p>
            <a:pPr algn="l">
              <a:defRPr sz="1150" b="0">
                <a:solidFill>
                  <a:srgbClr val="94A3B8"/>
                </a:solidFill>
                <a:latin typeface="Be Vietnam Pro"/>
              </a:defRPr>
            </a:pPr>
            <a:r>
              <a:t>✕  Giáo viên mất 4-5 tiếng/tuần soạn đề và chấm bài thủ công</a:t>
            </a:r>
          </a:p>
        </p:txBody>
      </p:sp>
      <p:sp>
        <p:nvSpPr>
          <p:cNvPr id="7" name="TextBox 6"/>
          <p:cNvSpPr txBox="1"/>
          <p:nvPr/>
        </p:nvSpPr>
        <p:spPr>
          <a:xfrm>
            <a:off x="548640" y="3017520"/>
            <a:ext cx="4754880" cy="548640"/>
          </a:xfrm>
          <a:prstGeom prst="rect">
            <a:avLst/>
          </a:prstGeom>
          <a:noFill/>
        </p:spPr>
        <p:txBody>
          <a:bodyPr wrap="square">
            <a:spAutoFit/>
          </a:bodyPr>
          <a:lstStyle/>
          <a:p>
            <a:pPr algn="l">
              <a:defRPr sz="1150" b="0">
                <a:solidFill>
                  <a:srgbClr val="94A3B8"/>
                </a:solidFill>
                <a:latin typeface="Be Vietnam Pro"/>
              </a:defRPr>
            </a:pPr>
            <a:r>
              <a:t>✕  Phụ huynh mù mờ không biết con học hành ra sao</a:t>
            </a:r>
          </a:p>
        </p:txBody>
      </p:sp>
      <p:sp>
        <p:nvSpPr>
          <p:cNvPr id="8" name="TextBox 7"/>
          <p:cNvSpPr txBox="1"/>
          <p:nvPr/>
        </p:nvSpPr>
        <p:spPr>
          <a:xfrm>
            <a:off x="548640" y="3657599"/>
            <a:ext cx="4754880" cy="548640"/>
          </a:xfrm>
          <a:prstGeom prst="rect">
            <a:avLst/>
          </a:prstGeom>
          <a:noFill/>
        </p:spPr>
        <p:txBody>
          <a:bodyPr wrap="square">
            <a:spAutoFit/>
          </a:bodyPr>
          <a:lstStyle/>
          <a:p>
            <a:pPr algn="l">
              <a:defRPr sz="1150" b="0">
                <a:solidFill>
                  <a:srgbClr val="94A3B8"/>
                </a:solidFill>
                <a:latin typeface="Be Vietnam Pro"/>
              </a:defRPr>
            </a:pPr>
            <a:r>
              <a:t>✕  Học sinh không biết mình yếu chỗ nào để cải thiện</a:t>
            </a:r>
          </a:p>
        </p:txBody>
      </p:sp>
      <p:sp>
        <p:nvSpPr>
          <p:cNvPr id="9" name="TextBox 8"/>
          <p:cNvSpPr txBox="1"/>
          <p:nvPr/>
        </p:nvSpPr>
        <p:spPr>
          <a:xfrm>
            <a:off x="548640" y="4297679"/>
            <a:ext cx="4754880" cy="548640"/>
          </a:xfrm>
          <a:prstGeom prst="rect">
            <a:avLst/>
          </a:prstGeom>
          <a:noFill/>
        </p:spPr>
        <p:txBody>
          <a:bodyPr wrap="square">
            <a:spAutoFit/>
          </a:bodyPr>
          <a:lstStyle/>
          <a:p>
            <a:pPr algn="l">
              <a:defRPr sz="1150" b="0">
                <a:solidFill>
                  <a:srgbClr val="94A3B8"/>
                </a:solidFill>
                <a:latin typeface="Be Vietnam Pro"/>
              </a:defRPr>
            </a:pPr>
            <a:r>
              <a:t>✕  Không có động lực, dễ bỏ cuộc giữa chừng</a:t>
            </a:r>
          </a:p>
        </p:txBody>
      </p:sp>
      <p:sp>
        <p:nvSpPr>
          <p:cNvPr id="10" name="TextBox 9"/>
          <p:cNvSpPr txBox="1"/>
          <p:nvPr/>
        </p:nvSpPr>
        <p:spPr>
          <a:xfrm>
            <a:off x="548640" y="4937760"/>
            <a:ext cx="4754880" cy="548640"/>
          </a:xfrm>
          <a:prstGeom prst="rect">
            <a:avLst/>
          </a:prstGeom>
          <a:noFill/>
        </p:spPr>
        <p:txBody>
          <a:bodyPr wrap="square">
            <a:spAutoFit/>
          </a:bodyPr>
          <a:lstStyle/>
          <a:p>
            <a:pPr algn="l">
              <a:defRPr sz="1150" b="0">
                <a:solidFill>
                  <a:srgbClr val="94A3B8"/>
                </a:solidFill>
                <a:latin typeface="Be Vietnam Pro"/>
              </a:defRPr>
            </a:pPr>
            <a:r>
              <a:t>✕  Dữ liệu học tập phân tán, không đo lường được</a:t>
            </a:r>
          </a:p>
        </p:txBody>
      </p:sp>
      <p:sp>
        <p:nvSpPr>
          <p:cNvPr id="11" name="TextBox 10"/>
          <p:cNvSpPr txBox="1"/>
          <p:nvPr/>
        </p:nvSpPr>
        <p:spPr>
          <a:xfrm>
            <a:off x="5577840" y="2926080"/>
            <a:ext cx="914400" cy="548640"/>
          </a:xfrm>
          <a:prstGeom prst="rect">
            <a:avLst/>
          </a:prstGeom>
          <a:noFill/>
        </p:spPr>
        <p:txBody>
          <a:bodyPr wrap="square">
            <a:spAutoFit/>
          </a:bodyPr>
          <a:lstStyle/>
          <a:p>
            <a:pPr algn="ctr">
              <a:defRPr sz="4000" b="0">
                <a:solidFill>
                  <a:srgbClr val="60A5FA"/>
                </a:solidFill>
                <a:latin typeface="Be Vietnam Pro"/>
              </a:defRPr>
            </a:pPr>
            <a:r>
              <a:t>⟶</a:t>
            </a:r>
          </a:p>
        </p:txBody>
      </p:sp>
      <p:sp>
        <p:nvSpPr>
          <p:cNvPr id="12" name="Rounded Rectangle 11"/>
          <p:cNvSpPr/>
          <p:nvPr/>
        </p:nvSpPr>
        <p:spPr>
          <a:xfrm>
            <a:off x="6537960" y="1097280"/>
            <a:ext cx="5349240" cy="4754880"/>
          </a:xfrm>
          <a:prstGeom prst="roundRect">
            <a:avLst/>
          </a:prstGeom>
          <a:solidFill>
            <a:srgbClr val="081A08"/>
          </a:solidFill>
          <a:ln w="12700">
            <a:solidFill>
              <a:srgbClr val="104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234440"/>
            <a:ext cx="4937760" cy="365760"/>
          </a:xfrm>
          <a:prstGeom prst="rect">
            <a:avLst/>
          </a:prstGeom>
          <a:noFill/>
        </p:spPr>
        <p:txBody>
          <a:bodyPr wrap="square">
            <a:spAutoFit/>
          </a:bodyPr>
          <a:lstStyle/>
          <a:p>
            <a:pPr algn="l">
              <a:defRPr sz="1600" b="1">
                <a:solidFill>
                  <a:srgbClr val="6EE7B7"/>
                </a:solidFill>
                <a:latin typeface="Be Vietnam Pro"/>
              </a:defRPr>
            </a:pPr>
            <a:r>
              <a:t>✓ Sau khi có EduSelf</a:t>
            </a:r>
          </a:p>
        </p:txBody>
      </p:sp>
      <p:sp>
        <p:nvSpPr>
          <p:cNvPr id="14" name="TextBox 13"/>
          <p:cNvSpPr txBox="1"/>
          <p:nvPr/>
        </p:nvSpPr>
        <p:spPr>
          <a:xfrm>
            <a:off x="6812280" y="1737360"/>
            <a:ext cx="4846320" cy="548640"/>
          </a:xfrm>
          <a:prstGeom prst="rect">
            <a:avLst/>
          </a:prstGeom>
          <a:noFill/>
        </p:spPr>
        <p:txBody>
          <a:bodyPr wrap="square">
            <a:spAutoFit/>
          </a:bodyPr>
          <a:lstStyle/>
          <a:p>
            <a:pPr algn="l">
              <a:defRPr sz="1150" b="0">
                <a:solidFill>
                  <a:srgbClr val="6EE7B7"/>
                </a:solidFill>
                <a:latin typeface="Be Vietnam Pro"/>
              </a:defRPr>
            </a:pPr>
            <a:r>
              <a:t>✓  AI Tutor đồng hành 24/7, giải đáp mọi thắc mắc</a:t>
            </a:r>
          </a:p>
        </p:txBody>
      </p:sp>
      <p:sp>
        <p:nvSpPr>
          <p:cNvPr id="15" name="TextBox 14"/>
          <p:cNvSpPr txBox="1"/>
          <p:nvPr/>
        </p:nvSpPr>
        <p:spPr>
          <a:xfrm>
            <a:off x="6812280" y="2377439"/>
            <a:ext cx="4846320" cy="548640"/>
          </a:xfrm>
          <a:prstGeom prst="rect">
            <a:avLst/>
          </a:prstGeom>
          <a:noFill/>
        </p:spPr>
        <p:txBody>
          <a:bodyPr wrap="square">
            <a:spAutoFit/>
          </a:bodyPr>
          <a:lstStyle/>
          <a:p>
            <a:pPr algn="l">
              <a:defRPr sz="1150" b="0">
                <a:solidFill>
                  <a:srgbClr val="6EE7B7"/>
                </a:solidFill>
                <a:latin typeface="Be Vietnam Pro"/>
              </a:defRPr>
            </a:pPr>
            <a:r>
              <a:t>✓  AI tạo &amp; chấm bài tự động, giáo viên chỉ kiểm tra lại</a:t>
            </a:r>
          </a:p>
        </p:txBody>
      </p:sp>
      <p:sp>
        <p:nvSpPr>
          <p:cNvPr id="16" name="TextBox 15"/>
          <p:cNvSpPr txBox="1"/>
          <p:nvPr/>
        </p:nvSpPr>
        <p:spPr>
          <a:xfrm>
            <a:off x="6812280" y="3017520"/>
            <a:ext cx="4846320" cy="548640"/>
          </a:xfrm>
          <a:prstGeom prst="rect">
            <a:avLst/>
          </a:prstGeom>
          <a:noFill/>
        </p:spPr>
        <p:txBody>
          <a:bodyPr wrap="square">
            <a:spAutoFit/>
          </a:bodyPr>
          <a:lstStyle/>
          <a:p>
            <a:pPr algn="l">
              <a:defRPr sz="1150" b="0">
                <a:solidFill>
                  <a:srgbClr val="6EE7B7"/>
                </a:solidFill>
                <a:latin typeface="Be Vietnam Pro"/>
              </a:defRPr>
            </a:pPr>
            <a:r>
              <a:t>✓  Dashboard &amp; báo cáo AI hàng tuần cho phụ huynh</a:t>
            </a:r>
          </a:p>
        </p:txBody>
      </p:sp>
      <p:sp>
        <p:nvSpPr>
          <p:cNvPr id="17" name="TextBox 16"/>
          <p:cNvSpPr txBox="1"/>
          <p:nvPr/>
        </p:nvSpPr>
        <p:spPr>
          <a:xfrm>
            <a:off x="6812280" y="3657599"/>
            <a:ext cx="4846320" cy="548640"/>
          </a:xfrm>
          <a:prstGeom prst="rect">
            <a:avLst/>
          </a:prstGeom>
          <a:noFill/>
        </p:spPr>
        <p:txBody>
          <a:bodyPr wrap="square">
            <a:spAutoFit/>
          </a:bodyPr>
          <a:lstStyle/>
          <a:p>
            <a:pPr algn="l">
              <a:defRPr sz="1150" b="0">
                <a:solidFill>
                  <a:srgbClr val="6EE7B7"/>
                </a:solidFill>
                <a:latin typeface="Be Vietnam Pro"/>
              </a:defRPr>
            </a:pPr>
            <a:r>
              <a:t>✓  Chẩn đoán điểm yếu + bài tập cải thiện riêng</a:t>
            </a:r>
          </a:p>
        </p:txBody>
      </p:sp>
      <p:sp>
        <p:nvSpPr>
          <p:cNvPr id="18" name="TextBox 17"/>
          <p:cNvSpPr txBox="1"/>
          <p:nvPr/>
        </p:nvSpPr>
        <p:spPr>
          <a:xfrm>
            <a:off x="6812280" y="4297679"/>
            <a:ext cx="4846320" cy="548640"/>
          </a:xfrm>
          <a:prstGeom prst="rect">
            <a:avLst/>
          </a:prstGeom>
          <a:noFill/>
        </p:spPr>
        <p:txBody>
          <a:bodyPr wrap="square">
            <a:spAutoFit/>
          </a:bodyPr>
          <a:lstStyle/>
          <a:p>
            <a:pPr algn="l">
              <a:defRPr sz="1150" b="0">
                <a:solidFill>
                  <a:srgbClr val="6EE7B7"/>
                </a:solidFill>
                <a:latin typeface="Be Vietnam Pro"/>
              </a:defRPr>
            </a:pPr>
            <a:r>
              <a:t>✓  Kim cương, streak, thành tựu, bảng xếp hạng thúc đẩy</a:t>
            </a:r>
          </a:p>
        </p:txBody>
      </p:sp>
      <p:sp>
        <p:nvSpPr>
          <p:cNvPr id="19" name="TextBox 18"/>
          <p:cNvSpPr txBox="1"/>
          <p:nvPr/>
        </p:nvSpPr>
        <p:spPr>
          <a:xfrm>
            <a:off x="6812280" y="4937760"/>
            <a:ext cx="4846320" cy="548640"/>
          </a:xfrm>
          <a:prstGeom prst="rect">
            <a:avLst/>
          </a:prstGeom>
          <a:noFill/>
        </p:spPr>
        <p:txBody>
          <a:bodyPr wrap="square">
            <a:spAutoFit/>
          </a:bodyPr>
          <a:lstStyle/>
          <a:p>
            <a:pPr algn="l">
              <a:defRPr sz="1150" b="0">
                <a:solidFill>
                  <a:srgbClr val="6EE7B7"/>
                </a:solidFill>
                <a:latin typeface="Be Vietnam Pro"/>
              </a:defRPr>
            </a:pPr>
            <a:r>
              <a:t>✓  Toàn bộ dữ liệu tập trung, phân tích &amp; xuất báo cáo</a:t>
            </a:r>
          </a:p>
        </p:txBody>
      </p:sp>
      <p:sp>
        <p:nvSpPr>
          <p:cNvPr id="20" name="TextBox 19"/>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8/27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0" y="1371600"/>
            <a:ext cx="12191695" cy="2743200"/>
          </a:xfrm>
          <a:prstGeom prst="rect">
            <a:avLst/>
          </a:prstGeom>
          <a:noFill/>
        </p:spPr>
        <p:txBody>
          <a:bodyPr wrap="square">
            <a:spAutoFit/>
          </a:bodyPr>
          <a:lstStyle/>
          <a:p>
            <a:pPr algn="ctr">
              <a:defRPr sz="14000" b="1">
                <a:solidFill>
                  <a:srgbClr val="0D1530"/>
                </a:solidFill>
                <a:latin typeface="Be Vietnam Pro"/>
              </a:defRPr>
            </a:pPr>
            <a:r>
              <a:t>07</a:t>
            </a:r>
          </a:p>
        </p:txBody>
      </p:sp>
      <p:sp>
        <p:nvSpPr>
          <p:cNvPr id="3" name="TextBox 2"/>
          <p:cNvSpPr txBox="1"/>
          <p:nvPr/>
        </p:nvSpPr>
        <p:spPr>
          <a:xfrm>
            <a:off x="0" y="2560320"/>
            <a:ext cx="12191695" cy="914400"/>
          </a:xfrm>
          <a:prstGeom prst="rect">
            <a:avLst/>
          </a:prstGeom>
          <a:noFill/>
        </p:spPr>
        <p:txBody>
          <a:bodyPr wrap="square">
            <a:spAutoFit/>
          </a:bodyPr>
          <a:lstStyle/>
          <a:p>
            <a:pPr algn="ctr">
              <a:defRPr sz="4400" b="1">
                <a:solidFill>
                  <a:srgbClr val="F8FAFC"/>
                </a:solidFill>
                <a:latin typeface="Be Vietnam Pro"/>
              </a:defRPr>
            </a:pPr>
            <a:r>
              <a:t>Tính năng nổi bật</a:t>
            </a:r>
          </a:p>
        </p:txBody>
      </p:sp>
      <p:sp>
        <p:nvSpPr>
          <p:cNvPr id="4" name="TextBox 3"/>
          <p:cNvSpPr txBox="1"/>
          <p:nvPr/>
        </p:nvSpPr>
        <p:spPr>
          <a:xfrm>
            <a:off x="1828800" y="3657600"/>
            <a:ext cx="8503920" cy="914400"/>
          </a:xfrm>
          <a:prstGeom prst="rect">
            <a:avLst/>
          </a:prstGeom>
          <a:noFill/>
        </p:spPr>
        <p:txBody>
          <a:bodyPr wrap="square">
            <a:spAutoFit/>
          </a:bodyPr>
          <a:lstStyle/>
          <a:p>
            <a:pPr algn="ctr">
              <a:defRPr sz="1800" b="0">
                <a:solidFill>
                  <a:srgbClr val="94A3B8"/>
                </a:solidFill>
                <a:latin typeface="Be Vietnam Pro"/>
              </a:defRPr>
            </a:pPr>
            <a:r>
              <a:t>10 nhóm tính năng chính — tất cả đã hoàn thiện, sẵn sàng sử dụng</a:t>
            </a:r>
          </a:p>
        </p:txBody>
      </p:sp>
      <p:sp>
        <p:nvSpPr>
          <p:cNvPr id="5" name="TextBox 4"/>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9/27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914400" y="137160"/>
            <a:ext cx="10332720" cy="640080"/>
          </a:xfrm>
          <a:prstGeom prst="rect">
            <a:avLst/>
          </a:prstGeom>
          <a:noFill/>
        </p:spPr>
        <p:txBody>
          <a:bodyPr wrap="square">
            <a:spAutoFit/>
          </a:bodyPr>
          <a:lstStyle/>
          <a:p>
            <a:pPr algn="ctr">
              <a:defRPr sz="3200" b="1">
                <a:solidFill>
                  <a:srgbClr val="F8FAFC"/>
                </a:solidFill>
                <a:latin typeface="Be Vietnam Pro"/>
              </a:defRPr>
            </a:pPr>
            <a:r>
              <a:t>Nhóm tính năng cốt lõi</a:t>
            </a:r>
          </a:p>
        </p:txBody>
      </p:sp>
      <p:sp>
        <p:nvSpPr>
          <p:cNvPr id="3" name="Rounded Rectangle 2"/>
          <p:cNvSpPr/>
          <p:nvPr/>
        </p:nvSpPr>
        <p:spPr>
          <a:xfrm>
            <a:off x="365760" y="1005840"/>
            <a:ext cx="274320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43000"/>
            <a:ext cx="2743200" cy="457200"/>
          </a:xfrm>
          <a:prstGeom prst="rect">
            <a:avLst/>
          </a:prstGeom>
          <a:noFill/>
        </p:spPr>
        <p:txBody>
          <a:bodyPr wrap="square">
            <a:spAutoFit/>
          </a:bodyPr>
          <a:lstStyle/>
          <a:p>
            <a:pPr algn="ctr">
              <a:defRPr sz="2600" b="0">
                <a:solidFill>
                  <a:srgbClr val="F8FAFC"/>
                </a:solidFill>
                <a:latin typeface="Be Vietnam Pro"/>
              </a:defRPr>
            </a:pPr>
            <a:r>
              <a:t>🤖</a:t>
            </a:r>
          </a:p>
        </p:txBody>
      </p:sp>
      <p:sp>
        <p:nvSpPr>
          <p:cNvPr id="5" name="TextBox 4"/>
          <p:cNvSpPr txBox="1"/>
          <p:nvPr/>
        </p:nvSpPr>
        <p:spPr>
          <a:xfrm>
            <a:off x="365760" y="1737360"/>
            <a:ext cx="2743200" cy="365760"/>
          </a:xfrm>
          <a:prstGeom prst="rect">
            <a:avLst/>
          </a:prstGeom>
          <a:noFill/>
        </p:spPr>
        <p:txBody>
          <a:bodyPr wrap="square">
            <a:spAutoFit/>
          </a:bodyPr>
          <a:lstStyle/>
          <a:p>
            <a:pPr algn="ctr">
              <a:defRPr sz="1400" b="1">
                <a:solidFill>
                  <a:srgbClr val="F8FAFC"/>
                </a:solidFill>
                <a:latin typeface="Be Vietnam Pro"/>
              </a:defRPr>
            </a:pPr>
            <a:r>
              <a:t>Trợ lý AI thông minh</a:t>
            </a:r>
          </a:p>
        </p:txBody>
      </p:sp>
      <p:sp>
        <p:nvSpPr>
          <p:cNvPr id="6" name="TextBox 5"/>
          <p:cNvSpPr txBox="1"/>
          <p:nvPr/>
        </p:nvSpPr>
        <p:spPr>
          <a:xfrm>
            <a:off x="502920" y="2194560"/>
            <a:ext cx="2468880" cy="1097280"/>
          </a:xfrm>
          <a:prstGeom prst="rect">
            <a:avLst/>
          </a:prstGeom>
          <a:noFill/>
        </p:spPr>
        <p:txBody>
          <a:bodyPr wrap="square">
            <a:spAutoFit/>
          </a:bodyPr>
          <a:lstStyle/>
          <a:p>
            <a:pPr algn="ctr">
              <a:defRPr sz="1050" b="0">
                <a:solidFill>
                  <a:srgbClr val="94A3B8"/>
                </a:solidFill>
                <a:latin typeface="Be Vietnam Pro"/>
              </a:defRPr>
            </a:pPr>
            <a:r>
              <a:t>Chat streaming, quiz inline,</a:t>
            </a:r>
            <a:br/>
            <a:r>
              <a:t>tóm tắt, giải thích gợi mở</a:t>
            </a:r>
          </a:p>
        </p:txBody>
      </p:sp>
      <p:sp>
        <p:nvSpPr>
          <p:cNvPr id="7" name="Rounded Rectangle 6"/>
          <p:cNvSpPr/>
          <p:nvPr/>
        </p:nvSpPr>
        <p:spPr>
          <a:xfrm>
            <a:off x="3337560" y="1005840"/>
            <a:ext cx="274320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60" y="1143000"/>
            <a:ext cx="2743200" cy="457200"/>
          </a:xfrm>
          <a:prstGeom prst="rect">
            <a:avLst/>
          </a:prstGeom>
          <a:noFill/>
        </p:spPr>
        <p:txBody>
          <a:bodyPr wrap="square">
            <a:spAutoFit/>
          </a:bodyPr>
          <a:lstStyle/>
          <a:p>
            <a:pPr algn="ctr">
              <a:defRPr sz="2600" b="0">
                <a:solidFill>
                  <a:srgbClr val="F8FAFC"/>
                </a:solidFill>
                <a:latin typeface="Be Vietnam Pro"/>
              </a:defRPr>
            </a:pPr>
            <a:r>
              <a:t>📚</a:t>
            </a:r>
          </a:p>
        </p:txBody>
      </p:sp>
      <p:sp>
        <p:nvSpPr>
          <p:cNvPr id="9" name="TextBox 8"/>
          <p:cNvSpPr txBox="1"/>
          <p:nvPr/>
        </p:nvSpPr>
        <p:spPr>
          <a:xfrm>
            <a:off x="3337560" y="1737360"/>
            <a:ext cx="2743200" cy="365760"/>
          </a:xfrm>
          <a:prstGeom prst="rect">
            <a:avLst/>
          </a:prstGeom>
          <a:noFill/>
        </p:spPr>
        <p:txBody>
          <a:bodyPr wrap="square">
            <a:spAutoFit/>
          </a:bodyPr>
          <a:lstStyle/>
          <a:p>
            <a:pPr algn="ctr">
              <a:defRPr sz="1400" b="1">
                <a:solidFill>
                  <a:srgbClr val="F8FAFC"/>
                </a:solidFill>
                <a:latin typeface="Be Vietnam Pro"/>
              </a:defRPr>
            </a:pPr>
            <a:r>
              <a:t>Quản lý học tập</a:t>
            </a:r>
          </a:p>
        </p:txBody>
      </p:sp>
      <p:sp>
        <p:nvSpPr>
          <p:cNvPr id="10" name="TextBox 9"/>
          <p:cNvSpPr txBox="1"/>
          <p:nvPr/>
        </p:nvSpPr>
        <p:spPr>
          <a:xfrm>
            <a:off x="3474720" y="2194560"/>
            <a:ext cx="2468880" cy="1097280"/>
          </a:xfrm>
          <a:prstGeom prst="rect">
            <a:avLst/>
          </a:prstGeom>
          <a:noFill/>
        </p:spPr>
        <p:txBody>
          <a:bodyPr wrap="square">
            <a:spAutoFit/>
          </a:bodyPr>
          <a:lstStyle/>
          <a:p>
            <a:pPr algn="ctr">
              <a:defRPr sz="1050" b="0">
                <a:solidFill>
                  <a:srgbClr val="94A3B8"/>
                </a:solidFill>
                <a:latin typeface="Be Vietnam Pro"/>
              </a:defRPr>
            </a:pPr>
            <a:r>
              <a:t>CRUD môn/khoá/bài học,</a:t>
            </a:r>
            <a:br/>
            <a:r>
              <a:t>upload &amp; xem PDF</a:t>
            </a:r>
          </a:p>
        </p:txBody>
      </p:sp>
      <p:sp>
        <p:nvSpPr>
          <p:cNvPr id="11" name="Rounded Rectangle 10"/>
          <p:cNvSpPr/>
          <p:nvPr/>
        </p:nvSpPr>
        <p:spPr>
          <a:xfrm>
            <a:off x="6309360" y="1005840"/>
            <a:ext cx="274320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143000"/>
            <a:ext cx="2743200" cy="457200"/>
          </a:xfrm>
          <a:prstGeom prst="rect">
            <a:avLst/>
          </a:prstGeom>
          <a:noFill/>
        </p:spPr>
        <p:txBody>
          <a:bodyPr wrap="square">
            <a:spAutoFit/>
          </a:bodyPr>
          <a:lstStyle/>
          <a:p>
            <a:pPr algn="ctr">
              <a:defRPr sz="2600" b="0">
                <a:solidFill>
                  <a:srgbClr val="F8FAFC"/>
                </a:solidFill>
                <a:latin typeface="Be Vietnam Pro"/>
              </a:defRPr>
            </a:pPr>
            <a:r>
              <a:t>📝</a:t>
            </a:r>
          </a:p>
        </p:txBody>
      </p:sp>
      <p:sp>
        <p:nvSpPr>
          <p:cNvPr id="13" name="TextBox 12"/>
          <p:cNvSpPr txBox="1"/>
          <p:nvPr/>
        </p:nvSpPr>
        <p:spPr>
          <a:xfrm>
            <a:off x="6309360" y="1737360"/>
            <a:ext cx="2743200" cy="365760"/>
          </a:xfrm>
          <a:prstGeom prst="rect">
            <a:avLst/>
          </a:prstGeom>
          <a:noFill/>
        </p:spPr>
        <p:txBody>
          <a:bodyPr wrap="square">
            <a:spAutoFit/>
          </a:bodyPr>
          <a:lstStyle/>
          <a:p>
            <a:pPr algn="ctr">
              <a:defRPr sz="1400" b="1">
                <a:solidFill>
                  <a:srgbClr val="F8FAFC"/>
                </a:solidFill>
                <a:latin typeface="Be Vietnam Pro"/>
              </a:defRPr>
            </a:pPr>
            <a:r>
              <a:t>Bài tập &amp; Chấm điểm</a:t>
            </a:r>
          </a:p>
        </p:txBody>
      </p:sp>
      <p:sp>
        <p:nvSpPr>
          <p:cNvPr id="14" name="TextBox 13"/>
          <p:cNvSpPr txBox="1"/>
          <p:nvPr/>
        </p:nvSpPr>
        <p:spPr>
          <a:xfrm>
            <a:off x="6446520" y="2194560"/>
            <a:ext cx="2468880" cy="1097280"/>
          </a:xfrm>
          <a:prstGeom prst="rect">
            <a:avLst/>
          </a:prstGeom>
          <a:noFill/>
        </p:spPr>
        <p:txBody>
          <a:bodyPr wrap="square">
            <a:spAutoFit/>
          </a:bodyPr>
          <a:lstStyle/>
          <a:p>
            <a:pPr algn="ctr">
              <a:defRPr sz="1050" b="0">
                <a:solidFill>
                  <a:srgbClr val="94A3B8"/>
                </a:solidFill>
                <a:latin typeface="Be Vietnam Pro"/>
              </a:defRPr>
            </a:pPr>
            <a:r>
              <a:t>ĐÃ GIAO→ĐÃ NHẬN,</a:t>
            </a:r>
            <a:br/>
            <a:r>
              <a:t>AI chấm tự luận, audit log</a:t>
            </a:r>
          </a:p>
        </p:txBody>
      </p:sp>
      <p:sp>
        <p:nvSpPr>
          <p:cNvPr id="15" name="Rounded Rectangle 14"/>
          <p:cNvSpPr/>
          <p:nvPr/>
        </p:nvSpPr>
        <p:spPr>
          <a:xfrm>
            <a:off x="9281160" y="1005840"/>
            <a:ext cx="274320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1143000"/>
            <a:ext cx="2743200" cy="457200"/>
          </a:xfrm>
          <a:prstGeom prst="rect">
            <a:avLst/>
          </a:prstGeom>
          <a:noFill/>
        </p:spPr>
        <p:txBody>
          <a:bodyPr wrap="square">
            <a:spAutoFit/>
          </a:bodyPr>
          <a:lstStyle/>
          <a:p>
            <a:pPr algn="ctr">
              <a:defRPr sz="2600" b="0">
                <a:solidFill>
                  <a:srgbClr val="F8FAFC"/>
                </a:solidFill>
                <a:latin typeface="Be Vietnam Pro"/>
              </a:defRPr>
            </a:pPr>
            <a:r>
              <a:t>📊</a:t>
            </a:r>
          </a:p>
        </p:txBody>
      </p:sp>
      <p:sp>
        <p:nvSpPr>
          <p:cNvPr id="17" name="TextBox 16"/>
          <p:cNvSpPr txBox="1"/>
          <p:nvPr/>
        </p:nvSpPr>
        <p:spPr>
          <a:xfrm>
            <a:off x="9281160" y="1737360"/>
            <a:ext cx="2743200" cy="365760"/>
          </a:xfrm>
          <a:prstGeom prst="rect">
            <a:avLst/>
          </a:prstGeom>
          <a:noFill/>
        </p:spPr>
        <p:txBody>
          <a:bodyPr wrap="square">
            <a:spAutoFit/>
          </a:bodyPr>
          <a:lstStyle/>
          <a:p>
            <a:pPr algn="ctr">
              <a:defRPr sz="1400" b="1">
                <a:solidFill>
                  <a:srgbClr val="F8FAFC"/>
                </a:solidFill>
                <a:latin typeface="Be Vietnam Pro"/>
              </a:defRPr>
            </a:pPr>
            <a:r>
              <a:t>Theo dõi tiến độ</a:t>
            </a:r>
          </a:p>
        </p:txBody>
      </p:sp>
      <p:sp>
        <p:nvSpPr>
          <p:cNvPr id="18" name="TextBox 17"/>
          <p:cNvSpPr txBox="1"/>
          <p:nvPr/>
        </p:nvSpPr>
        <p:spPr>
          <a:xfrm>
            <a:off x="9418320" y="2194560"/>
            <a:ext cx="2468880" cy="1097280"/>
          </a:xfrm>
          <a:prstGeom prst="rect">
            <a:avLst/>
          </a:prstGeom>
          <a:noFill/>
        </p:spPr>
        <p:txBody>
          <a:bodyPr wrap="square">
            <a:spAutoFit/>
          </a:bodyPr>
          <a:lstStyle/>
          <a:p>
            <a:pPr algn="ctr">
              <a:defRPr sz="1050" b="0">
                <a:solidFill>
                  <a:srgbClr val="94A3B8"/>
                </a:solidFill>
                <a:latin typeface="Be Vietnam Pro"/>
              </a:defRPr>
            </a:pPr>
            <a:r>
              <a:t>Phiên học tự động, biểu đồ</a:t>
            </a:r>
            <a:br/>
            <a:r>
              <a:t>7 ngày, bảng xếp hạng</a:t>
            </a:r>
          </a:p>
        </p:txBody>
      </p:sp>
      <p:sp>
        <p:nvSpPr>
          <p:cNvPr id="19" name="Rounded Rectangle 18"/>
          <p:cNvSpPr/>
          <p:nvPr/>
        </p:nvSpPr>
        <p:spPr>
          <a:xfrm>
            <a:off x="365760" y="3840480"/>
            <a:ext cx="274320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3977640"/>
            <a:ext cx="2743200" cy="457200"/>
          </a:xfrm>
          <a:prstGeom prst="rect">
            <a:avLst/>
          </a:prstGeom>
          <a:noFill/>
        </p:spPr>
        <p:txBody>
          <a:bodyPr wrap="square">
            <a:spAutoFit/>
          </a:bodyPr>
          <a:lstStyle/>
          <a:p>
            <a:pPr algn="ctr">
              <a:defRPr sz="2600" b="0">
                <a:solidFill>
                  <a:srgbClr val="F8FAFC"/>
                </a:solidFill>
                <a:latin typeface="Be Vietnam Pro"/>
              </a:defRPr>
            </a:pPr>
            <a:r>
              <a:t>🏆</a:t>
            </a:r>
          </a:p>
        </p:txBody>
      </p:sp>
      <p:sp>
        <p:nvSpPr>
          <p:cNvPr id="21" name="TextBox 20"/>
          <p:cNvSpPr txBox="1"/>
          <p:nvPr/>
        </p:nvSpPr>
        <p:spPr>
          <a:xfrm>
            <a:off x="365760" y="4572000"/>
            <a:ext cx="2743200" cy="365760"/>
          </a:xfrm>
          <a:prstGeom prst="rect">
            <a:avLst/>
          </a:prstGeom>
          <a:noFill/>
        </p:spPr>
        <p:txBody>
          <a:bodyPr wrap="square">
            <a:spAutoFit/>
          </a:bodyPr>
          <a:lstStyle/>
          <a:p>
            <a:pPr algn="ctr">
              <a:defRPr sz="1400" b="1">
                <a:solidFill>
                  <a:srgbClr val="F8FAFC"/>
                </a:solidFill>
                <a:latin typeface="Be Vietnam Pro"/>
              </a:defRPr>
            </a:pPr>
            <a:r>
              <a:t>Học mà chơi</a:t>
            </a:r>
          </a:p>
        </p:txBody>
      </p:sp>
      <p:sp>
        <p:nvSpPr>
          <p:cNvPr id="22" name="TextBox 21"/>
          <p:cNvSpPr txBox="1"/>
          <p:nvPr/>
        </p:nvSpPr>
        <p:spPr>
          <a:xfrm>
            <a:off x="502920" y="5029200"/>
            <a:ext cx="2468880" cy="1097280"/>
          </a:xfrm>
          <a:prstGeom prst="rect">
            <a:avLst/>
          </a:prstGeom>
          <a:noFill/>
        </p:spPr>
        <p:txBody>
          <a:bodyPr wrap="square">
            <a:spAutoFit/>
          </a:bodyPr>
          <a:lstStyle/>
          <a:p>
            <a:pPr algn="ctr">
              <a:defRPr sz="1050" b="0">
                <a:solidFill>
                  <a:srgbClr val="94A3B8"/>
                </a:solidFill>
                <a:latin typeface="Be Vietnam Pro"/>
              </a:defRPr>
            </a:pPr>
            <a:r>
              <a:t>Kim cương, streak,</a:t>
            </a:r>
            <a:br/>
            <a:r>
              <a:t>8 thành tựu, lịch sử GD</a:t>
            </a:r>
          </a:p>
        </p:txBody>
      </p:sp>
      <p:sp>
        <p:nvSpPr>
          <p:cNvPr id="23" name="Rounded Rectangle 22"/>
          <p:cNvSpPr/>
          <p:nvPr/>
        </p:nvSpPr>
        <p:spPr>
          <a:xfrm>
            <a:off x="3337560" y="3840480"/>
            <a:ext cx="274320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37560" y="3977640"/>
            <a:ext cx="2743200" cy="457200"/>
          </a:xfrm>
          <a:prstGeom prst="rect">
            <a:avLst/>
          </a:prstGeom>
          <a:noFill/>
        </p:spPr>
        <p:txBody>
          <a:bodyPr wrap="square">
            <a:spAutoFit/>
          </a:bodyPr>
          <a:lstStyle/>
          <a:p>
            <a:pPr algn="ctr">
              <a:defRPr sz="2600" b="0">
                <a:solidFill>
                  <a:srgbClr val="F8FAFC"/>
                </a:solidFill>
                <a:latin typeface="Be Vietnam Pro"/>
              </a:defRPr>
            </a:pPr>
            <a:r>
              <a:t>🎯</a:t>
            </a:r>
          </a:p>
        </p:txBody>
      </p:sp>
      <p:sp>
        <p:nvSpPr>
          <p:cNvPr id="25" name="TextBox 24"/>
          <p:cNvSpPr txBox="1"/>
          <p:nvPr/>
        </p:nvSpPr>
        <p:spPr>
          <a:xfrm>
            <a:off x="3337560" y="4572000"/>
            <a:ext cx="2743200" cy="365760"/>
          </a:xfrm>
          <a:prstGeom prst="rect">
            <a:avLst/>
          </a:prstGeom>
          <a:noFill/>
        </p:spPr>
        <p:txBody>
          <a:bodyPr wrap="square">
            <a:spAutoFit/>
          </a:bodyPr>
          <a:lstStyle/>
          <a:p>
            <a:pPr algn="ctr">
              <a:defRPr sz="1400" b="1">
                <a:solidFill>
                  <a:srgbClr val="F8FAFC"/>
                </a:solidFill>
                <a:latin typeface="Be Vietnam Pro"/>
              </a:defRPr>
            </a:pPr>
            <a:r>
              <a:t>Chẩn đoán điểm yếu</a:t>
            </a:r>
          </a:p>
        </p:txBody>
      </p:sp>
      <p:sp>
        <p:nvSpPr>
          <p:cNvPr id="26" name="TextBox 25"/>
          <p:cNvSpPr txBox="1"/>
          <p:nvPr/>
        </p:nvSpPr>
        <p:spPr>
          <a:xfrm>
            <a:off x="3474720" y="5029200"/>
            <a:ext cx="2468880" cy="1097280"/>
          </a:xfrm>
          <a:prstGeom prst="rect">
            <a:avLst/>
          </a:prstGeom>
          <a:noFill/>
        </p:spPr>
        <p:txBody>
          <a:bodyPr wrap="square">
            <a:spAutoFit/>
          </a:bodyPr>
          <a:lstStyle/>
          <a:p>
            <a:pPr algn="ctr">
              <a:defRPr sz="1050" b="0">
                <a:solidFill>
                  <a:srgbClr val="94A3B8"/>
                </a:solidFill>
                <a:latin typeface="Be Vietnam Pro"/>
              </a:defRPr>
            </a:pPr>
            <a:r>
              <a:t>Phát hiện lỗ hổng, AI tạo</a:t>
            </a:r>
            <a:br/>
            <a:r>
              <a:t>bài tập cải thiện riêng</a:t>
            </a:r>
          </a:p>
        </p:txBody>
      </p:sp>
      <p:sp>
        <p:nvSpPr>
          <p:cNvPr id="27" name="Rounded Rectangle 26"/>
          <p:cNvSpPr/>
          <p:nvPr/>
        </p:nvSpPr>
        <p:spPr>
          <a:xfrm>
            <a:off x="6309360" y="3840480"/>
            <a:ext cx="274320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977640"/>
            <a:ext cx="2743200" cy="457200"/>
          </a:xfrm>
          <a:prstGeom prst="rect">
            <a:avLst/>
          </a:prstGeom>
          <a:noFill/>
        </p:spPr>
        <p:txBody>
          <a:bodyPr wrap="square">
            <a:spAutoFit/>
          </a:bodyPr>
          <a:lstStyle/>
          <a:p>
            <a:pPr algn="ctr">
              <a:defRPr sz="2600" b="0">
                <a:solidFill>
                  <a:srgbClr val="F8FAFC"/>
                </a:solidFill>
                <a:latin typeface="Be Vietnam Pro"/>
              </a:defRPr>
            </a:pPr>
            <a:r>
              <a:t>🗺️</a:t>
            </a:r>
          </a:p>
        </p:txBody>
      </p:sp>
      <p:sp>
        <p:nvSpPr>
          <p:cNvPr id="29" name="TextBox 28"/>
          <p:cNvSpPr txBox="1"/>
          <p:nvPr/>
        </p:nvSpPr>
        <p:spPr>
          <a:xfrm>
            <a:off x="6309360" y="4572000"/>
            <a:ext cx="2743200" cy="365760"/>
          </a:xfrm>
          <a:prstGeom prst="rect">
            <a:avLst/>
          </a:prstGeom>
          <a:noFill/>
        </p:spPr>
        <p:txBody>
          <a:bodyPr wrap="square">
            <a:spAutoFit/>
          </a:bodyPr>
          <a:lstStyle/>
          <a:p>
            <a:pPr algn="ctr">
              <a:defRPr sz="1400" b="1">
                <a:solidFill>
                  <a:srgbClr val="F8FAFC"/>
                </a:solidFill>
                <a:latin typeface="Be Vietnam Pro"/>
              </a:defRPr>
            </a:pPr>
            <a:r>
              <a:t>Mind Map &amp; Graph</a:t>
            </a:r>
          </a:p>
        </p:txBody>
      </p:sp>
      <p:sp>
        <p:nvSpPr>
          <p:cNvPr id="30" name="TextBox 29"/>
          <p:cNvSpPr txBox="1"/>
          <p:nvPr/>
        </p:nvSpPr>
        <p:spPr>
          <a:xfrm>
            <a:off x="6446520" y="5029200"/>
            <a:ext cx="2468880" cy="1097280"/>
          </a:xfrm>
          <a:prstGeom prst="rect">
            <a:avLst/>
          </a:prstGeom>
          <a:noFill/>
        </p:spPr>
        <p:txBody>
          <a:bodyPr wrap="square">
            <a:spAutoFit/>
          </a:bodyPr>
          <a:lstStyle/>
          <a:p>
            <a:pPr algn="ctr">
              <a:defRPr sz="1050" b="0">
                <a:solidFill>
                  <a:srgbClr val="94A3B8"/>
                </a:solidFill>
                <a:latin typeface="Be Vietnam Pro"/>
              </a:defRPr>
            </a:pPr>
            <a:r>
              <a:t>Sơ đồ tư duy AI, đồ thị</a:t>
            </a:r>
            <a:br/>
            <a:r>
              <a:t>kiến thức trực quan</a:t>
            </a:r>
          </a:p>
        </p:txBody>
      </p:sp>
      <p:sp>
        <p:nvSpPr>
          <p:cNvPr id="31" name="Rounded Rectangle 30"/>
          <p:cNvSpPr/>
          <p:nvPr/>
        </p:nvSpPr>
        <p:spPr>
          <a:xfrm>
            <a:off x="9281160" y="3840480"/>
            <a:ext cx="2743200" cy="25603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977640"/>
            <a:ext cx="2743200" cy="457200"/>
          </a:xfrm>
          <a:prstGeom prst="rect">
            <a:avLst/>
          </a:prstGeom>
          <a:noFill/>
        </p:spPr>
        <p:txBody>
          <a:bodyPr wrap="square">
            <a:spAutoFit/>
          </a:bodyPr>
          <a:lstStyle/>
          <a:p>
            <a:pPr algn="ctr">
              <a:defRPr sz="2600" b="0">
                <a:solidFill>
                  <a:srgbClr val="F8FAFC"/>
                </a:solidFill>
                <a:latin typeface="Be Vietnam Pro"/>
              </a:defRPr>
            </a:pPr>
            <a:r>
              <a:t>🃏</a:t>
            </a:r>
          </a:p>
        </p:txBody>
      </p:sp>
      <p:sp>
        <p:nvSpPr>
          <p:cNvPr id="33" name="TextBox 32"/>
          <p:cNvSpPr txBox="1"/>
          <p:nvPr/>
        </p:nvSpPr>
        <p:spPr>
          <a:xfrm>
            <a:off x="9281160" y="4572000"/>
            <a:ext cx="2743200" cy="365760"/>
          </a:xfrm>
          <a:prstGeom prst="rect">
            <a:avLst/>
          </a:prstGeom>
          <a:noFill/>
        </p:spPr>
        <p:txBody>
          <a:bodyPr wrap="square">
            <a:spAutoFit/>
          </a:bodyPr>
          <a:lstStyle/>
          <a:p>
            <a:pPr algn="ctr">
              <a:defRPr sz="1400" b="1">
                <a:solidFill>
                  <a:srgbClr val="F8FAFC"/>
                </a:solidFill>
                <a:latin typeface="Be Vietnam Pro"/>
              </a:defRPr>
            </a:pPr>
            <a:r>
              <a:t>Flashcards (SM-2)</a:t>
            </a:r>
          </a:p>
        </p:txBody>
      </p:sp>
      <p:sp>
        <p:nvSpPr>
          <p:cNvPr id="34" name="TextBox 33"/>
          <p:cNvSpPr txBox="1"/>
          <p:nvPr/>
        </p:nvSpPr>
        <p:spPr>
          <a:xfrm>
            <a:off x="9418320" y="5029200"/>
            <a:ext cx="2468880" cy="1097280"/>
          </a:xfrm>
          <a:prstGeom prst="rect">
            <a:avLst/>
          </a:prstGeom>
          <a:noFill/>
        </p:spPr>
        <p:txBody>
          <a:bodyPr wrap="square">
            <a:spAutoFit/>
          </a:bodyPr>
          <a:lstStyle/>
          <a:p>
            <a:pPr algn="ctr">
              <a:defRPr sz="1050" b="0">
                <a:solidFill>
                  <a:srgbClr val="94A3B8"/>
                </a:solidFill>
                <a:latin typeface="Be Vietnam Pro"/>
              </a:defRPr>
            </a:pPr>
            <a:r>
              <a:t>Thẻ ghi nhớ lặp lại</a:t>
            </a:r>
            <a:br/>
            <a:r>
              <a:t>ngắt quãng, import Anki</a:t>
            </a:r>
          </a:p>
        </p:txBody>
      </p:sp>
      <p:sp>
        <p:nvSpPr>
          <p:cNvPr id="35" name="TextBox 34"/>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10/27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pPr algn="ctr">
              <a:defRPr sz="3200" b="1">
                <a:solidFill>
                  <a:srgbClr val="F8FAFC"/>
                </a:solidFill>
                <a:latin typeface="Be Vietnam Pro"/>
              </a:defRPr>
            </a:pPr>
            <a:r>
              <a:t>Trợ lý AI thông minh — Trái tim của EduSelf</a:t>
            </a:r>
          </a:p>
        </p:txBody>
      </p:sp>
      <p:sp>
        <p:nvSpPr>
          <p:cNvPr id="3" name="Rounded Rectangle 2"/>
          <p:cNvSpPr/>
          <p:nvPr/>
        </p:nvSpPr>
        <p:spPr>
          <a:xfrm>
            <a:off x="457200" y="1097280"/>
            <a:ext cx="2103120" cy="128016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43000"/>
            <a:ext cx="2103120" cy="365760"/>
          </a:xfrm>
          <a:prstGeom prst="rect">
            <a:avLst/>
          </a:prstGeom>
          <a:noFill/>
        </p:spPr>
        <p:txBody>
          <a:bodyPr wrap="square">
            <a:spAutoFit/>
          </a:bodyPr>
          <a:lstStyle/>
          <a:p>
            <a:pPr algn="ctr">
              <a:defRPr sz="2400" b="0">
                <a:solidFill>
                  <a:srgbClr val="F8FAFC"/>
                </a:solidFill>
                <a:latin typeface="Be Vietnam Pro"/>
              </a:defRPr>
            </a:pPr>
            <a:r>
              <a:t>📖</a:t>
            </a:r>
          </a:p>
        </p:txBody>
      </p:sp>
      <p:sp>
        <p:nvSpPr>
          <p:cNvPr id="5" name="TextBox 4"/>
          <p:cNvSpPr txBox="1"/>
          <p:nvPr/>
        </p:nvSpPr>
        <p:spPr>
          <a:xfrm>
            <a:off x="457200" y="1554480"/>
            <a:ext cx="2103120" cy="274320"/>
          </a:xfrm>
          <a:prstGeom prst="rect">
            <a:avLst/>
          </a:prstGeom>
          <a:noFill/>
        </p:spPr>
        <p:txBody>
          <a:bodyPr wrap="square">
            <a:spAutoFit/>
          </a:bodyPr>
          <a:lstStyle/>
          <a:p>
            <a:pPr algn="ctr">
              <a:defRPr sz="1200" b="1">
                <a:solidFill>
                  <a:srgbClr val="F8FAFC"/>
                </a:solidFill>
                <a:latin typeface="Be Vietnam Pro"/>
              </a:defRPr>
            </a:pPr>
            <a:r>
              <a:t>Đọc tài liệu</a:t>
            </a:r>
          </a:p>
        </p:txBody>
      </p:sp>
      <p:sp>
        <p:nvSpPr>
          <p:cNvPr id="6" name="TextBox 5"/>
          <p:cNvSpPr txBox="1"/>
          <p:nvPr/>
        </p:nvSpPr>
        <p:spPr>
          <a:xfrm>
            <a:off x="457200" y="1920240"/>
            <a:ext cx="2103120" cy="274320"/>
          </a:xfrm>
          <a:prstGeom prst="rect">
            <a:avLst/>
          </a:prstGeom>
          <a:noFill/>
        </p:spPr>
        <p:txBody>
          <a:bodyPr wrap="square">
            <a:spAutoFit/>
          </a:bodyPr>
          <a:lstStyle/>
          <a:p>
            <a:pPr algn="ctr">
              <a:defRPr sz="900" b="0">
                <a:solidFill>
                  <a:srgbClr val="64748B"/>
                </a:solidFill>
                <a:latin typeface="Be Vietnam Pro"/>
              </a:defRPr>
            </a:pPr>
            <a:r>
              <a:t>PDF Bài học</a:t>
            </a:r>
          </a:p>
        </p:txBody>
      </p:sp>
      <p:sp>
        <p:nvSpPr>
          <p:cNvPr id="7" name="TextBox 6"/>
          <p:cNvSpPr txBox="1"/>
          <p:nvPr/>
        </p:nvSpPr>
        <p:spPr>
          <a:xfrm>
            <a:off x="2560320" y="1371600"/>
            <a:ext cx="365760" cy="365760"/>
          </a:xfrm>
          <a:prstGeom prst="rect">
            <a:avLst/>
          </a:prstGeom>
          <a:noFill/>
        </p:spPr>
        <p:txBody>
          <a:bodyPr wrap="square">
            <a:spAutoFit/>
          </a:bodyPr>
          <a:lstStyle/>
          <a:p>
            <a:pPr algn="ctr">
              <a:defRPr sz="2000" b="0">
                <a:solidFill>
                  <a:srgbClr val="60A5FA"/>
                </a:solidFill>
                <a:latin typeface="Be Vietnam Pro"/>
              </a:defRPr>
            </a:pPr>
            <a:r>
              <a:t>→</a:t>
            </a:r>
          </a:p>
        </p:txBody>
      </p:sp>
      <p:sp>
        <p:nvSpPr>
          <p:cNvPr id="8" name="Rounded Rectangle 7"/>
          <p:cNvSpPr/>
          <p:nvPr/>
        </p:nvSpPr>
        <p:spPr>
          <a:xfrm>
            <a:off x="2834640" y="1097280"/>
            <a:ext cx="2103120" cy="128016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1143000"/>
            <a:ext cx="2103120" cy="365760"/>
          </a:xfrm>
          <a:prstGeom prst="rect">
            <a:avLst/>
          </a:prstGeom>
          <a:noFill/>
        </p:spPr>
        <p:txBody>
          <a:bodyPr wrap="square">
            <a:spAutoFit/>
          </a:bodyPr>
          <a:lstStyle/>
          <a:p>
            <a:pPr algn="ctr">
              <a:defRPr sz="2400" b="0">
                <a:solidFill>
                  <a:srgbClr val="F8FAFC"/>
                </a:solidFill>
                <a:latin typeface="Be Vietnam Pro"/>
              </a:defRPr>
            </a:pPr>
            <a:r>
              <a:t>💬</a:t>
            </a:r>
          </a:p>
        </p:txBody>
      </p:sp>
      <p:sp>
        <p:nvSpPr>
          <p:cNvPr id="10" name="TextBox 9"/>
          <p:cNvSpPr txBox="1"/>
          <p:nvPr/>
        </p:nvSpPr>
        <p:spPr>
          <a:xfrm>
            <a:off x="2834640" y="1554480"/>
            <a:ext cx="2103120" cy="274320"/>
          </a:xfrm>
          <a:prstGeom prst="rect">
            <a:avLst/>
          </a:prstGeom>
          <a:noFill/>
        </p:spPr>
        <p:txBody>
          <a:bodyPr wrap="square">
            <a:spAutoFit/>
          </a:bodyPr>
          <a:lstStyle/>
          <a:p>
            <a:pPr algn="ctr">
              <a:defRPr sz="1200" b="1">
                <a:solidFill>
                  <a:srgbClr val="F8FAFC"/>
                </a:solidFill>
                <a:latin typeface="Be Vietnam Pro"/>
              </a:defRPr>
            </a:pPr>
            <a:r>
              <a:t>Chat với AI</a:t>
            </a:r>
          </a:p>
        </p:txBody>
      </p:sp>
      <p:sp>
        <p:nvSpPr>
          <p:cNvPr id="11" name="TextBox 10"/>
          <p:cNvSpPr txBox="1"/>
          <p:nvPr/>
        </p:nvSpPr>
        <p:spPr>
          <a:xfrm>
            <a:off x="2834640" y="1920240"/>
            <a:ext cx="2103120" cy="274320"/>
          </a:xfrm>
          <a:prstGeom prst="rect">
            <a:avLst/>
          </a:prstGeom>
          <a:noFill/>
        </p:spPr>
        <p:txBody>
          <a:bodyPr wrap="square">
            <a:spAutoFit/>
          </a:bodyPr>
          <a:lstStyle/>
          <a:p>
            <a:pPr algn="ctr">
              <a:defRPr sz="900" b="0">
                <a:solidFill>
                  <a:srgbClr val="64748B"/>
                </a:solidFill>
                <a:latin typeface="Be Vietnam Pro"/>
              </a:defRPr>
            </a:pPr>
            <a:r>
              <a:t>trò chuyện mượt mà</a:t>
            </a:r>
          </a:p>
        </p:txBody>
      </p:sp>
      <p:sp>
        <p:nvSpPr>
          <p:cNvPr id="12" name="TextBox 11"/>
          <p:cNvSpPr txBox="1"/>
          <p:nvPr/>
        </p:nvSpPr>
        <p:spPr>
          <a:xfrm>
            <a:off x="4937760" y="1371600"/>
            <a:ext cx="365760" cy="365760"/>
          </a:xfrm>
          <a:prstGeom prst="rect">
            <a:avLst/>
          </a:prstGeom>
          <a:noFill/>
        </p:spPr>
        <p:txBody>
          <a:bodyPr wrap="square">
            <a:spAutoFit/>
          </a:bodyPr>
          <a:lstStyle/>
          <a:p>
            <a:pPr algn="ctr">
              <a:defRPr sz="2000" b="0">
                <a:solidFill>
                  <a:srgbClr val="60A5FA"/>
                </a:solidFill>
                <a:latin typeface="Be Vietnam Pro"/>
              </a:defRPr>
            </a:pPr>
            <a:r>
              <a:t>→</a:t>
            </a:r>
          </a:p>
        </p:txBody>
      </p:sp>
      <p:sp>
        <p:nvSpPr>
          <p:cNvPr id="13" name="Rounded Rectangle 12"/>
          <p:cNvSpPr/>
          <p:nvPr/>
        </p:nvSpPr>
        <p:spPr>
          <a:xfrm>
            <a:off x="5212080" y="1097280"/>
            <a:ext cx="2103120" cy="128016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1143000"/>
            <a:ext cx="2103120" cy="365760"/>
          </a:xfrm>
          <a:prstGeom prst="rect">
            <a:avLst/>
          </a:prstGeom>
          <a:noFill/>
        </p:spPr>
        <p:txBody>
          <a:bodyPr wrap="square">
            <a:spAutoFit/>
          </a:bodyPr>
          <a:lstStyle/>
          <a:p>
            <a:pPr algn="ctr">
              <a:defRPr sz="2400" b="0">
                <a:solidFill>
                  <a:srgbClr val="F8FAFC"/>
                </a:solidFill>
                <a:latin typeface="Be Vietnam Pro"/>
              </a:defRPr>
            </a:pPr>
            <a:r>
              <a:t>❓</a:t>
            </a:r>
          </a:p>
        </p:txBody>
      </p:sp>
      <p:sp>
        <p:nvSpPr>
          <p:cNvPr id="15" name="TextBox 14"/>
          <p:cNvSpPr txBox="1"/>
          <p:nvPr/>
        </p:nvSpPr>
        <p:spPr>
          <a:xfrm>
            <a:off x="5212080" y="1554480"/>
            <a:ext cx="2103120" cy="274320"/>
          </a:xfrm>
          <a:prstGeom prst="rect">
            <a:avLst/>
          </a:prstGeom>
          <a:noFill/>
        </p:spPr>
        <p:txBody>
          <a:bodyPr wrap="square">
            <a:spAutoFit/>
          </a:bodyPr>
          <a:lstStyle/>
          <a:p>
            <a:pPr algn="ctr">
              <a:defRPr sz="1200" b="1">
                <a:solidFill>
                  <a:srgbClr val="F8FAFC"/>
                </a:solidFill>
                <a:latin typeface="Be Vietnam Pro"/>
              </a:defRPr>
            </a:pPr>
            <a:r>
              <a:t>Quiz tương tác</a:t>
            </a:r>
          </a:p>
        </p:txBody>
      </p:sp>
      <p:sp>
        <p:nvSpPr>
          <p:cNvPr id="16" name="TextBox 15"/>
          <p:cNvSpPr txBox="1"/>
          <p:nvPr/>
        </p:nvSpPr>
        <p:spPr>
          <a:xfrm>
            <a:off x="5212080" y="1920240"/>
            <a:ext cx="2103120" cy="274320"/>
          </a:xfrm>
          <a:prstGeom prst="rect">
            <a:avLst/>
          </a:prstGeom>
          <a:noFill/>
        </p:spPr>
        <p:txBody>
          <a:bodyPr wrap="square">
            <a:spAutoFit/>
          </a:bodyPr>
          <a:lstStyle/>
          <a:p>
            <a:pPr algn="ctr">
              <a:defRPr sz="900" b="0">
                <a:solidFill>
                  <a:srgbClr val="64748B"/>
                </a:solidFill>
                <a:latin typeface="Be Vietnam Pro"/>
              </a:defRPr>
            </a:pPr>
            <a:r>
              <a:t>Inline trong chat</a:t>
            </a:r>
          </a:p>
        </p:txBody>
      </p:sp>
      <p:sp>
        <p:nvSpPr>
          <p:cNvPr id="17" name="TextBox 16"/>
          <p:cNvSpPr txBox="1"/>
          <p:nvPr/>
        </p:nvSpPr>
        <p:spPr>
          <a:xfrm>
            <a:off x="7315200" y="1371600"/>
            <a:ext cx="365760" cy="365760"/>
          </a:xfrm>
          <a:prstGeom prst="rect">
            <a:avLst/>
          </a:prstGeom>
          <a:noFill/>
        </p:spPr>
        <p:txBody>
          <a:bodyPr wrap="square">
            <a:spAutoFit/>
          </a:bodyPr>
          <a:lstStyle/>
          <a:p>
            <a:pPr algn="ctr">
              <a:defRPr sz="2000" b="0">
                <a:solidFill>
                  <a:srgbClr val="60A5FA"/>
                </a:solidFill>
                <a:latin typeface="Be Vietnam Pro"/>
              </a:defRPr>
            </a:pPr>
            <a:r>
              <a:t>→</a:t>
            </a:r>
          </a:p>
        </p:txBody>
      </p:sp>
      <p:sp>
        <p:nvSpPr>
          <p:cNvPr id="18" name="Rounded Rectangle 17"/>
          <p:cNvSpPr/>
          <p:nvPr/>
        </p:nvSpPr>
        <p:spPr>
          <a:xfrm>
            <a:off x="7589520" y="1097280"/>
            <a:ext cx="2103120" cy="128016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1143000"/>
            <a:ext cx="2103120" cy="365760"/>
          </a:xfrm>
          <a:prstGeom prst="rect">
            <a:avLst/>
          </a:prstGeom>
          <a:noFill/>
        </p:spPr>
        <p:txBody>
          <a:bodyPr wrap="square">
            <a:spAutoFit/>
          </a:bodyPr>
          <a:lstStyle/>
          <a:p>
            <a:pPr algn="ctr">
              <a:defRPr sz="2400" b="0">
                <a:solidFill>
                  <a:srgbClr val="F8FAFC"/>
                </a:solidFill>
                <a:latin typeface="Be Vietnam Pro"/>
              </a:defRPr>
            </a:pPr>
            <a:r>
              <a:t>📝</a:t>
            </a:r>
          </a:p>
        </p:txBody>
      </p:sp>
      <p:sp>
        <p:nvSpPr>
          <p:cNvPr id="20" name="TextBox 19"/>
          <p:cNvSpPr txBox="1"/>
          <p:nvPr/>
        </p:nvSpPr>
        <p:spPr>
          <a:xfrm>
            <a:off x="7589520" y="1554480"/>
            <a:ext cx="2103120" cy="274320"/>
          </a:xfrm>
          <a:prstGeom prst="rect">
            <a:avLst/>
          </a:prstGeom>
          <a:noFill/>
        </p:spPr>
        <p:txBody>
          <a:bodyPr wrap="square">
            <a:spAutoFit/>
          </a:bodyPr>
          <a:lstStyle/>
          <a:p>
            <a:pPr algn="ctr">
              <a:defRPr sz="1200" b="1">
                <a:solidFill>
                  <a:srgbClr val="F8FAFC"/>
                </a:solidFill>
                <a:latin typeface="Be Vietnam Pro"/>
              </a:defRPr>
            </a:pPr>
            <a:r>
              <a:t>Bài tập tự luận</a:t>
            </a:r>
          </a:p>
        </p:txBody>
      </p:sp>
      <p:sp>
        <p:nvSpPr>
          <p:cNvPr id="21" name="TextBox 20"/>
          <p:cNvSpPr txBox="1"/>
          <p:nvPr/>
        </p:nvSpPr>
        <p:spPr>
          <a:xfrm>
            <a:off x="7589520" y="1920240"/>
            <a:ext cx="2103120" cy="274320"/>
          </a:xfrm>
          <a:prstGeom prst="rect">
            <a:avLst/>
          </a:prstGeom>
          <a:noFill/>
        </p:spPr>
        <p:txBody>
          <a:bodyPr wrap="square">
            <a:spAutoFit/>
          </a:bodyPr>
          <a:lstStyle/>
          <a:p>
            <a:pPr algn="ctr">
              <a:defRPr sz="900" b="0">
                <a:solidFill>
                  <a:srgbClr val="64748B"/>
                </a:solidFill>
                <a:latin typeface="Be Vietnam Pro"/>
              </a:defRPr>
            </a:pPr>
            <a:r>
              <a:t>AI chấm điểm</a:t>
            </a:r>
          </a:p>
        </p:txBody>
      </p:sp>
      <p:sp>
        <p:nvSpPr>
          <p:cNvPr id="22" name="TextBox 21"/>
          <p:cNvSpPr txBox="1"/>
          <p:nvPr/>
        </p:nvSpPr>
        <p:spPr>
          <a:xfrm>
            <a:off x="9692640" y="1371600"/>
            <a:ext cx="365760" cy="365760"/>
          </a:xfrm>
          <a:prstGeom prst="rect">
            <a:avLst/>
          </a:prstGeom>
          <a:noFill/>
        </p:spPr>
        <p:txBody>
          <a:bodyPr wrap="square">
            <a:spAutoFit/>
          </a:bodyPr>
          <a:lstStyle/>
          <a:p>
            <a:pPr algn="ctr">
              <a:defRPr sz="2000" b="0">
                <a:solidFill>
                  <a:srgbClr val="60A5FA"/>
                </a:solidFill>
                <a:latin typeface="Be Vietnam Pro"/>
              </a:defRPr>
            </a:pPr>
            <a:r>
              <a:t>→</a:t>
            </a:r>
          </a:p>
        </p:txBody>
      </p:sp>
      <p:sp>
        <p:nvSpPr>
          <p:cNvPr id="23" name="Rounded Rectangle 22"/>
          <p:cNvSpPr/>
          <p:nvPr/>
        </p:nvSpPr>
        <p:spPr>
          <a:xfrm>
            <a:off x="9966960" y="1097280"/>
            <a:ext cx="2103120" cy="128016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66960" y="1143000"/>
            <a:ext cx="2103120" cy="365760"/>
          </a:xfrm>
          <a:prstGeom prst="rect">
            <a:avLst/>
          </a:prstGeom>
          <a:noFill/>
        </p:spPr>
        <p:txBody>
          <a:bodyPr wrap="square">
            <a:spAutoFit/>
          </a:bodyPr>
          <a:lstStyle/>
          <a:p>
            <a:pPr algn="ctr">
              <a:defRPr sz="2400" b="0">
                <a:solidFill>
                  <a:srgbClr val="F8FAFC"/>
                </a:solidFill>
                <a:latin typeface="Be Vietnam Pro"/>
              </a:defRPr>
            </a:pPr>
            <a:r>
              <a:t>📊</a:t>
            </a:r>
          </a:p>
        </p:txBody>
      </p:sp>
      <p:sp>
        <p:nvSpPr>
          <p:cNvPr id="25" name="TextBox 24"/>
          <p:cNvSpPr txBox="1"/>
          <p:nvPr/>
        </p:nvSpPr>
        <p:spPr>
          <a:xfrm>
            <a:off x="9966960" y="1554480"/>
            <a:ext cx="2103120" cy="274320"/>
          </a:xfrm>
          <a:prstGeom prst="rect">
            <a:avLst/>
          </a:prstGeom>
          <a:noFill/>
        </p:spPr>
        <p:txBody>
          <a:bodyPr wrap="square">
            <a:spAutoFit/>
          </a:bodyPr>
          <a:lstStyle/>
          <a:p>
            <a:pPr algn="ctr">
              <a:defRPr sz="1200" b="1">
                <a:solidFill>
                  <a:srgbClr val="F8FAFC"/>
                </a:solidFill>
                <a:latin typeface="Be Vietnam Pro"/>
              </a:defRPr>
            </a:pPr>
            <a:r>
              <a:t>Báo cáo &amp; Cải thiện</a:t>
            </a:r>
          </a:p>
        </p:txBody>
      </p:sp>
      <p:sp>
        <p:nvSpPr>
          <p:cNvPr id="26" name="TextBox 25"/>
          <p:cNvSpPr txBox="1"/>
          <p:nvPr/>
        </p:nvSpPr>
        <p:spPr>
          <a:xfrm>
            <a:off x="9966960" y="1920240"/>
            <a:ext cx="2103120" cy="274320"/>
          </a:xfrm>
          <a:prstGeom prst="rect">
            <a:avLst/>
          </a:prstGeom>
          <a:noFill/>
        </p:spPr>
        <p:txBody>
          <a:bodyPr wrap="square">
            <a:spAutoFit/>
          </a:bodyPr>
          <a:lstStyle/>
          <a:p>
            <a:pPr algn="ctr">
              <a:defRPr sz="900" b="0">
                <a:solidFill>
                  <a:srgbClr val="64748B"/>
                </a:solidFill>
                <a:latin typeface="Be Vietnam Pro"/>
              </a:defRPr>
            </a:pPr>
            <a:r>
              <a:t>Lộ trình cá nhân</a:t>
            </a:r>
          </a:p>
        </p:txBody>
      </p:sp>
      <p:sp>
        <p:nvSpPr>
          <p:cNvPr id="27" name="Rounded Rectangle 26"/>
          <p:cNvSpPr/>
          <p:nvPr/>
        </p:nvSpPr>
        <p:spPr>
          <a:xfrm>
            <a:off x="457200" y="2743200"/>
            <a:ext cx="5394960" cy="16459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288036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29" name="TextBox 28"/>
          <p:cNvSpPr txBox="1"/>
          <p:nvPr/>
        </p:nvSpPr>
        <p:spPr>
          <a:xfrm>
            <a:off x="1143000" y="2880360"/>
            <a:ext cx="4572000" cy="365760"/>
          </a:xfrm>
          <a:prstGeom prst="rect">
            <a:avLst/>
          </a:prstGeom>
          <a:noFill/>
        </p:spPr>
        <p:txBody>
          <a:bodyPr wrap="square">
            <a:spAutoFit/>
          </a:bodyPr>
          <a:lstStyle/>
          <a:p>
            <a:pPr algn="l">
              <a:defRPr sz="1400" b="1">
                <a:solidFill>
                  <a:srgbClr val="F8FAFC"/>
                </a:solidFill>
                <a:latin typeface="Be Vietnam Pro"/>
              </a:defRPr>
            </a:pPr>
            <a:r>
              <a:t>Phương pháp gợi mở</a:t>
            </a:r>
          </a:p>
        </p:txBody>
      </p:sp>
      <p:sp>
        <p:nvSpPr>
          <p:cNvPr id="30" name="TextBox 29"/>
          <p:cNvSpPr txBox="1"/>
          <p:nvPr/>
        </p:nvSpPr>
        <p:spPr>
          <a:xfrm>
            <a:off x="1143000" y="3337560"/>
            <a:ext cx="4572000" cy="822960"/>
          </a:xfrm>
          <a:prstGeom prst="rect">
            <a:avLst/>
          </a:prstGeom>
          <a:noFill/>
        </p:spPr>
        <p:txBody>
          <a:bodyPr wrap="square">
            <a:spAutoFit/>
          </a:bodyPr>
          <a:lstStyle/>
          <a:p>
            <a:pPr algn="l">
              <a:defRPr sz="1100" b="0">
                <a:solidFill>
                  <a:srgbClr val="94A3B8"/>
                </a:solidFill>
                <a:latin typeface="Be Vietnam Pro"/>
              </a:defRPr>
            </a:pPr>
            <a:r>
              <a:t>AI không đưa đáp án trực tiếp mà đặt câu hỏi gợi mở, giúp học sinh tự suy luận.</a:t>
            </a:r>
          </a:p>
        </p:txBody>
      </p:sp>
      <p:sp>
        <p:nvSpPr>
          <p:cNvPr id="31" name="Rounded Rectangle 30"/>
          <p:cNvSpPr/>
          <p:nvPr/>
        </p:nvSpPr>
        <p:spPr>
          <a:xfrm>
            <a:off x="6217920" y="2743200"/>
            <a:ext cx="5394960" cy="16459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288036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33" name="TextBox 32"/>
          <p:cNvSpPr txBox="1"/>
          <p:nvPr/>
        </p:nvSpPr>
        <p:spPr>
          <a:xfrm>
            <a:off x="6903720" y="2880360"/>
            <a:ext cx="4572000" cy="365760"/>
          </a:xfrm>
          <a:prstGeom prst="rect">
            <a:avLst/>
          </a:prstGeom>
          <a:noFill/>
        </p:spPr>
        <p:txBody>
          <a:bodyPr wrap="square">
            <a:spAutoFit/>
          </a:bodyPr>
          <a:lstStyle/>
          <a:p>
            <a:pPr algn="l">
              <a:defRPr sz="1400" b="1">
                <a:solidFill>
                  <a:srgbClr val="F8FAFC"/>
                </a:solidFill>
                <a:latin typeface="Be Vietnam Pro"/>
              </a:defRPr>
            </a:pPr>
            <a:r>
              <a:t>Hỗ trợ công thức toán học</a:t>
            </a:r>
          </a:p>
        </p:txBody>
      </p:sp>
      <p:sp>
        <p:nvSpPr>
          <p:cNvPr id="34" name="TextBox 33"/>
          <p:cNvSpPr txBox="1"/>
          <p:nvPr/>
        </p:nvSpPr>
        <p:spPr>
          <a:xfrm>
            <a:off x="6903720" y="3337560"/>
            <a:ext cx="4572000" cy="822960"/>
          </a:xfrm>
          <a:prstGeom prst="rect">
            <a:avLst/>
          </a:prstGeom>
          <a:noFill/>
        </p:spPr>
        <p:txBody>
          <a:bodyPr wrap="square">
            <a:spAutoFit/>
          </a:bodyPr>
          <a:lstStyle/>
          <a:p>
            <a:pPr algn="l">
              <a:defRPr sz="1100" b="0">
                <a:solidFill>
                  <a:srgbClr val="94A3B8"/>
                </a:solidFill>
                <a:latin typeface="Be Vietnam Pro"/>
              </a:defRPr>
            </a:pPr>
            <a:r>
              <a:t>Công thức toán, lý, hoá hiển thị sắc nét ngay trong chat.</a:t>
            </a:r>
          </a:p>
        </p:txBody>
      </p:sp>
      <p:sp>
        <p:nvSpPr>
          <p:cNvPr id="35" name="Rounded Rectangle 34"/>
          <p:cNvSpPr/>
          <p:nvPr/>
        </p:nvSpPr>
        <p:spPr>
          <a:xfrm>
            <a:off x="457200" y="4663440"/>
            <a:ext cx="5394960" cy="16459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480060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37" name="TextBox 36"/>
          <p:cNvSpPr txBox="1"/>
          <p:nvPr/>
        </p:nvSpPr>
        <p:spPr>
          <a:xfrm>
            <a:off x="1143000" y="4800600"/>
            <a:ext cx="4572000" cy="365760"/>
          </a:xfrm>
          <a:prstGeom prst="rect">
            <a:avLst/>
          </a:prstGeom>
          <a:noFill/>
        </p:spPr>
        <p:txBody>
          <a:bodyPr wrap="square">
            <a:spAutoFit/>
          </a:bodyPr>
          <a:lstStyle/>
          <a:p>
            <a:pPr algn="l">
              <a:defRPr sz="1400" b="1">
                <a:solidFill>
                  <a:srgbClr val="F8FAFC"/>
                </a:solidFill>
                <a:latin typeface="Be Vietnam Pro"/>
              </a:defRPr>
            </a:pPr>
            <a:r>
              <a:t>Sinh quiz tự động (5-20 câu)</a:t>
            </a:r>
          </a:p>
        </p:txBody>
      </p:sp>
      <p:sp>
        <p:nvSpPr>
          <p:cNvPr id="38" name="TextBox 37"/>
          <p:cNvSpPr txBox="1"/>
          <p:nvPr/>
        </p:nvSpPr>
        <p:spPr>
          <a:xfrm>
            <a:off x="1143000" y="5257800"/>
            <a:ext cx="4572000" cy="822960"/>
          </a:xfrm>
          <a:prstGeom prst="rect">
            <a:avLst/>
          </a:prstGeom>
          <a:noFill/>
        </p:spPr>
        <p:txBody>
          <a:bodyPr wrap="square">
            <a:spAutoFit/>
          </a:bodyPr>
          <a:lstStyle/>
          <a:p>
            <a:pPr algn="l">
              <a:defRPr sz="1100" b="0">
                <a:solidFill>
                  <a:srgbClr val="94A3B8"/>
                </a:solidFill>
                <a:latin typeface="Be Vietnam Pro"/>
              </a:defRPr>
            </a:pPr>
            <a:r>
              <a:t>AI tạo câu hỏi từ nội dung bài học. Quiz kết thúc giúp đánh giá hiểu bài.</a:t>
            </a:r>
          </a:p>
        </p:txBody>
      </p:sp>
      <p:sp>
        <p:nvSpPr>
          <p:cNvPr id="39" name="Rounded Rectangle 38"/>
          <p:cNvSpPr/>
          <p:nvPr/>
        </p:nvSpPr>
        <p:spPr>
          <a:xfrm>
            <a:off x="6217920" y="4663440"/>
            <a:ext cx="5394960" cy="16459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480060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41" name="TextBox 40"/>
          <p:cNvSpPr txBox="1"/>
          <p:nvPr/>
        </p:nvSpPr>
        <p:spPr>
          <a:xfrm>
            <a:off x="6903720" y="4800600"/>
            <a:ext cx="4572000" cy="365760"/>
          </a:xfrm>
          <a:prstGeom prst="rect">
            <a:avLst/>
          </a:prstGeom>
          <a:noFill/>
        </p:spPr>
        <p:txBody>
          <a:bodyPr wrap="square">
            <a:spAutoFit/>
          </a:bodyPr>
          <a:lstStyle/>
          <a:p>
            <a:pPr algn="l">
              <a:defRPr sz="1400" b="1">
                <a:solidFill>
                  <a:srgbClr val="F8FAFC"/>
                </a:solidFill>
                <a:latin typeface="Be Vietnam Pro"/>
              </a:defRPr>
            </a:pPr>
            <a:r>
              <a:t>Kiểm soát ổn định</a:t>
            </a:r>
          </a:p>
        </p:txBody>
      </p:sp>
      <p:sp>
        <p:nvSpPr>
          <p:cNvPr id="42" name="TextBox 41"/>
          <p:cNvSpPr txBox="1"/>
          <p:nvPr/>
        </p:nvSpPr>
        <p:spPr>
          <a:xfrm>
            <a:off x="6903720" y="5257800"/>
            <a:ext cx="4572000" cy="822960"/>
          </a:xfrm>
          <a:prstGeom prst="rect">
            <a:avLst/>
          </a:prstGeom>
          <a:noFill/>
        </p:spPr>
        <p:txBody>
          <a:bodyPr wrap="square">
            <a:spAutoFit/>
          </a:bodyPr>
          <a:lstStyle/>
          <a:p>
            <a:pPr algn="l">
              <a:defRPr sz="1100" b="0">
                <a:solidFill>
                  <a:srgbClr val="94A3B8"/>
                </a:solidFill>
                <a:latin typeface="Be Vietnam Pro"/>
              </a:defRPr>
            </a:pPr>
            <a:r>
              <a:t>30 req/phút chat, 10 req/phút generation. Bảo vệ hệ thống, trải nghiệm mượt.</a:t>
            </a:r>
          </a:p>
        </p:txBody>
      </p:sp>
      <p:sp>
        <p:nvSpPr>
          <p:cNvPr id="43" name="TextBox 42"/>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11/27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pPr algn="ctr">
              <a:defRPr sz="3200" b="1">
                <a:solidFill>
                  <a:srgbClr val="F8FAFC"/>
                </a:solidFill>
                <a:latin typeface="Be Vietnam Pro"/>
              </a:defRPr>
            </a:pPr>
            <a:r>
              <a:t>Quy trình Bài tập &amp; Chấm điểm</a:t>
            </a:r>
          </a:p>
        </p:txBody>
      </p:sp>
      <p:sp>
        <p:nvSpPr>
          <p:cNvPr id="3" name="Rounded Rectangle 2"/>
          <p:cNvSpPr/>
          <p:nvPr/>
        </p:nvSpPr>
        <p:spPr>
          <a:xfrm>
            <a:off x="274320" y="1097280"/>
            <a:ext cx="2103120" cy="128016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143000"/>
            <a:ext cx="2103120" cy="365760"/>
          </a:xfrm>
          <a:prstGeom prst="rect">
            <a:avLst/>
          </a:prstGeom>
          <a:noFill/>
        </p:spPr>
        <p:txBody>
          <a:bodyPr wrap="square">
            <a:spAutoFit/>
          </a:bodyPr>
          <a:lstStyle/>
          <a:p>
            <a:pPr algn="ctr">
              <a:defRPr sz="2400" b="0">
                <a:solidFill>
                  <a:srgbClr val="F8FAFC"/>
                </a:solidFill>
                <a:latin typeface="Be Vietnam Pro"/>
              </a:defRPr>
            </a:pPr>
            <a:r>
              <a:t>📝</a:t>
            </a:r>
          </a:p>
        </p:txBody>
      </p:sp>
      <p:sp>
        <p:nvSpPr>
          <p:cNvPr id="5" name="TextBox 4"/>
          <p:cNvSpPr txBox="1"/>
          <p:nvPr/>
        </p:nvSpPr>
        <p:spPr>
          <a:xfrm>
            <a:off x="274320" y="1554480"/>
            <a:ext cx="2103120" cy="274320"/>
          </a:xfrm>
          <a:prstGeom prst="rect">
            <a:avLst/>
          </a:prstGeom>
          <a:noFill/>
        </p:spPr>
        <p:txBody>
          <a:bodyPr wrap="square">
            <a:spAutoFit/>
          </a:bodyPr>
          <a:lstStyle/>
          <a:p>
            <a:pPr algn="ctr">
              <a:defRPr sz="1200" b="1">
                <a:solidFill>
                  <a:srgbClr val="F8FAFC"/>
                </a:solidFill>
                <a:latin typeface="Be Vietnam Pro"/>
              </a:defRPr>
            </a:pPr>
            <a:r>
              <a:t>ĐÃ GIAO</a:t>
            </a:r>
          </a:p>
        </p:txBody>
      </p:sp>
      <p:sp>
        <p:nvSpPr>
          <p:cNvPr id="6" name="TextBox 5"/>
          <p:cNvSpPr txBox="1"/>
          <p:nvPr/>
        </p:nvSpPr>
        <p:spPr>
          <a:xfrm>
            <a:off x="274320" y="1920240"/>
            <a:ext cx="2103120" cy="274320"/>
          </a:xfrm>
          <a:prstGeom prst="rect">
            <a:avLst/>
          </a:prstGeom>
          <a:noFill/>
        </p:spPr>
        <p:txBody>
          <a:bodyPr wrap="square">
            <a:spAutoFit/>
          </a:bodyPr>
          <a:lstStyle/>
          <a:p>
            <a:pPr algn="ctr">
              <a:defRPr sz="900" b="0">
                <a:solidFill>
                  <a:srgbClr val="64748B"/>
                </a:solidFill>
                <a:latin typeface="Be Vietnam Pro"/>
              </a:defRPr>
            </a:pPr>
            <a:r>
              <a:t>Giáo viên giao bài</a:t>
            </a:r>
          </a:p>
        </p:txBody>
      </p:sp>
      <p:sp>
        <p:nvSpPr>
          <p:cNvPr id="7" name="TextBox 6"/>
          <p:cNvSpPr txBox="1"/>
          <p:nvPr/>
        </p:nvSpPr>
        <p:spPr>
          <a:xfrm>
            <a:off x="2377439" y="1417320"/>
            <a:ext cx="365760" cy="365760"/>
          </a:xfrm>
          <a:prstGeom prst="rect">
            <a:avLst/>
          </a:prstGeom>
          <a:noFill/>
        </p:spPr>
        <p:txBody>
          <a:bodyPr wrap="square">
            <a:spAutoFit/>
          </a:bodyPr>
          <a:lstStyle/>
          <a:p>
            <a:pPr algn="ctr">
              <a:defRPr sz="2000" b="0">
                <a:solidFill>
                  <a:srgbClr val="60A5FA"/>
                </a:solidFill>
                <a:latin typeface="Be Vietnam Pro"/>
              </a:defRPr>
            </a:pPr>
            <a:r>
              <a:t>→</a:t>
            </a:r>
          </a:p>
        </p:txBody>
      </p:sp>
      <p:sp>
        <p:nvSpPr>
          <p:cNvPr id="8" name="Rounded Rectangle 7"/>
          <p:cNvSpPr/>
          <p:nvPr/>
        </p:nvSpPr>
        <p:spPr>
          <a:xfrm>
            <a:off x="2651760" y="1097280"/>
            <a:ext cx="2103120" cy="128016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51760" y="1143000"/>
            <a:ext cx="2103120" cy="365760"/>
          </a:xfrm>
          <a:prstGeom prst="rect">
            <a:avLst/>
          </a:prstGeom>
          <a:noFill/>
        </p:spPr>
        <p:txBody>
          <a:bodyPr wrap="square">
            <a:spAutoFit/>
          </a:bodyPr>
          <a:lstStyle/>
          <a:p>
            <a:pPr algn="ctr">
              <a:defRPr sz="2400" b="0">
                <a:solidFill>
                  <a:srgbClr val="F8FAFC"/>
                </a:solidFill>
                <a:latin typeface="Be Vietnam Pro"/>
              </a:defRPr>
            </a:pPr>
            <a:r>
              <a:t>📤</a:t>
            </a:r>
          </a:p>
        </p:txBody>
      </p:sp>
      <p:sp>
        <p:nvSpPr>
          <p:cNvPr id="10" name="TextBox 9"/>
          <p:cNvSpPr txBox="1"/>
          <p:nvPr/>
        </p:nvSpPr>
        <p:spPr>
          <a:xfrm>
            <a:off x="2651760" y="1554480"/>
            <a:ext cx="2103120" cy="274320"/>
          </a:xfrm>
          <a:prstGeom prst="rect">
            <a:avLst/>
          </a:prstGeom>
          <a:noFill/>
        </p:spPr>
        <p:txBody>
          <a:bodyPr wrap="square">
            <a:spAutoFit/>
          </a:bodyPr>
          <a:lstStyle/>
          <a:p>
            <a:pPr algn="ctr">
              <a:defRPr sz="1200" b="1">
                <a:solidFill>
                  <a:srgbClr val="F8FAFC"/>
                </a:solidFill>
                <a:latin typeface="Be Vietnam Pro"/>
              </a:defRPr>
            </a:pPr>
            <a:r>
              <a:t>ĐÃ NỘP</a:t>
            </a:r>
          </a:p>
        </p:txBody>
      </p:sp>
      <p:sp>
        <p:nvSpPr>
          <p:cNvPr id="11" name="TextBox 10"/>
          <p:cNvSpPr txBox="1"/>
          <p:nvPr/>
        </p:nvSpPr>
        <p:spPr>
          <a:xfrm>
            <a:off x="2651760" y="1920240"/>
            <a:ext cx="2103120" cy="274320"/>
          </a:xfrm>
          <a:prstGeom prst="rect">
            <a:avLst/>
          </a:prstGeom>
          <a:noFill/>
        </p:spPr>
        <p:txBody>
          <a:bodyPr wrap="square">
            <a:spAutoFit/>
          </a:bodyPr>
          <a:lstStyle/>
          <a:p>
            <a:pPr algn="ctr">
              <a:defRPr sz="900" b="0">
                <a:solidFill>
                  <a:srgbClr val="64748B"/>
                </a:solidFill>
                <a:latin typeface="Be Vietnam Pro"/>
              </a:defRPr>
            </a:pPr>
            <a:r>
              <a:t>Học sinh nộp bài</a:t>
            </a:r>
          </a:p>
        </p:txBody>
      </p:sp>
      <p:sp>
        <p:nvSpPr>
          <p:cNvPr id="12" name="TextBox 11"/>
          <p:cNvSpPr txBox="1"/>
          <p:nvPr/>
        </p:nvSpPr>
        <p:spPr>
          <a:xfrm>
            <a:off x="4754879" y="1417320"/>
            <a:ext cx="365760" cy="365760"/>
          </a:xfrm>
          <a:prstGeom prst="rect">
            <a:avLst/>
          </a:prstGeom>
          <a:noFill/>
        </p:spPr>
        <p:txBody>
          <a:bodyPr wrap="square">
            <a:spAutoFit/>
          </a:bodyPr>
          <a:lstStyle/>
          <a:p>
            <a:pPr algn="ctr">
              <a:defRPr sz="2000" b="0">
                <a:solidFill>
                  <a:srgbClr val="60A5FA"/>
                </a:solidFill>
                <a:latin typeface="Be Vietnam Pro"/>
              </a:defRPr>
            </a:pPr>
            <a:r>
              <a:t>→</a:t>
            </a:r>
          </a:p>
        </p:txBody>
      </p:sp>
      <p:sp>
        <p:nvSpPr>
          <p:cNvPr id="13" name="Rounded Rectangle 12"/>
          <p:cNvSpPr/>
          <p:nvPr/>
        </p:nvSpPr>
        <p:spPr>
          <a:xfrm>
            <a:off x="5029200" y="1097280"/>
            <a:ext cx="2103120" cy="128016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1143000"/>
            <a:ext cx="2103120" cy="365760"/>
          </a:xfrm>
          <a:prstGeom prst="rect">
            <a:avLst/>
          </a:prstGeom>
          <a:noFill/>
        </p:spPr>
        <p:txBody>
          <a:bodyPr wrap="square">
            <a:spAutoFit/>
          </a:bodyPr>
          <a:lstStyle/>
          <a:p>
            <a:pPr algn="ctr">
              <a:defRPr sz="2400" b="0">
                <a:solidFill>
                  <a:srgbClr val="F8FAFC"/>
                </a:solidFill>
                <a:latin typeface="Be Vietnam Pro"/>
              </a:defRPr>
            </a:pPr>
            <a:r>
              <a:t>✅</a:t>
            </a:r>
          </a:p>
        </p:txBody>
      </p:sp>
      <p:sp>
        <p:nvSpPr>
          <p:cNvPr id="15" name="TextBox 14"/>
          <p:cNvSpPr txBox="1"/>
          <p:nvPr/>
        </p:nvSpPr>
        <p:spPr>
          <a:xfrm>
            <a:off x="5029200" y="1554480"/>
            <a:ext cx="2103120" cy="274320"/>
          </a:xfrm>
          <a:prstGeom prst="rect">
            <a:avLst/>
          </a:prstGeom>
          <a:noFill/>
        </p:spPr>
        <p:txBody>
          <a:bodyPr wrap="square">
            <a:spAutoFit/>
          </a:bodyPr>
          <a:lstStyle/>
          <a:p>
            <a:pPr algn="ctr">
              <a:defRPr sz="1200" b="1">
                <a:solidFill>
                  <a:srgbClr val="F8FAFC"/>
                </a:solidFill>
                <a:latin typeface="Be Vietnam Pro"/>
              </a:defRPr>
            </a:pPr>
            <a:r>
              <a:t>ĐÃ CHẤM</a:t>
            </a:r>
          </a:p>
        </p:txBody>
      </p:sp>
      <p:sp>
        <p:nvSpPr>
          <p:cNvPr id="16" name="TextBox 15"/>
          <p:cNvSpPr txBox="1"/>
          <p:nvPr/>
        </p:nvSpPr>
        <p:spPr>
          <a:xfrm>
            <a:off x="5029200" y="1920240"/>
            <a:ext cx="2103120" cy="274320"/>
          </a:xfrm>
          <a:prstGeom prst="rect">
            <a:avLst/>
          </a:prstGeom>
          <a:noFill/>
        </p:spPr>
        <p:txBody>
          <a:bodyPr wrap="square">
            <a:spAutoFit/>
          </a:bodyPr>
          <a:lstStyle/>
          <a:p>
            <a:pPr algn="ctr">
              <a:defRPr sz="900" b="0">
                <a:solidFill>
                  <a:srgbClr val="64748B"/>
                </a:solidFill>
                <a:latin typeface="Be Vietnam Pro"/>
              </a:defRPr>
            </a:pPr>
            <a:r>
              <a:t>AI / GV chấm điểm</a:t>
            </a:r>
          </a:p>
        </p:txBody>
      </p:sp>
      <p:sp>
        <p:nvSpPr>
          <p:cNvPr id="17" name="TextBox 16"/>
          <p:cNvSpPr txBox="1"/>
          <p:nvPr/>
        </p:nvSpPr>
        <p:spPr>
          <a:xfrm>
            <a:off x="7132320" y="1417320"/>
            <a:ext cx="365760" cy="365760"/>
          </a:xfrm>
          <a:prstGeom prst="rect">
            <a:avLst/>
          </a:prstGeom>
          <a:noFill/>
        </p:spPr>
        <p:txBody>
          <a:bodyPr wrap="square">
            <a:spAutoFit/>
          </a:bodyPr>
          <a:lstStyle/>
          <a:p>
            <a:pPr algn="ctr">
              <a:defRPr sz="2000" b="0">
                <a:solidFill>
                  <a:srgbClr val="60A5FA"/>
                </a:solidFill>
                <a:latin typeface="Be Vietnam Pro"/>
              </a:defRPr>
            </a:pPr>
            <a:r>
              <a:t>→</a:t>
            </a:r>
          </a:p>
        </p:txBody>
      </p:sp>
      <p:sp>
        <p:nvSpPr>
          <p:cNvPr id="18" name="Rounded Rectangle 17"/>
          <p:cNvSpPr/>
          <p:nvPr/>
        </p:nvSpPr>
        <p:spPr>
          <a:xfrm>
            <a:off x="7406640" y="1097280"/>
            <a:ext cx="2103120" cy="128016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1143000"/>
            <a:ext cx="2103120" cy="365760"/>
          </a:xfrm>
          <a:prstGeom prst="rect">
            <a:avLst/>
          </a:prstGeom>
          <a:noFill/>
        </p:spPr>
        <p:txBody>
          <a:bodyPr wrap="square">
            <a:spAutoFit/>
          </a:bodyPr>
          <a:lstStyle/>
          <a:p>
            <a:pPr algn="ctr">
              <a:defRPr sz="2400" b="0">
                <a:solidFill>
                  <a:srgbClr val="F8FAFC"/>
                </a:solidFill>
                <a:latin typeface="Be Vietnam Pro"/>
              </a:defRPr>
            </a:pPr>
            <a:r>
              <a:t>↩️</a:t>
            </a:r>
          </a:p>
        </p:txBody>
      </p:sp>
      <p:sp>
        <p:nvSpPr>
          <p:cNvPr id="20" name="TextBox 19"/>
          <p:cNvSpPr txBox="1"/>
          <p:nvPr/>
        </p:nvSpPr>
        <p:spPr>
          <a:xfrm>
            <a:off x="7406640" y="1554480"/>
            <a:ext cx="2103120" cy="274320"/>
          </a:xfrm>
          <a:prstGeom prst="rect">
            <a:avLst/>
          </a:prstGeom>
          <a:noFill/>
        </p:spPr>
        <p:txBody>
          <a:bodyPr wrap="square">
            <a:spAutoFit/>
          </a:bodyPr>
          <a:lstStyle/>
          <a:p>
            <a:pPr algn="ctr">
              <a:defRPr sz="1200" b="1">
                <a:solidFill>
                  <a:srgbClr val="F8FAFC"/>
                </a:solidFill>
                <a:latin typeface="Be Vietnam Pro"/>
              </a:defRPr>
            </a:pPr>
            <a:r>
              <a:t>ĐÃ TRẢ</a:t>
            </a:r>
          </a:p>
        </p:txBody>
      </p:sp>
      <p:sp>
        <p:nvSpPr>
          <p:cNvPr id="21" name="TextBox 20"/>
          <p:cNvSpPr txBox="1"/>
          <p:nvPr/>
        </p:nvSpPr>
        <p:spPr>
          <a:xfrm>
            <a:off x="7406640" y="1920240"/>
            <a:ext cx="2103120" cy="274320"/>
          </a:xfrm>
          <a:prstGeom prst="rect">
            <a:avLst/>
          </a:prstGeom>
          <a:noFill/>
        </p:spPr>
        <p:txBody>
          <a:bodyPr wrap="square">
            <a:spAutoFit/>
          </a:bodyPr>
          <a:lstStyle/>
          <a:p>
            <a:pPr algn="ctr">
              <a:defRPr sz="900" b="0">
                <a:solidFill>
                  <a:srgbClr val="64748B"/>
                </a:solidFill>
                <a:latin typeface="Be Vietnam Pro"/>
              </a:defRPr>
            </a:pPr>
            <a:r>
              <a:t>Trả bài cho HS</a:t>
            </a:r>
          </a:p>
        </p:txBody>
      </p:sp>
      <p:sp>
        <p:nvSpPr>
          <p:cNvPr id="22" name="TextBox 21"/>
          <p:cNvSpPr txBox="1"/>
          <p:nvPr/>
        </p:nvSpPr>
        <p:spPr>
          <a:xfrm>
            <a:off x="9509760" y="1417320"/>
            <a:ext cx="365760" cy="365760"/>
          </a:xfrm>
          <a:prstGeom prst="rect">
            <a:avLst/>
          </a:prstGeom>
          <a:noFill/>
        </p:spPr>
        <p:txBody>
          <a:bodyPr wrap="square">
            <a:spAutoFit/>
          </a:bodyPr>
          <a:lstStyle/>
          <a:p>
            <a:pPr algn="ctr">
              <a:defRPr sz="2000" b="0">
                <a:solidFill>
                  <a:srgbClr val="60A5FA"/>
                </a:solidFill>
                <a:latin typeface="Be Vietnam Pro"/>
              </a:defRPr>
            </a:pPr>
            <a:r>
              <a:t>→</a:t>
            </a:r>
          </a:p>
        </p:txBody>
      </p:sp>
      <p:sp>
        <p:nvSpPr>
          <p:cNvPr id="23" name="Rounded Rectangle 22"/>
          <p:cNvSpPr/>
          <p:nvPr/>
        </p:nvSpPr>
        <p:spPr>
          <a:xfrm>
            <a:off x="9784080" y="1097280"/>
            <a:ext cx="2103120" cy="128016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143000"/>
            <a:ext cx="2103120" cy="365760"/>
          </a:xfrm>
          <a:prstGeom prst="rect">
            <a:avLst/>
          </a:prstGeom>
          <a:noFill/>
        </p:spPr>
        <p:txBody>
          <a:bodyPr wrap="square">
            <a:spAutoFit/>
          </a:bodyPr>
          <a:lstStyle/>
          <a:p>
            <a:pPr algn="ctr">
              <a:defRPr sz="2400" b="0">
                <a:solidFill>
                  <a:srgbClr val="F8FAFC"/>
                </a:solidFill>
                <a:latin typeface="Be Vietnam Pro"/>
              </a:defRPr>
            </a:pPr>
            <a:r>
              <a:t>🎯</a:t>
            </a:r>
          </a:p>
        </p:txBody>
      </p:sp>
      <p:sp>
        <p:nvSpPr>
          <p:cNvPr id="25" name="TextBox 24"/>
          <p:cNvSpPr txBox="1"/>
          <p:nvPr/>
        </p:nvSpPr>
        <p:spPr>
          <a:xfrm>
            <a:off x="9784080" y="1554480"/>
            <a:ext cx="2103120" cy="274320"/>
          </a:xfrm>
          <a:prstGeom prst="rect">
            <a:avLst/>
          </a:prstGeom>
          <a:noFill/>
        </p:spPr>
        <p:txBody>
          <a:bodyPr wrap="square">
            <a:spAutoFit/>
          </a:bodyPr>
          <a:lstStyle/>
          <a:p>
            <a:pPr algn="ctr">
              <a:defRPr sz="1200" b="1">
                <a:solidFill>
                  <a:srgbClr val="F8FAFC"/>
                </a:solidFill>
                <a:latin typeface="Be Vietnam Pro"/>
              </a:defRPr>
            </a:pPr>
            <a:r>
              <a:t>ĐÃ NHẬN</a:t>
            </a:r>
          </a:p>
        </p:txBody>
      </p:sp>
      <p:sp>
        <p:nvSpPr>
          <p:cNvPr id="26" name="TextBox 25"/>
          <p:cNvSpPr txBox="1"/>
          <p:nvPr/>
        </p:nvSpPr>
        <p:spPr>
          <a:xfrm>
            <a:off x="9784080" y="1920240"/>
            <a:ext cx="2103120" cy="274320"/>
          </a:xfrm>
          <a:prstGeom prst="rect">
            <a:avLst/>
          </a:prstGeom>
          <a:noFill/>
        </p:spPr>
        <p:txBody>
          <a:bodyPr wrap="square">
            <a:spAutoFit/>
          </a:bodyPr>
          <a:lstStyle/>
          <a:p>
            <a:pPr algn="ctr">
              <a:defRPr sz="900" b="0">
                <a:solidFill>
                  <a:srgbClr val="64748B"/>
                </a:solidFill>
                <a:latin typeface="Be Vietnam Pro"/>
              </a:defRPr>
            </a:pPr>
            <a:r>
              <a:t>HS chấp nhận điểm</a:t>
            </a:r>
          </a:p>
        </p:txBody>
      </p:sp>
      <p:sp>
        <p:nvSpPr>
          <p:cNvPr id="27" name="Rounded Rectangle 26"/>
          <p:cNvSpPr/>
          <p:nvPr/>
        </p:nvSpPr>
        <p:spPr>
          <a:xfrm>
            <a:off x="457200" y="2743200"/>
            <a:ext cx="5394960" cy="16459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288036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29" name="TextBox 28"/>
          <p:cNvSpPr txBox="1"/>
          <p:nvPr/>
        </p:nvSpPr>
        <p:spPr>
          <a:xfrm>
            <a:off x="1143000" y="2880360"/>
            <a:ext cx="4572000" cy="365760"/>
          </a:xfrm>
          <a:prstGeom prst="rect">
            <a:avLst/>
          </a:prstGeom>
          <a:noFill/>
        </p:spPr>
        <p:txBody>
          <a:bodyPr wrap="square">
            <a:spAutoFit/>
          </a:bodyPr>
          <a:lstStyle/>
          <a:p>
            <a:pPr algn="l">
              <a:defRPr sz="1400" b="1">
                <a:solidFill>
                  <a:srgbClr val="F8FAFC"/>
                </a:solidFill>
                <a:latin typeface="Be Vietnam Pro"/>
              </a:defRPr>
            </a:pPr>
            <a:r>
              <a:t>Chấm điểm AI tự động</a:t>
            </a:r>
          </a:p>
        </p:txBody>
      </p:sp>
      <p:sp>
        <p:nvSpPr>
          <p:cNvPr id="30" name="TextBox 29"/>
          <p:cNvSpPr txBox="1"/>
          <p:nvPr/>
        </p:nvSpPr>
        <p:spPr>
          <a:xfrm>
            <a:off x="1143000" y="3337560"/>
            <a:ext cx="4572000" cy="822960"/>
          </a:xfrm>
          <a:prstGeom prst="rect">
            <a:avLst/>
          </a:prstGeom>
          <a:noFill/>
        </p:spPr>
        <p:txBody>
          <a:bodyPr wrap="square">
            <a:spAutoFit/>
          </a:bodyPr>
          <a:lstStyle/>
          <a:p>
            <a:pPr algn="l">
              <a:defRPr sz="1100" b="0">
                <a:solidFill>
                  <a:srgbClr val="94A3B8"/>
                </a:solidFill>
                <a:latin typeface="Be Vietnam Pro"/>
              </a:defRPr>
            </a:pPr>
            <a:r>
              <a:t>AI phân tích bài làm, đối chiếu rubric, đưa điểm + nhận xét. GV điều chỉnh trước khi trả bài.</a:t>
            </a:r>
          </a:p>
        </p:txBody>
      </p:sp>
      <p:sp>
        <p:nvSpPr>
          <p:cNvPr id="31" name="Rounded Rectangle 30"/>
          <p:cNvSpPr/>
          <p:nvPr/>
        </p:nvSpPr>
        <p:spPr>
          <a:xfrm>
            <a:off x="6217920" y="2743200"/>
            <a:ext cx="5394960" cy="16459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288036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33" name="TextBox 32"/>
          <p:cNvSpPr txBox="1"/>
          <p:nvPr/>
        </p:nvSpPr>
        <p:spPr>
          <a:xfrm>
            <a:off x="6903720" y="2880360"/>
            <a:ext cx="4572000" cy="365760"/>
          </a:xfrm>
          <a:prstGeom prst="rect">
            <a:avLst/>
          </a:prstGeom>
          <a:noFill/>
        </p:spPr>
        <p:txBody>
          <a:bodyPr wrap="square">
            <a:spAutoFit/>
          </a:bodyPr>
          <a:lstStyle/>
          <a:p>
            <a:pPr algn="l">
              <a:defRPr sz="1400" b="1">
                <a:solidFill>
                  <a:srgbClr val="F8FAFC"/>
                </a:solidFill>
                <a:latin typeface="Be Vietnam Pro"/>
              </a:defRPr>
            </a:pPr>
            <a:r>
              <a:t>Ma trận đề thi chuẩn MOET</a:t>
            </a:r>
          </a:p>
        </p:txBody>
      </p:sp>
      <p:sp>
        <p:nvSpPr>
          <p:cNvPr id="34" name="TextBox 33"/>
          <p:cNvSpPr txBox="1"/>
          <p:nvPr/>
        </p:nvSpPr>
        <p:spPr>
          <a:xfrm>
            <a:off x="6903720" y="3337560"/>
            <a:ext cx="4572000" cy="822960"/>
          </a:xfrm>
          <a:prstGeom prst="rect">
            <a:avLst/>
          </a:prstGeom>
          <a:noFill/>
        </p:spPr>
        <p:txBody>
          <a:bodyPr wrap="square">
            <a:spAutoFit/>
          </a:bodyPr>
          <a:lstStyle/>
          <a:p>
            <a:pPr algn="l">
              <a:defRPr sz="1100" b="0">
                <a:solidFill>
                  <a:srgbClr val="94A3B8"/>
                </a:solidFill>
                <a:latin typeface="Be Vietnam Pro"/>
              </a:defRPr>
            </a:pPr>
            <a:r>
              <a:t>Xây dựng ma trận đề theo chuẩn Bộ GD&amp;ĐT. AI hỗ trợ tạo câu hỏi theo từng ô.</a:t>
            </a:r>
          </a:p>
        </p:txBody>
      </p:sp>
      <p:sp>
        <p:nvSpPr>
          <p:cNvPr id="35" name="Rounded Rectangle 34"/>
          <p:cNvSpPr/>
          <p:nvPr/>
        </p:nvSpPr>
        <p:spPr>
          <a:xfrm>
            <a:off x="457200" y="4663440"/>
            <a:ext cx="5394960" cy="16459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480060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37" name="TextBox 36"/>
          <p:cNvSpPr txBox="1"/>
          <p:nvPr/>
        </p:nvSpPr>
        <p:spPr>
          <a:xfrm>
            <a:off x="1143000" y="4800600"/>
            <a:ext cx="4572000" cy="365760"/>
          </a:xfrm>
          <a:prstGeom prst="rect">
            <a:avLst/>
          </a:prstGeom>
          <a:noFill/>
        </p:spPr>
        <p:txBody>
          <a:bodyPr wrap="square">
            <a:spAutoFit/>
          </a:bodyPr>
          <a:lstStyle/>
          <a:p>
            <a:pPr algn="l">
              <a:defRPr sz="1400" b="1">
                <a:solidFill>
                  <a:srgbClr val="F8FAFC"/>
                </a:solidFill>
                <a:latin typeface="Be Vietnam Pro"/>
              </a:defRPr>
            </a:pPr>
            <a:r>
              <a:t>Audit Log minh bạch</a:t>
            </a:r>
          </a:p>
        </p:txBody>
      </p:sp>
      <p:sp>
        <p:nvSpPr>
          <p:cNvPr id="38" name="TextBox 37"/>
          <p:cNvSpPr txBox="1"/>
          <p:nvPr/>
        </p:nvSpPr>
        <p:spPr>
          <a:xfrm>
            <a:off x="1143000" y="5257800"/>
            <a:ext cx="4572000" cy="822960"/>
          </a:xfrm>
          <a:prstGeom prst="rect">
            <a:avLst/>
          </a:prstGeom>
          <a:noFill/>
        </p:spPr>
        <p:txBody>
          <a:bodyPr wrap="square">
            <a:spAutoFit/>
          </a:bodyPr>
          <a:lstStyle/>
          <a:p>
            <a:pPr algn="l">
              <a:defRPr sz="1100" b="0">
                <a:solidFill>
                  <a:srgbClr val="94A3B8"/>
                </a:solidFill>
                <a:latin typeface="Be Vietnam Pro"/>
              </a:defRPr>
            </a:pPr>
            <a:r>
              <a:t>Mọi thao tác đều được ghi nhận: ai giao, nộp, chấm, sửa điểm. Truy vết đầy đủ.</a:t>
            </a:r>
          </a:p>
        </p:txBody>
      </p:sp>
      <p:sp>
        <p:nvSpPr>
          <p:cNvPr id="39" name="Rounded Rectangle 38"/>
          <p:cNvSpPr/>
          <p:nvPr/>
        </p:nvSpPr>
        <p:spPr>
          <a:xfrm>
            <a:off x="6217920" y="4663440"/>
            <a:ext cx="5394960" cy="16459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4800600"/>
            <a:ext cx="457200" cy="457200"/>
          </a:xfrm>
          <a:prstGeom prst="rect">
            <a:avLst/>
          </a:prstGeom>
          <a:noFill/>
        </p:spPr>
        <p:txBody>
          <a:bodyPr wrap="square">
            <a:spAutoFit/>
          </a:bodyPr>
          <a:lstStyle/>
          <a:p>
            <a:pPr algn="l">
              <a:defRPr sz="2000" b="0">
                <a:solidFill>
                  <a:srgbClr val="F8FAFC"/>
                </a:solidFill>
                <a:latin typeface="Be Vietnam Pro"/>
              </a:defRPr>
            </a:pPr>
            <a:r>
              <a:t>📥</a:t>
            </a:r>
          </a:p>
        </p:txBody>
      </p:sp>
      <p:sp>
        <p:nvSpPr>
          <p:cNvPr id="41" name="TextBox 40"/>
          <p:cNvSpPr txBox="1"/>
          <p:nvPr/>
        </p:nvSpPr>
        <p:spPr>
          <a:xfrm>
            <a:off x="6903720" y="4800600"/>
            <a:ext cx="4572000" cy="365760"/>
          </a:xfrm>
          <a:prstGeom prst="rect">
            <a:avLst/>
          </a:prstGeom>
          <a:noFill/>
        </p:spPr>
        <p:txBody>
          <a:bodyPr wrap="square">
            <a:spAutoFit/>
          </a:bodyPr>
          <a:lstStyle/>
          <a:p>
            <a:pPr algn="l">
              <a:defRPr sz="1400" b="1">
                <a:solidFill>
                  <a:srgbClr val="F8FAFC"/>
                </a:solidFill>
                <a:latin typeface="Be Vietnam Pro"/>
              </a:defRPr>
            </a:pPr>
            <a:r>
              <a:t>Xuất CSV bảng điểm</a:t>
            </a:r>
          </a:p>
        </p:txBody>
      </p:sp>
      <p:sp>
        <p:nvSpPr>
          <p:cNvPr id="42" name="TextBox 41"/>
          <p:cNvSpPr txBox="1"/>
          <p:nvPr/>
        </p:nvSpPr>
        <p:spPr>
          <a:xfrm>
            <a:off x="6903720" y="5257800"/>
            <a:ext cx="4572000" cy="822960"/>
          </a:xfrm>
          <a:prstGeom prst="rect">
            <a:avLst/>
          </a:prstGeom>
          <a:noFill/>
        </p:spPr>
        <p:txBody>
          <a:bodyPr wrap="square">
            <a:spAutoFit/>
          </a:bodyPr>
          <a:lstStyle/>
          <a:p>
            <a:pPr algn="l">
              <a:defRPr sz="1100" b="0">
                <a:solidFill>
                  <a:srgbClr val="94A3B8"/>
                </a:solidFill>
                <a:latin typeface="Be Vietnam Pro"/>
              </a:defRPr>
            </a:pPr>
            <a:r>
              <a:t>Xuất bảng điểm ra CSV để lưu trữ hoặc import vào phần mềm quản lý nhà trường.</a:t>
            </a:r>
          </a:p>
        </p:txBody>
      </p:sp>
      <p:sp>
        <p:nvSpPr>
          <p:cNvPr id="43" name="TextBox 42"/>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12/27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914400" y="137160"/>
            <a:ext cx="10332720" cy="640080"/>
          </a:xfrm>
          <a:prstGeom prst="rect">
            <a:avLst/>
          </a:prstGeom>
          <a:noFill/>
        </p:spPr>
        <p:txBody>
          <a:bodyPr wrap="square">
            <a:spAutoFit/>
          </a:bodyPr>
          <a:lstStyle/>
          <a:p>
            <a:pPr algn="ctr">
              <a:defRPr sz="3000" b="1">
                <a:solidFill>
                  <a:srgbClr val="F8FAFC"/>
                </a:solidFill>
                <a:latin typeface="Be Vietnam Pro"/>
              </a:defRPr>
            </a:pPr>
            <a:r>
              <a:t>Học mà chơi — Biến học tập thành cuộc phiêu lưu</a:t>
            </a:r>
          </a:p>
        </p:txBody>
      </p:sp>
      <p:sp>
        <p:nvSpPr>
          <p:cNvPr id="3" name="TextBox 2"/>
          <p:cNvSpPr txBox="1"/>
          <p:nvPr/>
        </p:nvSpPr>
        <p:spPr>
          <a:xfrm>
            <a:off x="914400" y="1097280"/>
            <a:ext cx="2560320" cy="548640"/>
          </a:xfrm>
          <a:prstGeom prst="rect">
            <a:avLst/>
          </a:prstGeom>
          <a:noFill/>
        </p:spPr>
        <p:txBody>
          <a:bodyPr wrap="square">
            <a:spAutoFit/>
          </a:bodyPr>
          <a:lstStyle/>
          <a:p>
            <a:pPr algn="ctr">
              <a:defRPr sz="3800" b="0">
                <a:solidFill>
                  <a:srgbClr val="F8FAFC"/>
                </a:solidFill>
                <a:latin typeface="Be Vietnam Pro"/>
              </a:defRPr>
            </a:pPr>
            <a:r>
              <a:t>💎</a:t>
            </a:r>
          </a:p>
        </p:txBody>
      </p:sp>
      <p:sp>
        <p:nvSpPr>
          <p:cNvPr id="4" name="TextBox 3"/>
          <p:cNvSpPr txBox="1"/>
          <p:nvPr/>
        </p:nvSpPr>
        <p:spPr>
          <a:xfrm>
            <a:off x="914400" y="1737360"/>
            <a:ext cx="2560320" cy="731520"/>
          </a:xfrm>
          <a:prstGeom prst="rect">
            <a:avLst/>
          </a:prstGeom>
          <a:noFill/>
        </p:spPr>
        <p:txBody>
          <a:bodyPr wrap="square">
            <a:spAutoFit/>
          </a:bodyPr>
          <a:lstStyle/>
          <a:p>
            <a:pPr algn="ctr">
              <a:defRPr sz="1200" b="0">
                <a:solidFill>
                  <a:srgbClr val="94A3B8"/>
                </a:solidFill>
                <a:latin typeface="Be Vietnam Pro"/>
              </a:defRPr>
            </a:pPr>
            <a:r>
              <a:t>Kim cương thưởng</a:t>
            </a:r>
            <a:br/>
            <a:r>
              <a:t>khi học, quiz, nộp bài</a:t>
            </a:r>
          </a:p>
        </p:txBody>
      </p:sp>
      <p:sp>
        <p:nvSpPr>
          <p:cNvPr id="5" name="TextBox 4"/>
          <p:cNvSpPr txBox="1"/>
          <p:nvPr/>
        </p:nvSpPr>
        <p:spPr>
          <a:xfrm>
            <a:off x="3749039" y="1097280"/>
            <a:ext cx="2560320" cy="548640"/>
          </a:xfrm>
          <a:prstGeom prst="rect">
            <a:avLst/>
          </a:prstGeom>
          <a:noFill/>
        </p:spPr>
        <p:txBody>
          <a:bodyPr wrap="square">
            <a:spAutoFit/>
          </a:bodyPr>
          <a:lstStyle/>
          <a:p>
            <a:pPr algn="ctr">
              <a:defRPr sz="3800" b="0">
                <a:solidFill>
                  <a:srgbClr val="F8FAFC"/>
                </a:solidFill>
                <a:latin typeface="Be Vietnam Pro"/>
              </a:defRPr>
            </a:pPr>
            <a:r>
              <a:t>🔥</a:t>
            </a:r>
          </a:p>
        </p:txBody>
      </p:sp>
      <p:sp>
        <p:nvSpPr>
          <p:cNvPr id="6" name="TextBox 5"/>
          <p:cNvSpPr txBox="1"/>
          <p:nvPr/>
        </p:nvSpPr>
        <p:spPr>
          <a:xfrm>
            <a:off x="3749039" y="1737360"/>
            <a:ext cx="2560320" cy="731520"/>
          </a:xfrm>
          <a:prstGeom prst="rect">
            <a:avLst/>
          </a:prstGeom>
          <a:noFill/>
        </p:spPr>
        <p:txBody>
          <a:bodyPr wrap="square">
            <a:spAutoFit/>
          </a:bodyPr>
          <a:lstStyle/>
          <a:p>
            <a:pPr algn="ctr">
              <a:defRPr sz="1200" b="0">
                <a:solidFill>
                  <a:srgbClr val="94A3B8"/>
                </a:solidFill>
                <a:latin typeface="Be Vietnam Pro"/>
              </a:defRPr>
            </a:pPr>
            <a:r>
              <a:t>Streak chuỗi ngày</a:t>
            </a:r>
            <a:br/>
            <a:r>
              <a:t>học liên tục</a:t>
            </a:r>
          </a:p>
        </p:txBody>
      </p:sp>
      <p:sp>
        <p:nvSpPr>
          <p:cNvPr id="7" name="TextBox 6"/>
          <p:cNvSpPr txBox="1"/>
          <p:nvPr/>
        </p:nvSpPr>
        <p:spPr>
          <a:xfrm>
            <a:off x="6583680" y="1097280"/>
            <a:ext cx="2560320" cy="548640"/>
          </a:xfrm>
          <a:prstGeom prst="rect">
            <a:avLst/>
          </a:prstGeom>
          <a:noFill/>
        </p:spPr>
        <p:txBody>
          <a:bodyPr wrap="square">
            <a:spAutoFit/>
          </a:bodyPr>
          <a:lstStyle/>
          <a:p>
            <a:pPr algn="ctr">
              <a:defRPr sz="3800" b="0">
                <a:solidFill>
                  <a:srgbClr val="F8FAFC"/>
                </a:solidFill>
                <a:latin typeface="Be Vietnam Pro"/>
              </a:defRPr>
            </a:pPr>
            <a:r>
              <a:t>🏅</a:t>
            </a:r>
          </a:p>
        </p:txBody>
      </p:sp>
      <p:sp>
        <p:nvSpPr>
          <p:cNvPr id="8" name="TextBox 7"/>
          <p:cNvSpPr txBox="1"/>
          <p:nvPr/>
        </p:nvSpPr>
        <p:spPr>
          <a:xfrm>
            <a:off x="6583680" y="1737360"/>
            <a:ext cx="2560320" cy="731520"/>
          </a:xfrm>
          <a:prstGeom prst="rect">
            <a:avLst/>
          </a:prstGeom>
          <a:noFill/>
        </p:spPr>
        <p:txBody>
          <a:bodyPr wrap="square">
            <a:spAutoFit/>
          </a:bodyPr>
          <a:lstStyle/>
          <a:p>
            <a:pPr algn="ctr">
              <a:defRPr sz="1200" b="0">
                <a:solidFill>
                  <a:srgbClr val="94A3B8"/>
                </a:solidFill>
                <a:latin typeface="Be Vietnam Pro"/>
              </a:defRPr>
            </a:pPr>
            <a:r>
              <a:t>8 loại thành tựu</a:t>
            </a:r>
            <a:br/>
            <a:r>
              <a:t>cho các cột mốc</a:t>
            </a:r>
          </a:p>
        </p:txBody>
      </p:sp>
      <p:sp>
        <p:nvSpPr>
          <p:cNvPr id="9" name="TextBox 8"/>
          <p:cNvSpPr txBox="1"/>
          <p:nvPr/>
        </p:nvSpPr>
        <p:spPr>
          <a:xfrm>
            <a:off x="9418320" y="1097280"/>
            <a:ext cx="2560320" cy="548640"/>
          </a:xfrm>
          <a:prstGeom prst="rect">
            <a:avLst/>
          </a:prstGeom>
          <a:noFill/>
        </p:spPr>
        <p:txBody>
          <a:bodyPr wrap="square">
            <a:spAutoFit/>
          </a:bodyPr>
          <a:lstStyle/>
          <a:p>
            <a:pPr algn="ctr">
              <a:defRPr sz="3800" b="0">
                <a:solidFill>
                  <a:srgbClr val="F8FAFC"/>
                </a:solidFill>
                <a:latin typeface="Be Vietnam Pro"/>
              </a:defRPr>
            </a:pPr>
            <a:r>
              <a:t>🏆</a:t>
            </a:r>
          </a:p>
        </p:txBody>
      </p:sp>
      <p:sp>
        <p:nvSpPr>
          <p:cNvPr id="10" name="TextBox 9"/>
          <p:cNvSpPr txBox="1"/>
          <p:nvPr/>
        </p:nvSpPr>
        <p:spPr>
          <a:xfrm>
            <a:off x="9418320" y="1737360"/>
            <a:ext cx="2560320" cy="731520"/>
          </a:xfrm>
          <a:prstGeom prst="rect">
            <a:avLst/>
          </a:prstGeom>
          <a:noFill/>
        </p:spPr>
        <p:txBody>
          <a:bodyPr wrap="square">
            <a:spAutoFit/>
          </a:bodyPr>
          <a:lstStyle/>
          <a:p>
            <a:pPr algn="ctr">
              <a:defRPr sz="1200" b="0">
                <a:solidFill>
                  <a:srgbClr val="94A3B8"/>
                </a:solidFill>
                <a:latin typeface="Be Vietnam Pro"/>
              </a:defRPr>
            </a:pPr>
            <a:r>
              <a:t>Bảng xếp hạng</a:t>
            </a:r>
            <a:br/>
            <a:r>
              <a:t>tuần / tháng / tất cả</a:t>
            </a:r>
          </a:p>
        </p:txBody>
      </p:sp>
      <p:sp>
        <p:nvSpPr>
          <p:cNvPr id="11" name="Rounded Rectangle 10"/>
          <p:cNvSpPr/>
          <p:nvPr/>
        </p:nvSpPr>
        <p:spPr>
          <a:xfrm>
            <a:off x="914400" y="2743200"/>
            <a:ext cx="2560320" cy="22860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80360"/>
            <a:ext cx="2560320" cy="457200"/>
          </a:xfrm>
          <a:prstGeom prst="rect">
            <a:avLst/>
          </a:prstGeom>
          <a:noFill/>
        </p:spPr>
        <p:txBody>
          <a:bodyPr wrap="square">
            <a:spAutoFit/>
          </a:bodyPr>
          <a:lstStyle/>
          <a:p>
            <a:pPr algn="ctr">
              <a:defRPr sz="2800" b="0">
                <a:solidFill>
                  <a:srgbClr val="F8FAFC"/>
                </a:solidFill>
                <a:latin typeface="Be Vietnam Pro"/>
              </a:defRPr>
            </a:pPr>
            <a:r>
              <a:t>💰</a:t>
            </a:r>
          </a:p>
        </p:txBody>
      </p:sp>
      <p:sp>
        <p:nvSpPr>
          <p:cNvPr id="13" name="TextBox 12"/>
          <p:cNvSpPr txBox="1"/>
          <p:nvPr/>
        </p:nvSpPr>
        <p:spPr>
          <a:xfrm>
            <a:off x="914400" y="3474720"/>
            <a:ext cx="2560320" cy="365760"/>
          </a:xfrm>
          <a:prstGeom prst="rect">
            <a:avLst/>
          </a:prstGeom>
          <a:noFill/>
        </p:spPr>
        <p:txBody>
          <a:bodyPr wrap="square">
            <a:spAutoFit/>
          </a:bodyPr>
          <a:lstStyle/>
          <a:p>
            <a:pPr algn="ctr">
              <a:defRPr sz="1400" b="1">
                <a:solidFill>
                  <a:srgbClr val="F8FAFC"/>
                </a:solidFill>
                <a:latin typeface="Be Vietnam Pro"/>
              </a:defRPr>
            </a:pPr>
            <a:r>
              <a:t>Kiếm kim cương</a:t>
            </a:r>
          </a:p>
        </p:txBody>
      </p:sp>
      <p:sp>
        <p:nvSpPr>
          <p:cNvPr id="14" name="TextBox 13"/>
          <p:cNvSpPr txBox="1"/>
          <p:nvPr/>
        </p:nvSpPr>
        <p:spPr>
          <a:xfrm>
            <a:off x="1051560" y="3931920"/>
            <a:ext cx="2286000" cy="914400"/>
          </a:xfrm>
          <a:prstGeom prst="rect">
            <a:avLst/>
          </a:prstGeom>
          <a:noFill/>
        </p:spPr>
        <p:txBody>
          <a:bodyPr wrap="square">
            <a:spAutoFit/>
          </a:bodyPr>
          <a:lstStyle/>
          <a:p>
            <a:pPr algn="ctr">
              <a:defRPr sz="1100" b="0">
                <a:solidFill>
                  <a:srgbClr val="94A3B8"/>
                </a:solidFill>
                <a:latin typeface="Be Vietnam Pro"/>
              </a:defRPr>
            </a:pPr>
            <a:r>
              <a:t>Học bài, quiz, nộp bài</a:t>
            </a:r>
            <a:br/>
            <a:r>
              <a:t>đều được thưởng</a:t>
            </a:r>
          </a:p>
        </p:txBody>
      </p:sp>
      <p:sp>
        <p:nvSpPr>
          <p:cNvPr id="15" name="Rounded Rectangle 14"/>
          <p:cNvSpPr/>
          <p:nvPr/>
        </p:nvSpPr>
        <p:spPr>
          <a:xfrm>
            <a:off x="3749039" y="2743200"/>
            <a:ext cx="2560320" cy="22860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39" y="2880360"/>
            <a:ext cx="2560320" cy="457200"/>
          </a:xfrm>
          <a:prstGeom prst="rect">
            <a:avLst/>
          </a:prstGeom>
          <a:noFill/>
        </p:spPr>
        <p:txBody>
          <a:bodyPr wrap="square">
            <a:spAutoFit/>
          </a:bodyPr>
          <a:lstStyle/>
          <a:p>
            <a:pPr algn="ctr">
              <a:defRPr sz="2800" b="0">
                <a:solidFill>
                  <a:srgbClr val="F8FAFC"/>
                </a:solidFill>
                <a:latin typeface="Be Vietnam Pro"/>
              </a:defRPr>
            </a:pPr>
            <a:r>
              <a:t>📋</a:t>
            </a:r>
          </a:p>
        </p:txBody>
      </p:sp>
      <p:sp>
        <p:nvSpPr>
          <p:cNvPr id="17" name="TextBox 16"/>
          <p:cNvSpPr txBox="1"/>
          <p:nvPr/>
        </p:nvSpPr>
        <p:spPr>
          <a:xfrm>
            <a:off x="3749039" y="3474720"/>
            <a:ext cx="2560320" cy="365760"/>
          </a:xfrm>
          <a:prstGeom prst="rect">
            <a:avLst/>
          </a:prstGeom>
          <a:noFill/>
        </p:spPr>
        <p:txBody>
          <a:bodyPr wrap="square">
            <a:spAutoFit/>
          </a:bodyPr>
          <a:lstStyle/>
          <a:p>
            <a:pPr algn="ctr">
              <a:defRPr sz="1400" b="1">
                <a:solidFill>
                  <a:srgbClr val="F8FAFC"/>
                </a:solidFill>
                <a:latin typeface="Be Vietnam Pro"/>
              </a:defRPr>
            </a:pPr>
            <a:r>
              <a:t>Lịch sử giao dịch</a:t>
            </a:r>
          </a:p>
        </p:txBody>
      </p:sp>
      <p:sp>
        <p:nvSpPr>
          <p:cNvPr id="18" name="TextBox 17"/>
          <p:cNvSpPr txBox="1"/>
          <p:nvPr/>
        </p:nvSpPr>
        <p:spPr>
          <a:xfrm>
            <a:off x="3886200" y="3931920"/>
            <a:ext cx="2286000" cy="914400"/>
          </a:xfrm>
          <a:prstGeom prst="rect">
            <a:avLst/>
          </a:prstGeom>
          <a:noFill/>
        </p:spPr>
        <p:txBody>
          <a:bodyPr wrap="square">
            <a:spAutoFit/>
          </a:bodyPr>
          <a:lstStyle/>
          <a:p>
            <a:pPr algn="ctr">
              <a:defRPr sz="1100" b="0">
                <a:solidFill>
                  <a:srgbClr val="94A3B8"/>
                </a:solidFill>
                <a:latin typeface="Be Vietnam Pro"/>
              </a:defRPr>
            </a:pPr>
            <a:r>
              <a:t>Xem lại toàn bộ</a:t>
            </a:r>
            <a:br/>
            <a:r>
              <a:t>lịch sử kim cương</a:t>
            </a:r>
          </a:p>
        </p:txBody>
      </p:sp>
      <p:sp>
        <p:nvSpPr>
          <p:cNvPr id="19" name="Rounded Rectangle 18"/>
          <p:cNvSpPr/>
          <p:nvPr/>
        </p:nvSpPr>
        <p:spPr>
          <a:xfrm>
            <a:off x="6583680" y="2743200"/>
            <a:ext cx="2560320" cy="22860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880360"/>
            <a:ext cx="2560320" cy="457200"/>
          </a:xfrm>
          <a:prstGeom prst="rect">
            <a:avLst/>
          </a:prstGeom>
          <a:noFill/>
        </p:spPr>
        <p:txBody>
          <a:bodyPr wrap="square">
            <a:spAutoFit/>
          </a:bodyPr>
          <a:lstStyle/>
          <a:p>
            <a:pPr algn="ctr">
              <a:defRPr sz="2800" b="0">
                <a:solidFill>
                  <a:srgbClr val="F8FAFC"/>
                </a:solidFill>
                <a:latin typeface="Be Vietnam Pro"/>
              </a:defRPr>
            </a:pPr>
            <a:r>
              <a:t>⭐</a:t>
            </a:r>
          </a:p>
        </p:txBody>
      </p:sp>
      <p:sp>
        <p:nvSpPr>
          <p:cNvPr id="21" name="TextBox 20"/>
          <p:cNvSpPr txBox="1"/>
          <p:nvPr/>
        </p:nvSpPr>
        <p:spPr>
          <a:xfrm>
            <a:off x="6583680" y="3474720"/>
            <a:ext cx="2560320" cy="365760"/>
          </a:xfrm>
          <a:prstGeom prst="rect">
            <a:avLst/>
          </a:prstGeom>
          <a:noFill/>
        </p:spPr>
        <p:txBody>
          <a:bodyPr wrap="square">
            <a:spAutoFit/>
          </a:bodyPr>
          <a:lstStyle/>
          <a:p>
            <a:pPr algn="ctr">
              <a:defRPr sz="1400" b="1">
                <a:solidFill>
                  <a:srgbClr val="F8FAFC"/>
                </a:solidFill>
                <a:latin typeface="Be Vietnam Pro"/>
              </a:defRPr>
            </a:pPr>
            <a:r>
              <a:t>Thành tựu</a:t>
            </a:r>
          </a:p>
        </p:txBody>
      </p:sp>
      <p:sp>
        <p:nvSpPr>
          <p:cNvPr id="22" name="TextBox 21"/>
          <p:cNvSpPr txBox="1"/>
          <p:nvPr/>
        </p:nvSpPr>
        <p:spPr>
          <a:xfrm>
            <a:off x="6720840" y="3931920"/>
            <a:ext cx="2286000" cy="914400"/>
          </a:xfrm>
          <a:prstGeom prst="rect">
            <a:avLst/>
          </a:prstGeom>
          <a:noFill/>
        </p:spPr>
        <p:txBody>
          <a:bodyPr wrap="square">
            <a:spAutoFit/>
          </a:bodyPr>
          <a:lstStyle/>
          <a:p>
            <a:pPr algn="ctr">
              <a:defRPr sz="1100" b="0">
                <a:solidFill>
                  <a:srgbClr val="94A3B8"/>
                </a:solidFill>
                <a:latin typeface="Be Vietnam Pro"/>
              </a:defRPr>
            </a:pPr>
            <a:r>
              <a:t>8 thành tựu: học 10h,</a:t>
            </a:r>
            <a:br/>
            <a:r>
              <a:t>streak 7 ngày, điểm cao...</a:t>
            </a:r>
          </a:p>
        </p:txBody>
      </p:sp>
      <p:sp>
        <p:nvSpPr>
          <p:cNvPr id="23" name="Rounded Rectangle 22"/>
          <p:cNvSpPr/>
          <p:nvPr/>
        </p:nvSpPr>
        <p:spPr>
          <a:xfrm>
            <a:off x="9418320" y="2743200"/>
            <a:ext cx="2560320" cy="22860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0" y="2880360"/>
            <a:ext cx="2560320" cy="457200"/>
          </a:xfrm>
          <a:prstGeom prst="rect">
            <a:avLst/>
          </a:prstGeom>
          <a:noFill/>
        </p:spPr>
        <p:txBody>
          <a:bodyPr wrap="square">
            <a:spAutoFit/>
          </a:bodyPr>
          <a:lstStyle/>
          <a:p>
            <a:pPr algn="ctr">
              <a:defRPr sz="2800" b="0">
                <a:solidFill>
                  <a:srgbClr val="F8FAFC"/>
                </a:solidFill>
                <a:latin typeface="Be Vietnam Pro"/>
              </a:defRPr>
            </a:pPr>
            <a:r>
              <a:t>👑</a:t>
            </a:r>
          </a:p>
        </p:txBody>
      </p:sp>
      <p:sp>
        <p:nvSpPr>
          <p:cNvPr id="25" name="TextBox 24"/>
          <p:cNvSpPr txBox="1"/>
          <p:nvPr/>
        </p:nvSpPr>
        <p:spPr>
          <a:xfrm>
            <a:off x="9418320" y="3474720"/>
            <a:ext cx="2560320" cy="365760"/>
          </a:xfrm>
          <a:prstGeom prst="rect">
            <a:avLst/>
          </a:prstGeom>
          <a:noFill/>
        </p:spPr>
        <p:txBody>
          <a:bodyPr wrap="square">
            <a:spAutoFit/>
          </a:bodyPr>
          <a:lstStyle/>
          <a:p>
            <a:pPr algn="ctr">
              <a:defRPr sz="1400" b="1">
                <a:solidFill>
                  <a:srgbClr val="F8FAFC"/>
                </a:solidFill>
                <a:latin typeface="Be Vietnam Pro"/>
              </a:defRPr>
            </a:pPr>
            <a:r>
              <a:t>Admin trao thưởng</a:t>
            </a:r>
          </a:p>
        </p:txBody>
      </p:sp>
      <p:sp>
        <p:nvSpPr>
          <p:cNvPr id="26" name="TextBox 25"/>
          <p:cNvSpPr txBox="1"/>
          <p:nvPr/>
        </p:nvSpPr>
        <p:spPr>
          <a:xfrm>
            <a:off x="9555480" y="3931920"/>
            <a:ext cx="2286000" cy="914400"/>
          </a:xfrm>
          <a:prstGeom prst="rect">
            <a:avLst/>
          </a:prstGeom>
          <a:noFill/>
        </p:spPr>
        <p:txBody>
          <a:bodyPr wrap="square">
            <a:spAutoFit/>
          </a:bodyPr>
          <a:lstStyle/>
          <a:p>
            <a:pPr algn="ctr">
              <a:defRPr sz="1100" b="0">
                <a:solidFill>
                  <a:srgbClr val="94A3B8"/>
                </a:solidFill>
                <a:latin typeface="Be Vietnam Pro"/>
              </a:defRPr>
            </a:pPr>
            <a:r>
              <a:t>Admin trao kim cương</a:t>
            </a:r>
            <a:br/>
            <a:r>
              <a:t>cho học sinh xuất sắc</a:t>
            </a:r>
          </a:p>
        </p:txBody>
      </p:sp>
      <p:sp>
        <p:nvSpPr>
          <p:cNvPr id="27" name="TextBox 26"/>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13/27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pPr algn="ctr">
              <a:defRPr sz="2800" b="1">
                <a:solidFill>
                  <a:srgbClr val="F8FAFC"/>
                </a:solidFill>
                <a:latin typeface="Be Vietnam Pro"/>
              </a:defRPr>
            </a:pPr>
            <a:r>
              <a:t>Theo dõi tiến độ &amp; Chẩn đoán điểm yếu</a:t>
            </a:r>
          </a:p>
        </p:txBody>
      </p:sp>
      <p:sp>
        <p:nvSpPr>
          <p:cNvPr id="3" name="Rounded Rectangle 2"/>
          <p:cNvSpPr/>
          <p:nvPr/>
        </p:nvSpPr>
        <p:spPr>
          <a:xfrm>
            <a:off x="274320" y="1097280"/>
            <a:ext cx="5577840" cy="475488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5029200" cy="365760"/>
          </a:xfrm>
          <a:prstGeom prst="rect">
            <a:avLst/>
          </a:prstGeom>
          <a:noFill/>
        </p:spPr>
        <p:txBody>
          <a:bodyPr wrap="square">
            <a:spAutoFit/>
          </a:bodyPr>
          <a:lstStyle/>
          <a:p>
            <a:pPr algn="l">
              <a:defRPr sz="1800" b="1">
                <a:solidFill>
                  <a:srgbClr val="60A5FA"/>
                </a:solidFill>
                <a:latin typeface="Be Vietnam Pro"/>
              </a:defRPr>
            </a:pPr>
            <a:r>
              <a:t>📊 Theo dõi tiến độ</a:t>
            </a:r>
          </a:p>
        </p:txBody>
      </p:sp>
      <p:sp>
        <p:nvSpPr>
          <p:cNvPr id="5" name="TextBox 4"/>
          <p:cNvSpPr txBox="1"/>
          <p:nvPr/>
        </p:nvSpPr>
        <p:spPr>
          <a:xfrm>
            <a:off x="548640" y="1783080"/>
            <a:ext cx="5029200" cy="457200"/>
          </a:xfrm>
          <a:prstGeom prst="rect">
            <a:avLst/>
          </a:prstGeom>
          <a:noFill/>
        </p:spPr>
        <p:txBody>
          <a:bodyPr wrap="square">
            <a:spAutoFit/>
          </a:bodyPr>
          <a:lstStyle/>
          <a:p>
            <a:pPr algn="l">
              <a:defRPr sz="1150" b="0">
                <a:solidFill>
                  <a:srgbClr val="94A3B8"/>
                </a:solidFill>
                <a:latin typeface="Be Vietnam Pro"/>
              </a:defRPr>
            </a:pPr>
            <a:r>
              <a:t>✓  Phiên học tự động (bắt đầu / tạm dừng / kết thúc)</a:t>
            </a:r>
          </a:p>
        </p:txBody>
      </p:sp>
      <p:sp>
        <p:nvSpPr>
          <p:cNvPr id="6" name="TextBox 5"/>
          <p:cNvSpPr txBox="1"/>
          <p:nvPr/>
        </p:nvSpPr>
        <p:spPr>
          <a:xfrm>
            <a:off x="548640" y="2423160"/>
            <a:ext cx="5029200" cy="457200"/>
          </a:xfrm>
          <a:prstGeom prst="rect">
            <a:avLst/>
          </a:prstGeom>
          <a:noFill/>
        </p:spPr>
        <p:txBody>
          <a:bodyPr wrap="square">
            <a:spAutoFit/>
          </a:bodyPr>
          <a:lstStyle/>
          <a:p>
            <a:pPr algn="l">
              <a:defRPr sz="1150" b="0">
                <a:solidFill>
                  <a:srgbClr val="94A3B8"/>
                </a:solidFill>
                <a:latin typeface="Be Vietnam Pro"/>
              </a:defRPr>
            </a:pPr>
            <a:r>
              <a:t>✓  sendBeacon khi đóng tab — không mất dữ liệu</a:t>
            </a:r>
          </a:p>
        </p:txBody>
      </p:sp>
      <p:sp>
        <p:nvSpPr>
          <p:cNvPr id="7" name="TextBox 6"/>
          <p:cNvSpPr txBox="1"/>
          <p:nvPr/>
        </p:nvSpPr>
        <p:spPr>
          <a:xfrm>
            <a:off x="548640" y="3063239"/>
            <a:ext cx="5029200" cy="457200"/>
          </a:xfrm>
          <a:prstGeom prst="rect">
            <a:avLst/>
          </a:prstGeom>
          <a:noFill/>
        </p:spPr>
        <p:txBody>
          <a:bodyPr wrap="square">
            <a:spAutoFit/>
          </a:bodyPr>
          <a:lstStyle/>
          <a:p>
            <a:pPr algn="l">
              <a:defRPr sz="1150" b="0">
                <a:solidFill>
                  <a:srgbClr val="94A3B8"/>
                </a:solidFill>
                <a:latin typeface="Be Vietnam Pro"/>
              </a:defRPr>
            </a:pPr>
            <a:r>
              <a:t>✓  Thống kê: tổng giờ, hôm nay, tuần này, điểm TB</a:t>
            </a:r>
          </a:p>
        </p:txBody>
      </p:sp>
      <p:sp>
        <p:nvSpPr>
          <p:cNvPr id="8" name="TextBox 7"/>
          <p:cNvSpPr txBox="1"/>
          <p:nvPr/>
        </p:nvSpPr>
        <p:spPr>
          <a:xfrm>
            <a:off x="548640" y="3703320"/>
            <a:ext cx="5029200" cy="457200"/>
          </a:xfrm>
          <a:prstGeom prst="rect">
            <a:avLst/>
          </a:prstGeom>
          <a:noFill/>
        </p:spPr>
        <p:txBody>
          <a:bodyPr wrap="square">
            <a:spAutoFit/>
          </a:bodyPr>
          <a:lstStyle/>
          <a:p>
            <a:pPr algn="l">
              <a:defRPr sz="1150" b="0">
                <a:solidFill>
                  <a:srgbClr val="94A3B8"/>
                </a:solidFill>
                <a:latin typeface="Be Vietnam Pro"/>
              </a:defRPr>
            </a:pPr>
            <a:r>
              <a:t>✓  Biểu đồ cột 7 ngày học tập trực quan</a:t>
            </a:r>
          </a:p>
        </p:txBody>
      </p:sp>
      <p:sp>
        <p:nvSpPr>
          <p:cNvPr id="9" name="TextBox 8"/>
          <p:cNvSpPr txBox="1"/>
          <p:nvPr/>
        </p:nvSpPr>
        <p:spPr>
          <a:xfrm>
            <a:off x="548640" y="4343400"/>
            <a:ext cx="5029200" cy="457200"/>
          </a:xfrm>
          <a:prstGeom prst="rect">
            <a:avLst/>
          </a:prstGeom>
          <a:noFill/>
        </p:spPr>
        <p:txBody>
          <a:bodyPr wrap="square">
            <a:spAutoFit/>
          </a:bodyPr>
          <a:lstStyle/>
          <a:p>
            <a:pPr algn="l">
              <a:defRPr sz="1150" b="0">
                <a:solidFill>
                  <a:srgbClr val="94A3B8"/>
                </a:solidFill>
                <a:latin typeface="Be Vietnam Pro"/>
              </a:defRPr>
            </a:pPr>
            <a:r>
              <a:t>✓  Bảng xếp hạng: tuần / tháng / tất cả</a:t>
            </a:r>
          </a:p>
        </p:txBody>
      </p:sp>
      <p:sp>
        <p:nvSpPr>
          <p:cNvPr id="10" name="TextBox 9"/>
          <p:cNvSpPr txBox="1"/>
          <p:nvPr/>
        </p:nvSpPr>
        <p:spPr>
          <a:xfrm>
            <a:off x="548640" y="4983480"/>
            <a:ext cx="5029200" cy="457200"/>
          </a:xfrm>
          <a:prstGeom prst="rect">
            <a:avLst/>
          </a:prstGeom>
          <a:noFill/>
        </p:spPr>
        <p:txBody>
          <a:bodyPr wrap="square">
            <a:spAutoFit/>
          </a:bodyPr>
          <a:lstStyle/>
          <a:p>
            <a:pPr algn="l">
              <a:defRPr sz="1150" b="0">
                <a:solidFill>
                  <a:srgbClr val="94A3B8"/>
                </a:solidFill>
                <a:latin typeface="Be Vietnam Pro"/>
              </a:defRPr>
            </a:pPr>
            <a:r>
              <a:t>✓  Mục tiêu học tập: 2 giờ/ngày, 10 giờ/tuần</a:t>
            </a:r>
          </a:p>
        </p:txBody>
      </p:sp>
      <p:sp>
        <p:nvSpPr>
          <p:cNvPr id="11" name="Rounded Rectangle 10"/>
          <p:cNvSpPr/>
          <p:nvPr/>
        </p:nvSpPr>
        <p:spPr>
          <a:xfrm>
            <a:off x="6309360" y="1097280"/>
            <a:ext cx="5577840" cy="475488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234440"/>
            <a:ext cx="5029200" cy="365760"/>
          </a:xfrm>
          <a:prstGeom prst="rect">
            <a:avLst/>
          </a:prstGeom>
          <a:noFill/>
        </p:spPr>
        <p:txBody>
          <a:bodyPr wrap="square">
            <a:spAutoFit/>
          </a:bodyPr>
          <a:lstStyle/>
          <a:p>
            <a:pPr algn="l">
              <a:defRPr sz="1800" b="1">
                <a:solidFill>
                  <a:srgbClr val="A78BFA"/>
                </a:solidFill>
                <a:latin typeface="Be Vietnam Pro"/>
              </a:defRPr>
            </a:pPr>
            <a:r>
              <a:t>🎯 Chẩn đoán điểm yếu</a:t>
            </a:r>
          </a:p>
        </p:txBody>
      </p:sp>
      <p:sp>
        <p:nvSpPr>
          <p:cNvPr id="13" name="TextBox 12"/>
          <p:cNvSpPr txBox="1"/>
          <p:nvPr/>
        </p:nvSpPr>
        <p:spPr>
          <a:xfrm>
            <a:off x="6583680" y="1783080"/>
            <a:ext cx="5029200" cy="457200"/>
          </a:xfrm>
          <a:prstGeom prst="rect">
            <a:avLst/>
          </a:prstGeom>
          <a:noFill/>
        </p:spPr>
        <p:txBody>
          <a:bodyPr wrap="square">
            <a:spAutoFit/>
          </a:bodyPr>
          <a:lstStyle/>
          <a:p>
            <a:pPr algn="l">
              <a:defRPr sz="1150" b="0">
                <a:solidFill>
                  <a:srgbClr val="94A3B8"/>
                </a:solidFill>
                <a:latin typeface="Be Vietnam Pro"/>
              </a:defRPr>
            </a:pPr>
            <a:r>
              <a:t>✓  Tự động ghi nhận khi trả lời sai / điểm thấp</a:t>
            </a:r>
          </a:p>
        </p:txBody>
      </p:sp>
      <p:sp>
        <p:nvSpPr>
          <p:cNvPr id="14" name="TextBox 13"/>
          <p:cNvSpPr txBox="1"/>
          <p:nvPr/>
        </p:nvSpPr>
        <p:spPr>
          <a:xfrm>
            <a:off x="6583680" y="2423160"/>
            <a:ext cx="5029200" cy="457200"/>
          </a:xfrm>
          <a:prstGeom prst="rect">
            <a:avLst/>
          </a:prstGeom>
          <a:noFill/>
        </p:spPr>
        <p:txBody>
          <a:bodyPr wrap="square">
            <a:spAutoFit/>
          </a:bodyPr>
          <a:lstStyle/>
          <a:p>
            <a:pPr algn="l">
              <a:defRPr sz="1150" b="0">
                <a:solidFill>
                  <a:srgbClr val="94A3B8"/>
                </a:solidFill>
                <a:latin typeface="Be Vietnam Pro"/>
              </a:defRPr>
            </a:pPr>
            <a:r>
              <a:t>✓  Gom nhóm thông minh theo bài học + chủ đề</a:t>
            </a:r>
          </a:p>
        </p:txBody>
      </p:sp>
      <p:sp>
        <p:nvSpPr>
          <p:cNvPr id="15" name="TextBox 14"/>
          <p:cNvSpPr txBox="1"/>
          <p:nvPr/>
        </p:nvSpPr>
        <p:spPr>
          <a:xfrm>
            <a:off x="6583680" y="3063239"/>
            <a:ext cx="5029200" cy="457200"/>
          </a:xfrm>
          <a:prstGeom prst="rect">
            <a:avLst/>
          </a:prstGeom>
          <a:noFill/>
        </p:spPr>
        <p:txBody>
          <a:bodyPr wrap="square">
            <a:spAutoFit/>
          </a:bodyPr>
          <a:lstStyle/>
          <a:p>
            <a:pPr algn="l">
              <a:defRPr sz="1150" b="0">
                <a:solidFill>
                  <a:srgbClr val="94A3B8"/>
                </a:solidFill>
                <a:latin typeface="Be Vietnam Pro"/>
              </a:defRPr>
            </a:pPr>
            <a:r>
              <a:t>✓  Tự động cải thiện khi học sinh trả lời đúng</a:t>
            </a:r>
          </a:p>
        </p:txBody>
      </p:sp>
      <p:sp>
        <p:nvSpPr>
          <p:cNvPr id="16" name="TextBox 15"/>
          <p:cNvSpPr txBox="1"/>
          <p:nvPr/>
        </p:nvSpPr>
        <p:spPr>
          <a:xfrm>
            <a:off x="6583680" y="3703320"/>
            <a:ext cx="5029200" cy="457200"/>
          </a:xfrm>
          <a:prstGeom prst="rect">
            <a:avLst/>
          </a:prstGeom>
          <a:noFill/>
        </p:spPr>
        <p:txBody>
          <a:bodyPr wrap="square">
            <a:spAutoFit/>
          </a:bodyPr>
          <a:lstStyle/>
          <a:p>
            <a:pPr algn="l">
              <a:defRPr sz="1150" b="0">
                <a:solidFill>
                  <a:srgbClr val="94A3B8"/>
                </a:solidFill>
                <a:latin typeface="Be Vietnam Pro"/>
              </a:defRPr>
            </a:pPr>
            <a:r>
              <a:t>✓  AI tạo bài tập cải thiện riêng cho từng điểm yếu</a:t>
            </a:r>
          </a:p>
        </p:txBody>
      </p:sp>
      <p:sp>
        <p:nvSpPr>
          <p:cNvPr id="17" name="TextBox 16"/>
          <p:cNvSpPr txBox="1"/>
          <p:nvPr/>
        </p:nvSpPr>
        <p:spPr>
          <a:xfrm>
            <a:off x="6583680" y="4343400"/>
            <a:ext cx="5029200" cy="457200"/>
          </a:xfrm>
          <a:prstGeom prst="rect">
            <a:avLst/>
          </a:prstGeom>
          <a:noFill/>
        </p:spPr>
        <p:txBody>
          <a:bodyPr wrap="square">
            <a:spAutoFit/>
          </a:bodyPr>
          <a:lstStyle/>
          <a:p>
            <a:pPr algn="l">
              <a:defRPr sz="1150" b="0">
                <a:solidFill>
                  <a:srgbClr val="94A3B8"/>
                </a:solidFill>
                <a:latin typeface="Be Vietnam Pro"/>
              </a:defRPr>
            </a:pPr>
            <a:r>
              <a:t>✓  Giáo viên thêm ghi chú coach cho học sinh</a:t>
            </a:r>
          </a:p>
        </p:txBody>
      </p:sp>
      <p:sp>
        <p:nvSpPr>
          <p:cNvPr id="18" name="TextBox 17"/>
          <p:cNvSpPr txBox="1"/>
          <p:nvPr/>
        </p:nvSpPr>
        <p:spPr>
          <a:xfrm>
            <a:off x="6583680" y="4983480"/>
            <a:ext cx="5029200" cy="457200"/>
          </a:xfrm>
          <a:prstGeom prst="rect">
            <a:avLst/>
          </a:prstGeom>
          <a:noFill/>
        </p:spPr>
        <p:txBody>
          <a:bodyPr wrap="square">
            <a:spAutoFit/>
          </a:bodyPr>
          <a:lstStyle/>
          <a:p>
            <a:pPr algn="l">
              <a:defRPr sz="1150" b="0">
                <a:solidFill>
                  <a:srgbClr val="94A3B8"/>
                </a:solidFill>
                <a:latin typeface="Be Vietnam Pro"/>
              </a:defRPr>
            </a:pPr>
            <a:r>
              <a:t>✓  Dashboard trực quan — biết ngay cần ôn gì</a:t>
            </a:r>
          </a:p>
        </p:txBody>
      </p:sp>
      <p:sp>
        <p:nvSpPr>
          <p:cNvPr id="19" name="TextBox 18"/>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14/27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0" y="1371600"/>
            <a:ext cx="12191695" cy="2743200"/>
          </a:xfrm>
          <a:prstGeom prst="rect">
            <a:avLst/>
          </a:prstGeom>
          <a:noFill/>
        </p:spPr>
        <p:txBody>
          <a:bodyPr wrap="square">
            <a:spAutoFit/>
          </a:bodyPr>
          <a:lstStyle/>
          <a:p>
            <a:pPr algn="ctr">
              <a:defRPr sz="14000" b="1">
                <a:solidFill>
                  <a:srgbClr val="0D1530"/>
                </a:solidFill>
                <a:latin typeface="Be Vietnam Pro"/>
              </a:defRPr>
            </a:pPr>
            <a:r>
              <a:t>07</a:t>
            </a:r>
          </a:p>
        </p:txBody>
      </p:sp>
      <p:sp>
        <p:nvSpPr>
          <p:cNvPr id="3" name="TextBox 2"/>
          <p:cNvSpPr txBox="1"/>
          <p:nvPr/>
        </p:nvSpPr>
        <p:spPr>
          <a:xfrm>
            <a:off x="0" y="2560320"/>
            <a:ext cx="12191695" cy="914400"/>
          </a:xfrm>
          <a:prstGeom prst="rect">
            <a:avLst/>
          </a:prstGeom>
          <a:noFill/>
        </p:spPr>
        <p:txBody>
          <a:bodyPr wrap="square">
            <a:spAutoFit/>
          </a:bodyPr>
          <a:lstStyle/>
          <a:p>
            <a:pPr algn="ctr">
              <a:defRPr sz="4400" b="1">
                <a:solidFill>
                  <a:srgbClr val="F8FAFC"/>
                </a:solidFill>
                <a:latin typeface="Be Vietnam Pro"/>
              </a:defRPr>
            </a:pPr>
            <a:r>
              <a:t>Công nghệ sử dụng</a:t>
            </a:r>
          </a:p>
        </p:txBody>
      </p:sp>
      <p:sp>
        <p:nvSpPr>
          <p:cNvPr id="4" name="TextBox 3"/>
          <p:cNvSpPr txBox="1"/>
          <p:nvPr/>
        </p:nvSpPr>
        <p:spPr>
          <a:xfrm>
            <a:off x="1828800" y="3657600"/>
            <a:ext cx="8503920" cy="914400"/>
          </a:xfrm>
          <a:prstGeom prst="rect">
            <a:avLst/>
          </a:prstGeom>
          <a:noFill/>
        </p:spPr>
        <p:txBody>
          <a:bodyPr wrap="square">
            <a:spAutoFit/>
          </a:bodyPr>
          <a:lstStyle/>
          <a:p>
            <a:pPr algn="ctr">
              <a:defRPr sz="1800" b="0">
                <a:solidFill>
                  <a:srgbClr val="94A3B8"/>
                </a:solidFill>
                <a:latin typeface="Be Vietnam Pro"/>
              </a:defRPr>
            </a:pPr>
            <a:r>
              <a:t>Kiến trúc hiện đại, hiệu năng cao, dễ mở rộng — sẵn sàng cho quy mô toàn quốc</a:t>
            </a:r>
          </a:p>
        </p:txBody>
      </p:sp>
      <p:sp>
        <p:nvSpPr>
          <p:cNvPr id="5" name="TextBox 4"/>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15/27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914400" y="137160"/>
            <a:ext cx="10332720" cy="640080"/>
          </a:xfrm>
          <a:prstGeom prst="rect">
            <a:avLst/>
          </a:prstGeom>
          <a:noFill/>
        </p:spPr>
        <p:txBody>
          <a:bodyPr wrap="square">
            <a:spAutoFit/>
          </a:bodyPr>
          <a:lstStyle/>
          <a:p>
            <a:pPr algn="ctr">
              <a:defRPr sz="3200" b="1">
                <a:solidFill>
                  <a:srgbClr val="F8FAFC"/>
                </a:solidFill>
                <a:latin typeface="Be Vietnam Pro"/>
              </a:defRPr>
            </a:pPr>
            <a:r>
              <a:t>Kiến trúc công nghệ hiện đại</a:t>
            </a:r>
          </a:p>
        </p:txBody>
      </p:sp>
      <p:sp>
        <p:nvSpPr>
          <p:cNvPr id="3" name="Rounded Rectangle 2"/>
          <p:cNvSpPr/>
          <p:nvPr/>
        </p:nvSpPr>
        <p:spPr>
          <a:xfrm>
            <a:off x="457200" y="1097280"/>
            <a:ext cx="1783080" cy="18288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783080" cy="548640"/>
          </a:xfrm>
          <a:prstGeom prst="rect">
            <a:avLst/>
          </a:prstGeom>
          <a:noFill/>
        </p:spPr>
        <p:txBody>
          <a:bodyPr wrap="square">
            <a:spAutoFit/>
          </a:bodyPr>
          <a:lstStyle/>
          <a:p>
            <a:pPr algn="ctr">
              <a:defRPr sz="1300" b="1">
                <a:solidFill>
                  <a:srgbClr val="F8FAFC"/>
                </a:solidFill>
                <a:latin typeface="Be Vietnam Pro"/>
              </a:defRPr>
            </a:pPr>
            <a:r>
              <a:t>Trang web</a:t>
            </a:r>
          </a:p>
        </p:txBody>
      </p:sp>
      <p:sp>
        <p:nvSpPr>
          <p:cNvPr id="5" name="TextBox 4"/>
          <p:cNvSpPr txBox="1"/>
          <p:nvPr/>
        </p:nvSpPr>
        <p:spPr>
          <a:xfrm>
            <a:off x="457200" y="2011680"/>
            <a:ext cx="1783080" cy="365760"/>
          </a:xfrm>
          <a:prstGeom prst="rect">
            <a:avLst/>
          </a:prstGeom>
          <a:noFill/>
        </p:spPr>
        <p:txBody>
          <a:bodyPr wrap="square">
            <a:spAutoFit/>
          </a:bodyPr>
          <a:lstStyle/>
          <a:p>
            <a:pPr algn="ctr">
              <a:defRPr sz="900" b="0">
                <a:solidFill>
                  <a:srgbClr val="64748B"/>
                </a:solidFill>
                <a:latin typeface="Be Vietnam Pro"/>
              </a:defRPr>
            </a:pPr>
            <a:r>
              <a:t>Hiện đại, nhanh</a:t>
            </a:r>
          </a:p>
        </p:txBody>
      </p:sp>
      <p:sp>
        <p:nvSpPr>
          <p:cNvPr id="6" name="Rounded Rectangle 5"/>
          <p:cNvSpPr/>
          <p:nvPr/>
        </p:nvSpPr>
        <p:spPr>
          <a:xfrm>
            <a:off x="2423160" y="1097280"/>
            <a:ext cx="1783080" cy="18288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23160" y="1371600"/>
            <a:ext cx="1783080" cy="548640"/>
          </a:xfrm>
          <a:prstGeom prst="rect">
            <a:avLst/>
          </a:prstGeom>
          <a:noFill/>
        </p:spPr>
        <p:txBody>
          <a:bodyPr wrap="square">
            <a:spAutoFit/>
          </a:bodyPr>
          <a:lstStyle/>
          <a:p>
            <a:pPr algn="ctr">
              <a:defRPr sz="1300" b="1">
                <a:solidFill>
                  <a:srgbClr val="F8FAFC"/>
                </a:solidFill>
                <a:latin typeface="Be Vietnam Pro"/>
              </a:defRPr>
            </a:pPr>
            <a:r>
              <a:t>Máy chủ</a:t>
            </a:r>
          </a:p>
        </p:txBody>
      </p:sp>
      <p:sp>
        <p:nvSpPr>
          <p:cNvPr id="8" name="TextBox 7"/>
          <p:cNvSpPr txBox="1"/>
          <p:nvPr/>
        </p:nvSpPr>
        <p:spPr>
          <a:xfrm>
            <a:off x="2423160" y="2011680"/>
            <a:ext cx="1783080" cy="365760"/>
          </a:xfrm>
          <a:prstGeom prst="rect">
            <a:avLst/>
          </a:prstGeom>
          <a:noFill/>
        </p:spPr>
        <p:txBody>
          <a:bodyPr wrap="square">
            <a:spAutoFit/>
          </a:bodyPr>
          <a:lstStyle/>
          <a:p>
            <a:pPr algn="ctr">
              <a:defRPr sz="900" b="0">
                <a:solidFill>
                  <a:srgbClr val="64748B"/>
                </a:solidFill>
                <a:latin typeface="Be Vietnam Pro"/>
              </a:defRPr>
            </a:pPr>
            <a:r>
              <a:t>Mạnh mẽ, ổn định</a:t>
            </a:r>
          </a:p>
        </p:txBody>
      </p:sp>
      <p:sp>
        <p:nvSpPr>
          <p:cNvPr id="9" name="Rounded Rectangle 8"/>
          <p:cNvSpPr/>
          <p:nvPr/>
        </p:nvSpPr>
        <p:spPr>
          <a:xfrm>
            <a:off x="4389120" y="1097280"/>
            <a:ext cx="1783080" cy="18288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1371600"/>
            <a:ext cx="1783080" cy="548640"/>
          </a:xfrm>
          <a:prstGeom prst="rect">
            <a:avLst/>
          </a:prstGeom>
          <a:noFill/>
        </p:spPr>
        <p:txBody>
          <a:bodyPr wrap="square">
            <a:spAutoFit/>
          </a:bodyPr>
          <a:lstStyle/>
          <a:p>
            <a:pPr algn="ctr">
              <a:defRPr sz="1300" b="1">
                <a:solidFill>
                  <a:srgbClr val="F8FAFC"/>
                </a:solidFill>
                <a:latin typeface="Be Vietnam Pro"/>
              </a:defRPr>
            </a:pPr>
            <a:r>
              <a:t>Cơ sở dữ liệu</a:t>
            </a:r>
          </a:p>
        </p:txBody>
      </p:sp>
      <p:sp>
        <p:nvSpPr>
          <p:cNvPr id="11" name="TextBox 10"/>
          <p:cNvSpPr txBox="1"/>
          <p:nvPr/>
        </p:nvSpPr>
        <p:spPr>
          <a:xfrm>
            <a:off x="4389120" y="2011680"/>
            <a:ext cx="1783080" cy="365760"/>
          </a:xfrm>
          <a:prstGeom prst="rect">
            <a:avLst/>
          </a:prstGeom>
          <a:noFill/>
        </p:spPr>
        <p:txBody>
          <a:bodyPr wrap="square">
            <a:spAutoFit/>
          </a:bodyPr>
          <a:lstStyle/>
          <a:p>
            <a:pPr algn="ctr">
              <a:defRPr sz="900" b="0">
                <a:solidFill>
                  <a:srgbClr val="64748B"/>
                </a:solidFill>
                <a:latin typeface="Be Vietnam Pro"/>
              </a:defRPr>
            </a:pPr>
            <a:r>
              <a:t>Lưu trữ an toàn</a:t>
            </a:r>
          </a:p>
        </p:txBody>
      </p:sp>
      <p:sp>
        <p:nvSpPr>
          <p:cNvPr id="12" name="Rounded Rectangle 11"/>
          <p:cNvSpPr/>
          <p:nvPr/>
        </p:nvSpPr>
        <p:spPr>
          <a:xfrm>
            <a:off x="6355079" y="1097280"/>
            <a:ext cx="1783080" cy="18288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79" y="1371600"/>
            <a:ext cx="1783080" cy="548640"/>
          </a:xfrm>
          <a:prstGeom prst="rect">
            <a:avLst/>
          </a:prstGeom>
          <a:noFill/>
        </p:spPr>
        <p:txBody>
          <a:bodyPr wrap="square">
            <a:spAutoFit/>
          </a:bodyPr>
          <a:lstStyle/>
          <a:p>
            <a:pPr algn="ctr">
              <a:defRPr sz="1300" b="1">
                <a:solidFill>
                  <a:srgbClr val="F8FAFC"/>
                </a:solidFill>
                <a:latin typeface="Be Vietnam Pro"/>
              </a:defRPr>
            </a:pPr>
            <a:r>
              <a:t>Bảo mật</a:t>
            </a:r>
          </a:p>
        </p:txBody>
      </p:sp>
      <p:sp>
        <p:nvSpPr>
          <p:cNvPr id="14" name="TextBox 13"/>
          <p:cNvSpPr txBox="1"/>
          <p:nvPr/>
        </p:nvSpPr>
        <p:spPr>
          <a:xfrm>
            <a:off x="6355079" y="2011680"/>
            <a:ext cx="1783080" cy="365760"/>
          </a:xfrm>
          <a:prstGeom prst="rect">
            <a:avLst/>
          </a:prstGeom>
          <a:noFill/>
        </p:spPr>
        <p:txBody>
          <a:bodyPr wrap="square">
            <a:spAutoFit/>
          </a:bodyPr>
          <a:lstStyle/>
          <a:p>
            <a:pPr algn="ctr">
              <a:defRPr sz="900" b="0">
                <a:solidFill>
                  <a:srgbClr val="64748B"/>
                </a:solidFill>
                <a:latin typeface="Be Vietnam Pro"/>
              </a:defRPr>
            </a:pPr>
            <a:r>
              <a:t>Đăng nhập &amp; phân quyền</a:t>
            </a:r>
          </a:p>
        </p:txBody>
      </p:sp>
      <p:sp>
        <p:nvSpPr>
          <p:cNvPr id="15" name="Rounded Rectangle 14"/>
          <p:cNvSpPr/>
          <p:nvPr/>
        </p:nvSpPr>
        <p:spPr>
          <a:xfrm>
            <a:off x="8321040" y="1097280"/>
            <a:ext cx="1783080" cy="18288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371600"/>
            <a:ext cx="1783080" cy="548640"/>
          </a:xfrm>
          <a:prstGeom prst="rect">
            <a:avLst/>
          </a:prstGeom>
          <a:noFill/>
        </p:spPr>
        <p:txBody>
          <a:bodyPr wrap="square">
            <a:spAutoFit/>
          </a:bodyPr>
          <a:lstStyle/>
          <a:p>
            <a:pPr algn="ctr">
              <a:defRPr sz="1300" b="1">
                <a:solidFill>
                  <a:srgbClr val="F8FAFC"/>
                </a:solidFill>
                <a:latin typeface="Be Vietnam Pro"/>
              </a:defRPr>
            </a:pPr>
            <a:r>
              <a:t>Đám mây</a:t>
            </a:r>
          </a:p>
        </p:txBody>
      </p:sp>
      <p:sp>
        <p:nvSpPr>
          <p:cNvPr id="17" name="TextBox 16"/>
          <p:cNvSpPr txBox="1"/>
          <p:nvPr/>
        </p:nvSpPr>
        <p:spPr>
          <a:xfrm>
            <a:off x="8321040" y="2011680"/>
            <a:ext cx="1783080" cy="365760"/>
          </a:xfrm>
          <a:prstGeom prst="rect">
            <a:avLst/>
          </a:prstGeom>
          <a:noFill/>
        </p:spPr>
        <p:txBody>
          <a:bodyPr wrap="square">
            <a:spAutoFit/>
          </a:bodyPr>
          <a:lstStyle/>
          <a:p>
            <a:pPr algn="ctr">
              <a:defRPr sz="900" b="0">
                <a:solidFill>
                  <a:srgbClr val="64748B"/>
                </a:solidFill>
                <a:latin typeface="Be Vietnam Pro"/>
              </a:defRPr>
            </a:pPr>
            <a:r>
              <a:t>Lưu trữ tài liệu</a:t>
            </a:r>
          </a:p>
        </p:txBody>
      </p:sp>
      <p:sp>
        <p:nvSpPr>
          <p:cNvPr id="18" name="Rounded Rectangle 17"/>
          <p:cNvSpPr/>
          <p:nvPr/>
        </p:nvSpPr>
        <p:spPr>
          <a:xfrm>
            <a:off x="10287000" y="1097280"/>
            <a:ext cx="1783080" cy="18288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87000" y="1371600"/>
            <a:ext cx="1783080" cy="548640"/>
          </a:xfrm>
          <a:prstGeom prst="rect">
            <a:avLst/>
          </a:prstGeom>
          <a:noFill/>
        </p:spPr>
        <p:txBody>
          <a:bodyPr wrap="square">
            <a:spAutoFit/>
          </a:bodyPr>
          <a:lstStyle/>
          <a:p>
            <a:pPr algn="ctr">
              <a:defRPr sz="1300" b="1">
                <a:solidFill>
                  <a:srgbClr val="F8FAFC"/>
                </a:solidFill>
                <a:latin typeface="Be Vietnam Pro"/>
              </a:defRPr>
            </a:pPr>
            <a:r>
              <a:t>Trí tuệ nhân tạo</a:t>
            </a:r>
          </a:p>
        </p:txBody>
      </p:sp>
      <p:sp>
        <p:nvSpPr>
          <p:cNvPr id="20" name="TextBox 19"/>
          <p:cNvSpPr txBox="1"/>
          <p:nvPr/>
        </p:nvSpPr>
        <p:spPr>
          <a:xfrm>
            <a:off x="10287000" y="2011680"/>
            <a:ext cx="1783080" cy="365760"/>
          </a:xfrm>
          <a:prstGeom prst="rect">
            <a:avLst/>
          </a:prstGeom>
          <a:noFill/>
        </p:spPr>
        <p:txBody>
          <a:bodyPr wrap="square">
            <a:spAutoFit/>
          </a:bodyPr>
          <a:lstStyle/>
          <a:p>
            <a:pPr algn="ctr">
              <a:defRPr sz="900" b="0">
                <a:solidFill>
                  <a:srgbClr val="64748B"/>
                </a:solidFill>
                <a:latin typeface="Be Vietnam Pro"/>
              </a:defRPr>
            </a:pPr>
            <a:r>
              <a:t>AI thông minh</a:t>
            </a:r>
          </a:p>
        </p:txBody>
      </p:sp>
      <p:sp>
        <p:nvSpPr>
          <p:cNvPr id="21" name="Rounded Rectangle 20"/>
          <p:cNvSpPr/>
          <p:nvPr/>
        </p:nvSpPr>
        <p:spPr>
          <a:xfrm>
            <a:off x="457200" y="3291839"/>
            <a:ext cx="1783080" cy="18288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566159"/>
            <a:ext cx="1783080" cy="548640"/>
          </a:xfrm>
          <a:prstGeom prst="rect">
            <a:avLst/>
          </a:prstGeom>
          <a:noFill/>
        </p:spPr>
        <p:txBody>
          <a:bodyPr wrap="square">
            <a:spAutoFit/>
          </a:bodyPr>
          <a:lstStyle/>
          <a:p>
            <a:pPr algn="ctr">
              <a:defRPr sz="1300" b="1">
                <a:solidFill>
                  <a:srgbClr val="F8FAFC"/>
                </a:solidFill>
                <a:latin typeface="Be Vietnam Pro"/>
              </a:defRPr>
            </a:pPr>
            <a:r>
              <a:t>Giao diện</a:t>
            </a:r>
          </a:p>
        </p:txBody>
      </p:sp>
      <p:sp>
        <p:nvSpPr>
          <p:cNvPr id="23" name="TextBox 22"/>
          <p:cNvSpPr txBox="1"/>
          <p:nvPr/>
        </p:nvSpPr>
        <p:spPr>
          <a:xfrm>
            <a:off x="457200" y="4206240"/>
            <a:ext cx="1783080" cy="365760"/>
          </a:xfrm>
          <a:prstGeom prst="rect">
            <a:avLst/>
          </a:prstGeom>
          <a:noFill/>
        </p:spPr>
        <p:txBody>
          <a:bodyPr wrap="square">
            <a:spAutoFit/>
          </a:bodyPr>
          <a:lstStyle/>
          <a:p>
            <a:pPr algn="ctr">
              <a:defRPr sz="900" b="0">
                <a:solidFill>
                  <a:srgbClr val="64748B"/>
                </a:solidFill>
                <a:latin typeface="Be Vietnam Pro"/>
              </a:defRPr>
            </a:pPr>
            <a:r>
              <a:t>Đẹp, dễ dùng</a:t>
            </a:r>
          </a:p>
        </p:txBody>
      </p:sp>
      <p:sp>
        <p:nvSpPr>
          <p:cNvPr id="24" name="Rounded Rectangle 23"/>
          <p:cNvSpPr/>
          <p:nvPr/>
        </p:nvSpPr>
        <p:spPr>
          <a:xfrm>
            <a:off x="2423160" y="3291839"/>
            <a:ext cx="1783080" cy="18288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23160" y="3566159"/>
            <a:ext cx="1783080" cy="548640"/>
          </a:xfrm>
          <a:prstGeom prst="rect">
            <a:avLst/>
          </a:prstGeom>
          <a:noFill/>
        </p:spPr>
        <p:txBody>
          <a:bodyPr wrap="square">
            <a:spAutoFit/>
          </a:bodyPr>
          <a:lstStyle/>
          <a:p>
            <a:pPr algn="ctr">
              <a:defRPr sz="1300" b="1">
                <a:solidFill>
                  <a:srgbClr val="F8FAFC"/>
                </a:solidFill>
                <a:latin typeface="Be Vietnam Pro"/>
              </a:defRPr>
            </a:pPr>
            <a:r>
              <a:t>Mọi thiết bị</a:t>
            </a:r>
          </a:p>
        </p:txBody>
      </p:sp>
      <p:sp>
        <p:nvSpPr>
          <p:cNvPr id="26" name="TextBox 25"/>
          <p:cNvSpPr txBox="1"/>
          <p:nvPr/>
        </p:nvSpPr>
        <p:spPr>
          <a:xfrm>
            <a:off x="2423160" y="4206240"/>
            <a:ext cx="1783080" cy="365760"/>
          </a:xfrm>
          <a:prstGeom prst="rect">
            <a:avLst/>
          </a:prstGeom>
          <a:noFill/>
        </p:spPr>
        <p:txBody>
          <a:bodyPr wrap="square">
            <a:spAutoFit/>
          </a:bodyPr>
          <a:lstStyle/>
          <a:p>
            <a:pPr algn="ctr">
              <a:defRPr sz="900" b="0">
                <a:solidFill>
                  <a:srgbClr val="64748B"/>
                </a:solidFill>
                <a:latin typeface="Be Vietnam Pro"/>
              </a:defRPr>
            </a:pPr>
            <a:r>
              <a:t>Điện thoại, máy tính</a:t>
            </a:r>
          </a:p>
        </p:txBody>
      </p:sp>
      <p:sp>
        <p:nvSpPr>
          <p:cNvPr id="27" name="TextBox 26"/>
          <p:cNvSpPr txBox="1"/>
          <p:nvPr/>
        </p:nvSpPr>
        <p:spPr>
          <a:xfrm>
            <a:off x="457200" y="5852160"/>
            <a:ext cx="11247120" cy="365760"/>
          </a:xfrm>
          <a:prstGeom prst="rect">
            <a:avLst/>
          </a:prstGeom>
          <a:noFill/>
        </p:spPr>
        <p:txBody>
          <a:bodyPr wrap="square">
            <a:spAutoFit/>
          </a:bodyPr>
          <a:lstStyle/>
          <a:p>
            <a:pPr algn="ctr">
              <a:defRPr sz="1100" b="0">
                <a:solidFill>
                  <a:srgbClr val="64748B"/>
                </a:solidFill>
                <a:latin typeface="Be Vietnam Pro"/>
              </a:defRPr>
            </a:pPr>
            <a:r>
              <a:t>Toàn bộ giao diện tiếng Việt • Dùng được trên mọi thiết bị • Hoạt động 24/7</a:t>
            </a:r>
          </a:p>
        </p:txBody>
      </p:sp>
      <p:sp>
        <p:nvSpPr>
          <p:cNvPr id="28" name="TextBox 27"/>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16/27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1371600" y="137160"/>
            <a:ext cx="9418320" cy="640080"/>
          </a:xfrm>
          <a:prstGeom prst="rect">
            <a:avLst/>
          </a:prstGeom>
          <a:noFill/>
        </p:spPr>
        <p:txBody>
          <a:bodyPr wrap="square">
            <a:spAutoFit/>
          </a:bodyPr>
          <a:lstStyle/>
          <a:p>
            <a:pPr algn="ctr">
              <a:defRPr sz="3200" b="1">
                <a:solidFill>
                  <a:srgbClr val="F8FAFC"/>
                </a:solidFill>
                <a:latin typeface="Be Vietnam Pro"/>
              </a:defRPr>
            </a:pPr>
            <a:r>
              <a:t>Kiến trúc hệ thống</a:t>
            </a:r>
          </a:p>
        </p:txBody>
      </p:sp>
      <p:sp>
        <p:nvSpPr>
          <p:cNvPr id="3" name="Rounded Rectangle 2"/>
          <p:cNvSpPr/>
          <p:nvPr/>
        </p:nvSpPr>
        <p:spPr>
          <a:xfrm>
            <a:off x="1371600" y="1005840"/>
            <a:ext cx="9418320" cy="7315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08760" y="1051560"/>
            <a:ext cx="9144000" cy="640080"/>
          </a:xfrm>
          <a:prstGeom prst="rect">
            <a:avLst/>
          </a:prstGeom>
          <a:noFill/>
        </p:spPr>
        <p:txBody>
          <a:bodyPr wrap="square">
            <a:spAutoFit/>
          </a:bodyPr>
          <a:lstStyle/>
          <a:p>
            <a:pPr algn="ctr">
              <a:defRPr sz="1200" b="0">
                <a:solidFill>
                  <a:srgbClr val="F8FAFC"/>
                </a:solidFill>
                <a:latin typeface="Be Vietnam Pro"/>
              </a:defRPr>
            </a:pPr>
            <a:r>
              <a:t>🖥️📱  Client  —  Next.js 16 · React 19 · Tailwind CSS 4</a:t>
            </a:r>
          </a:p>
        </p:txBody>
      </p:sp>
      <p:sp>
        <p:nvSpPr>
          <p:cNvPr id="5" name="Rounded Rectangle 4"/>
          <p:cNvSpPr/>
          <p:nvPr/>
        </p:nvSpPr>
        <p:spPr>
          <a:xfrm>
            <a:off x="1371600" y="1965960"/>
            <a:ext cx="9418320" cy="7315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2011679"/>
            <a:ext cx="9144000" cy="640080"/>
          </a:xfrm>
          <a:prstGeom prst="rect">
            <a:avLst/>
          </a:prstGeom>
          <a:noFill/>
        </p:spPr>
        <p:txBody>
          <a:bodyPr wrap="square">
            <a:spAutoFit/>
          </a:bodyPr>
          <a:lstStyle/>
          <a:p>
            <a:pPr algn="ctr">
              <a:defRPr sz="1200" b="0">
                <a:solidFill>
                  <a:srgbClr val="F8FAFC"/>
                </a:solidFill>
                <a:latin typeface="Be Vietnam Pro"/>
              </a:defRPr>
            </a:pPr>
            <a:r>
              <a:t>▲  Vercel  —  Hosting Frontend + API Proxy</a:t>
            </a:r>
          </a:p>
        </p:txBody>
      </p:sp>
      <p:sp>
        <p:nvSpPr>
          <p:cNvPr id="7" name="Rounded Rectangle 6"/>
          <p:cNvSpPr/>
          <p:nvPr/>
        </p:nvSpPr>
        <p:spPr>
          <a:xfrm>
            <a:off x="1371600" y="3108960"/>
            <a:ext cx="2834640" cy="9144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3154679"/>
            <a:ext cx="2560320" cy="822960"/>
          </a:xfrm>
          <a:prstGeom prst="rect">
            <a:avLst/>
          </a:prstGeom>
          <a:noFill/>
        </p:spPr>
        <p:txBody>
          <a:bodyPr wrap="square">
            <a:spAutoFit/>
          </a:bodyPr>
          <a:lstStyle/>
          <a:p>
            <a:pPr algn="ctr">
              <a:defRPr sz="1200" b="0">
                <a:solidFill>
                  <a:srgbClr val="F8FAFC"/>
                </a:solidFill>
                <a:latin typeface="Be Vietnam Pro"/>
              </a:defRPr>
            </a:pPr>
            <a:r>
              <a:t>⚙️ Go Backend</a:t>
            </a:r>
            <a:br/>
            <a:r>
              <a:t>Chi Router · GORM · JWT</a:t>
            </a:r>
          </a:p>
        </p:txBody>
      </p:sp>
      <p:sp>
        <p:nvSpPr>
          <p:cNvPr id="9" name="Rounded Rectangle 8"/>
          <p:cNvSpPr/>
          <p:nvPr/>
        </p:nvSpPr>
        <p:spPr>
          <a:xfrm>
            <a:off x="4663440" y="3108960"/>
            <a:ext cx="2834640" cy="9144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3154679"/>
            <a:ext cx="2560320" cy="822960"/>
          </a:xfrm>
          <a:prstGeom prst="rect">
            <a:avLst/>
          </a:prstGeom>
          <a:noFill/>
        </p:spPr>
        <p:txBody>
          <a:bodyPr wrap="square">
            <a:spAutoFit/>
          </a:bodyPr>
          <a:lstStyle/>
          <a:p>
            <a:pPr algn="ctr">
              <a:defRPr sz="1200" b="0">
                <a:solidFill>
                  <a:srgbClr val="F8FAFC"/>
                </a:solidFill>
                <a:latin typeface="Be Vietnam Pro"/>
              </a:defRPr>
            </a:pPr>
            <a:r>
              <a:t>🗄️ PostgreSQL 16</a:t>
            </a:r>
            <a:br/>
            <a:r>
              <a:t>Supabase Managed</a:t>
            </a:r>
          </a:p>
        </p:txBody>
      </p:sp>
      <p:sp>
        <p:nvSpPr>
          <p:cNvPr id="11" name="Rounded Rectangle 10"/>
          <p:cNvSpPr/>
          <p:nvPr/>
        </p:nvSpPr>
        <p:spPr>
          <a:xfrm>
            <a:off x="7955279" y="3108960"/>
            <a:ext cx="2834640" cy="9144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3154679"/>
            <a:ext cx="2560320" cy="822960"/>
          </a:xfrm>
          <a:prstGeom prst="rect">
            <a:avLst/>
          </a:prstGeom>
          <a:noFill/>
        </p:spPr>
        <p:txBody>
          <a:bodyPr wrap="square">
            <a:spAutoFit/>
          </a:bodyPr>
          <a:lstStyle/>
          <a:p>
            <a:pPr algn="ctr">
              <a:defRPr sz="1200" b="0">
                <a:solidFill>
                  <a:srgbClr val="F8FAFC"/>
                </a:solidFill>
                <a:latin typeface="Be Vietnam Pro"/>
              </a:defRPr>
            </a:pPr>
            <a:r>
              <a:t>☁️ Cloudflare R2</a:t>
            </a:r>
            <a:br/>
            <a:r>
              <a:t>Lưu trữ PDF</a:t>
            </a:r>
          </a:p>
        </p:txBody>
      </p:sp>
      <p:sp>
        <p:nvSpPr>
          <p:cNvPr id="13" name="Rounded Rectangle 12"/>
          <p:cNvSpPr/>
          <p:nvPr/>
        </p:nvSpPr>
        <p:spPr>
          <a:xfrm>
            <a:off x="1371600" y="4251960"/>
            <a:ext cx="9418320" cy="7315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4297680"/>
            <a:ext cx="9144000" cy="640080"/>
          </a:xfrm>
          <a:prstGeom prst="rect">
            <a:avLst/>
          </a:prstGeom>
          <a:noFill/>
        </p:spPr>
        <p:txBody>
          <a:bodyPr wrap="square">
            <a:spAutoFit/>
          </a:bodyPr>
          <a:lstStyle/>
          <a:p>
            <a:pPr algn="ctr">
              <a:defRPr sz="1200" b="0">
                <a:solidFill>
                  <a:srgbClr val="F8FAFC"/>
                </a:solidFill>
                <a:latin typeface="Be Vietnam Pro"/>
              </a:defRPr>
            </a:pPr>
            <a:r>
              <a:t>🤖  Gemini API  —  AI Chat · Quiz · Chấm điểm · Báo cáo</a:t>
            </a:r>
          </a:p>
        </p:txBody>
      </p:sp>
      <p:sp>
        <p:nvSpPr>
          <p:cNvPr id="15" name="TextBox 14"/>
          <p:cNvSpPr txBox="1"/>
          <p:nvPr/>
        </p:nvSpPr>
        <p:spPr>
          <a:xfrm>
            <a:off x="5486400" y="1783080"/>
            <a:ext cx="1188720" cy="365760"/>
          </a:xfrm>
          <a:prstGeom prst="rect">
            <a:avLst/>
          </a:prstGeom>
          <a:noFill/>
        </p:spPr>
        <p:txBody>
          <a:bodyPr wrap="square">
            <a:spAutoFit/>
          </a:bodyPr>
          <a:lstStyle/>
          <a:p>
            <a:pPr algn="ctr">
              <a:defRPr sz="2000" b="0">
                <a:solidFill>
                  <a:srgbClr val="60A5FA"/>
                </a:solidFill>
                <a:latin typeface="Be Vietnam Pro"/>
              </a:defRPr>
            </a:pPr>
            <a:r>
              <a:t>⬇</a:t>
            </a:r>
          </a:p>
        </p:txBody>
      </p:sp>
      <p:sp>
        <p:nvSpPr>
          <p:cNvPr id="16" name="TextBox 15"/>
          <p:cNvSpPr txBox="1"/>
          <p:nvPr/>
        </p:nvSpPr>
        <p:spPr>
          <a:xfrm>
            <a:off x="5486400" y="2926080"/>
            <a:ext cx="1188720" cy="365760"/>
          </a:xfrm>
          <a:prstGeom prst="rect">
            <a:avLst/>
          </a:prstGeom>
          <a:noFill/>
        </p:spPr>
        <p:txBody>
          <a:bodyPr wrap="square">
            <a:spAutoFit/>
          </a:bodyPr>
          <a:lstStyle/>
          <a:p>
            <a:pPr algn="ctr">
              <a:defRPr sz="2000" b="0">
                <a:solidFill>
                  <a:srgbClr val="60A5FA"/>
                </a:solidFill>
                <a:latin typeface="Be Vietnam Pro"/>
              </a:defRPr>
            </a:pPr>
            <a:r>
              <a:t>⬇</a:t>
            </a:r>
          </a:p>
        </p:txBody>
      </p:sp>
      <p:sp>
        <p:nvSpPr>
          <p:cNvPr id="17" name="TextBox 16"/>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17/27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0" y="1371600"/>
            <a:ext cx="12191695" cy="2743200"/>
          </a:xfrm>
          <a:prstGeom prst="rect">
            <a:avLst/>
          </a:prstGeom>
          <a:noFill/>
        </p:spPr>
        <p:txBody>
          <a:bodyPr wrap="square">
            <a:spAutoFit/>
          </a:bodyPr>
          <a:lstStyle/>
          <a:p>
            <a:pPr algn="ctr">
              <a:defRPr sz="14000" b="1">
                <a:solidFill>
                  <a:srgbClr val="0D1530"/>
                </a:solidFill>
                <a:latin typeface="Be Vietnam Pro"/>
              </a:defRPr>
            </a:pPr>
            <a:r>
              <a:t>07</a:t>
            </a:r>
          </a:p>
        </p:txBody>
      </p:sp>
      <p:sp>
        <p:nvSpPr>
          <p:cNvPr id="3" name="TextBox 2"/>
          <p:cNvSpPr txBox="1"/>
          <p:nvPr/>
        </p:nvSpPr>
        <p:spPr>
          <a:xfrm>
            <a:off x="0" y="2560320"/>
            <a:ext cx="12191695" cy="914400"/>
          </a:xfrm>
          <a:prstGeom prst="rect">
            <a:avLst/>
          </a:prstGeom>
          <a:noFill/>
        </p:spPr>
        <p:txBody>
          <a:bodyPr wrap="square">
            <a:spAutoFit/>
          </a:bodyPr>
          <a:lstStyle/>
          <a:p>
            <a:pPr algn="ctr">
              <a:defRPr sz="4400" b="1">
                <a:solidFill>
                  <a:srgbClr val="F8FAFC"/>
                </a:solidFill>
                <a:latin typeface="Be Vietnam Pro"/>
              </a:defRPr>
            </a:pPr>
            <a:r>
              <a:t>Điểm mới &amp; Sáng tạo</a:t>
            </a:r>
          </a:p>
        </p:txBody>
      </p:sp>
      <p:sp>
        <p:nvSpPr>
          <p:cNvPr id="4" name="TextBox 3"/>
          <p:cNvSpPr txBox="1"/>
          <p:nvPr/>
        </p:nvSpPr>
        <p:spPr>
          <a:xfrm>
            <a:off x="1828800" y="3657600"/>
            <a:ext cx="8503920" cy="1371600"/>
          </a:xfrm>
          <a:prstGeom prst="rect">
            <a:avLst/>
          </a:prstGeom>
          <a:noFill/>
        </p:spPr>
        <p:txBody>
          <a:bodyPr wrap="square">
            <a:spAutoFit/>
          </a:bodyPr>
          <a:lstStyle/>
          <a:p>
            <a:pPr algn="ctr">
              <a:defRPr sz="1800" b="0">
                <a:solidFill>
                  <a:srgbClr val="94A3B8"/>
                </a:solidFill>
                <a:latin typeface="Be Vietnam Pro"/>
              </a:defRPr>
            </a:pPr>
            <a:r>
              <a:t>Những yếu tố khác biệt cốt lõi làm nên giá trị riêng của EduSelf so với các nền tảng hiện có</a:t>
            </a:r>
          </a:p>
        </p:txBody>
      </p:sp>
      <p:sp>
        <p:nvSpPr>
          <p:cNvPr id="5" name="TextBox 4"/>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18/27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457200" y="91440"/>
            <a:ext cx="11247120" cy="548640"/>
          </a:xfrm>
          <a:prstGeom prst="rect">
            <a:avLst/>
          </a:prstGeom>
          <a:noFill/>
        </p:spPr>
        <p:txBody>
          <a:bodyPr wrap="square">
            <a:spAutoFit/>
          </a:bodyPr>
          <a:lstStyle/>
          <a:p>
            <a:pPr algn="ctr">
              <a:defRPr sz="3000" b="1">
                <a:solidFill>
                  <a:srgbClr val="F8FAFC"/>
                </a:solidFill>
                <a:latin typeface="Be Vietnam Pro"/>
              </a:defRPr>
            </a:pPr>
            <a:r>
              <a:t>Điều gì làm EduSelf khác biệt?</a:t>
            </a:r>
          </a:p>
        </p:txBody>
      </p:sp>
      <p:sp>
        <p:nvSpPr>
          <p:cNvPr id="3" name="Rectangle 2"/>
          <p:cNvSpPr/>
          <p:nvPr/>
        </p:nvSpPr>
        <p:spPr>
          <a:xfrm>
            <a:off x="274320" y="822960"/>
            <a:ext cx="2286000" cy="548640"/>
          </a:xfrm>
          <a:prstGeom prst="rect">
            <a:avLst/>
          </a:prstGeom>
          <a:solidFill>
            <a:srgbClr val="0D1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868680"/>
            <a:ext cx="2286000" cy="457200"/>
          </a:xfrm>
          <a:prstGeom prst="rect">
            <a:avLst/>
          </a:prstGeom>
          <a:noFill/>
        </p:spPr>
        <p:txBody>
          <a:bodyPr wrap="square">
            <a:spAutoFit/>
          </a:bodyPr>
          <a:lstStyle/>
          <a:p>
            <a:pPr algn="ctr">
              <a:defRPr sz="1300" b="1">
                <a:solidFill>
                  <a:srgbClr val="F8FAFC"/>
                </a:solidFill>
                <a:latin typeface="Be Vietnam Pro"/>
              </a:defRPr>
            </a:pPr>
            <a:r>
              <a:t>Tiêu chí</a:t>
            </a:r>
          </a:p>
        </p:txBody>
      </p:sp>
      <p:sp>
        <p:nvSpPr>
          <p:cNvPr id="5" name="Rectangle 4"/>
          <p:cNvSpPr/>
          <p:nvPr/>
        </p:nvSpPr>
        <p:spPr>
          <a:xfrm>
            <a:off x="2606040" y="822960"/>
            <a:ext cx="4572000" cy="548640"/>
          </a:xfrm>
          <a:prstGeom prst="rect">
            <a:avLst/>
          </a:prstGeom>
          <a:solidFill>
            <a:srgbClr val="0D1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06040" y="868680"/>
            <a:ext cx="4572000" cy="457200"/>
          </a:xfrm>
          <a:prstGeom prst="rect">
            <a:avLst/>
          </a:prstGeom>
          <a:noFill/>
        </p:spPr>
        <p:txBody>
          <a:bodyPr wrap="square">
            <a:spAutoFit/>
          </a:bodyPr>
          <a:lstStyle/>
          <a:p>
            <a:pPr algn="ctr">
              <a:defRPr sz="1300" b="1">
                <a:solidFill>
                  <a:srgbClr val="F8FAFC"/>
                </a:solidFill>
                <a:latin typeface="Be Vietnam Pro"/>
              </a:defRPr>
            </a:pPr>
            <a:r>
              <a:t>Nền tảng khác</a:t>
            </a:r>
          </a:p>
        </p:txBody>
      </p:sp>
      <p:sp>
        <p:nvSpPr>
          <p:cNvPr id="7" name="Rectangle 6"/>
          <p:cNvSpPr/>
          <p:nvPr/>
        </p:nvSpPr>
        <p:spPr>
          <a:xfrm>
            <a:off x="7223760" y="822960"/>
            <a:ext cx="4663440" cy="548640"/>
          </a:xfrm>
          <a:prstGeom prst="rect">
            <a:avLst/>
          </a:prstGeom>
          <a:solidFill>
            <a:srgbClr val="0D1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868680"/>
            <a:ext cx="4663440" cy="457200"/>
          </a:xfrm>
          <a:prstGeom prst="rect">
            <a:avLst/>
          </a:prstGeom>
          <a:noFill/>
        </p:spPr>
        <p:txBody>
          <a:bodyPr wrap="square">
            <a:spAutoFit/>
          </a:bodyPr>
          <a:lstStyle/>
          <a:p>
            <a:pPr algn="ctr">
              <a:defRPr sz="1300" b="1">
                <a:solidFill>
                  <a:srgbClr val="F8FAFC"/>
                </a:solidFill>
                <a:latin typeface="Be Vietnam Pro"/>
              </a:defRPr>
            </a:pPr>
            <a:r>
              <a:t>EduSelf</a:t>
            </a:r>
          </a:p>
        </p:txBody>
      </p:sp>
      <p:sp>
        <p:nvSpPr>
          <p:cNvPr id="9" name="Rectangle 8"/>
          <p:cNvSpPr/>
          <p:nvPr/>
        </p:nvSpPr>
        <p:spPr>
          <a:xfrm>
            <a:off x="274320" y="1417320"/>
            <a:ext cx="228600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2103120" cy="457200"/>
          </a:xfrm>
          <a:prstGeom prst="rect">
            <a:avLst/>
          </a:prstGeom>
          <a:noFill/>
        </p:spPr>
        <p:txBody>
          <a:bodyPr wrap="square">
            <a:spAutoFit/>
          </a:bodyPr>
          <a:lstStyle/>
          <a:p>
            <a:pPr algn="l">
              <a:defRPr sz="1100" b="1">
                <a:solidFill>
                  <a:srgbClr val="F8FAFC"/>
                </a:solidFill>
                <a:latin typeface="Be Vietnam Pro"/>
              </a:defRPr>
            </a:pPr>
            <a:r>
              <a:t>AI Tutor</a:t>
            </a:r>
          </a:p>
        </p:txBody>
      </p:sp>
      <p:sp>
        <p:nvSpPr>
          <p:cNvPr id="11" name="Rectangle 10"/>
          <p:cNvSpPr/>
          <p:nvPr/>
        </p:nvSpPr>
        <p:spPr>
          <a:xfrm>
            <a:off x="2606040" y="1417320"/>
            <a:ext cx="457200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1463040"/>
            <a:ext cx="4297680" cy="548640"/>
          </a:xfrm>
          <a:prstGeom prst="rect">
            <a:avLst/>
          </a:prstGeom>
          <a:noFill/>
        </p:spPr>
        <p:txBody>
          <a:bodyPr wrap="square">
            <a:spAutoFit/>
          </a:bodyPr>
          <a:lstStyle/>
          <a:p>
            <a:pPr algn="l">
              <a:defRPr sz="1000" b="0">
                <a:solidFill>
                  <a:srgbClr val="FCA5A5"/>
                </a:solidFill>
                <a:latin typeface="Be Vietnam Pro"/>
              </a:defRPr>
            </a:pPr>
            <a:r>
              <a:t>Chatbot trả lời trực tiếp,</a:t>
            </a:r>
            <a:br/>
            <a:r>
              <a:t>không có phương pháp sư phạm</a:t>
            </a:r>
          </a:p>
        </p:txBody>
      </p:sp>
      <p:sp>
        <p:nvSpPr>
          <p:cNvPr id="13" name="Rectangle 12"/>
          <p:cNvSpPr/>
          <p:nvPr/>
        </p:nvSpPr>
        <p:spPr>
          <a:xfrm>
            <a:off x="7223760" y="1417320"/>
            <a:ext cx="466344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0920" y="1463040"/>
            <a:ext cx="4389120" cy="548640"/>
          </a:xfrm>
          <a:prstGeom prst="rect">
            <a:avLst/>
          </a:prstGeom>
          <a:noFill/>
        </p:spPr>
        <p:txBody>
          <a:bodyPr wrap="square">
            <a:spAutoFit/>
          </a:bodyPr>
          <a:lstStyle/>
          <a:p>
            <a:pPr algn="l">
              <a:defRPr sz="1000" b="0">
                <a:solidFill>
                  <a:srgbClr val="6EE7B7"/>
                </a:solidFill>
                <a:latin typeface="Be Vietnam Pro"/>
              </a:defRPr>
            </a:pPr>
            <a:r>
              <a:t>Trợ lý AI thông minh — đặt câu hỏi</a:t>
            </a:r>
            <a:br/>
            <a:r>
              <a:t>gợi mở, dẫn dắt tự khám phá</a:t>
            </a:r>
          </a:p>
        </p:txBody>
      </p:sp>
      <p:sp>
        <p:nvSpPr>
          <p:cNvPr id="15" name="Rectangle 14"/>
          <p:cNvSpPr/>
          <p:nvPr/>
        </p:nvSpPr>
        <p:spPr>
          <a:xfrm>
            <a:off x="274320" y="2075688"/>
            <a:ext cx="228600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2167128"/>
            <a:ext cx="2103120" cy="457200"/>
          </a:xfrm>
          <a:prstGeom prst="rect">
            <a:avLst/>
          </a:prstGeom>
          <a:noFill/>
        </p:spPr>
        <p:txBody>
          <a:bodyPr wrap="square">
            <a:spAutoFit/>
          </a:bodyPr>
          <a:lstStyle/>
          <a:p>
            <a:pPr algn="l">
              <a:defRPr sz="1100" b="1">
                <a:solidFill>
                  <a:srgbClr val="F8FAFC"/>
                </a:solidFill>
                <a:latin typeface="Be Vietnam Pro"/>
              </a:defRPr>
            </a:pPr>
            <a:r>
              <a:t>Cá nhân hoá</a:t>
            </a:r>
          </a:p>
        </p:txBody>
      </p:sp>
      <p:sp>
        <p:nvSpPr>
          <p:cNvPr id="17" name="Rectangle 16"/>
          <p:cNvSpPr/>
          <p:nvPr/>
        </p:nvSpPr>
        <p:spPr>
          <a:xfrm>
            <a:off x="2606040" y="2075688"/>
            <a:ext cx="457200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0" y="2121408"/>
            <a:ext cx="4297680" cy="548640"/>
          </a:xfrm>
          <a:prstGeom prst="rect">
            <a:avLst/>
          </a:prstGeom>
          <a:noFill/>
        </p:spPr>
        <p:txBody>
          <a:bodyPr wrap="square">
            <a:spAutoFit/>
          </a:bodyPr>
          <a:lstStyle/>
          <a:p>
            <a:pPr algn="l">
              <a:defRPr sz="1000" b="0">
                <a:solidFill>
                  <a:srgbClr val="FCA5A5"/>
                </a:solidFill>
                <a:latin typeface="Be Vietnam Pro"/>
              </a:defRPr>
            </a:pPr>
            <a:r>
              <a:t>Gợi ý khoá học dựa trên</a:t>
            </a:r>
            <a:br/>
            <a:r>
              <a:t>danh mục có sẵn</a:t>
            </a:r>
          </a:p>
        </p:txBody>
      </p:sp>
      <p:sp>
        <p:nvSpPr>
          <p:cNvPr id="19" name="Rectangle 18"/>
          <p:cNvSpPr/>
          <p:nvPr/>
        </p:nvSpPr>
        <p:spPr>
          <a:xfrm>
            <a:off x="7223760" y="2075688"/>
            <a:ext cx="466344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0920" y="2121408"/>
            <a:ext cx="4389120" cy="548640"/>
          </a:xfrm>
          <a:prstGeom prst="rect">
            <a:avLst/>
          </a:prstGeom>
          <a:noFill/>
        </p:spPr>
        <p:txBody>
          <a:bodyPr wrap="square">
            <a:spAutoFit/>
          </a:bodyPr>
          <a:lstStyle/>
          <a:p>
            <a:pPr algn="l">
              <a:defRPr sz="1000" b="0">
                <a:solidFill>
                  <a:srgbClr val="6EE7B7"/>
                </a:solidFill>
                <a:latin typeface="Be Vietnam Pro"/>
              </a:defRPr>
            </a:pPr>
            <a:r>
              <a:t>AI phân tích năng lực → chẩn đoán</a:t>
            </a:r>
            <a:br/>
            <a:r>
              <a:t>điểm yếu → bài tập riêng biệt</a:t>
            </a:r>
          </a:p>
        </p:txBody>
      </p:sp>
      <p:sp>
        <p:nvSpPr>
          <p:cNvPr id="21" name="Rectangle 20"/>
          <p:cNvSpPr/>
          <p:nvPr/>
        </p:nvSpPr>
        <p:spPr>
          <a:xfrm>
            <a:off x="274320" y="2734056"/>
            <a:ext cx="228600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825496"/>
            <a:ext cx="2103120" cy="457200"/>
          </a:xfrm>
          <a:prstGeom prst="rect">
            <a:avLst/>
          </a:prstGeom>
          <a:noFill/>
        </p:spPr>
        <p:txBody>
          <a:bodyPr wrap="square">
            <a:spAutoFit/>
          </a:bodyPr>
          <a:lstStyle/>
          <a:p>
            <a:pPr algn="l">
              <a:defRPr sz="1100" b="1">
                <a:solidFill>
                  <a:srgbClr val="F8FAFC"/>
                </a:solidFill>
                <a:latin typeface="Be Vietnam Pro"/>
              </a:defRPr>
            </a:pPr>
            <a:r>
              <a:t>Chấm điểm</a:t>
            </a:r>
          </a:p>
        </p:txBody>
      </p:sp>
      <p:sp>
        <p:nvSpPr>
          <p:cNvPr id="23" name="Rectangle 22"/>
          <p:cNvSpPr/>
          <p:nvPr/>
        </p:nvSpPr>
        <p:spPr>
          <a:xfrm>
            <a:off x="2606040" y="2734056"/>
            <a:ext cx="457200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0" y="2779776"/>
            <a:ext cx="4297680" cy="548640"/>
          </a:xfrm>
          <a:prstGeom prst="rect">
            <a:avLst/>
          </a:prstGeom>
          <a:noFill/>
        </p:spPr>
        <p:txBody>
          <a:bodyPr wrap="square">
            <a:spAutoFit/>
          </a:bodyPr>
          <a:lstStyle/>
          <a:p>
            <a:pPr algn="l">
              <a:defRPr sz="1000" b="0">
                <a:solidFill>
                  <a:srgbClr val="FCA5A5"/>
                </a:solidFill>
                <a:latin typeface="Be Vietnam Pro"/>
              </a:defRPr>
            </a:pPr>
            <a:r>
              <a:t>Trắc nghiệm tự động,</a:t>
            </a:r>
            <a:br/>
            <a:r>
              <a:t>tự luận chấm thủ công</a:t>
            </a:r>
          </a:p>
        </p:txBody>
      </p:sp>
      <p:sp>
        <p:nvSpPr>
          <p:cNvPr id="25" name="Rectangle 24"/>
          <p:cNvSpPr/>
          <p:nvPr/>
        </p:nvSpPr>
        <p:spPr>
          <a:xfrm>
            <a:off x="7223760" y="2734056"/>
            <a:ext cx="466344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60920" y="2779776"/>
            <a:ext cx="4389120" cy="548640"/>
          </a:xfrm>
          <a:prstGeom prst="rect">
            <a:avLst/>
          </a:prstGeom>
          <a:noFill/>
        </p:spPr>
        <p:txBody>
          <a:bodyPr wrap="square">
            <a:spAutoFit/>
          </a:bodyPr>
          <a:lstStyle/>
          <a:p>
            <a:pPr algn="l">
              <a:defRPr sz="1000" b="0">
                <a:solidFill>
                  <a:srgbClr val="6EE7B7"/>
                </a:solidFill>
                <a:latin typeface="Be Vietnam Pro"/>
              </a:defRPr>
            </a:pPr>
            <a:r>
              <a:t>AI chấm cả tự luận theo rubric,</a:t>
            </a:r>
            <a:br/>
            <a:r>
              <a:t>giáo viên chỉ kiểm tra lại</a:t>
            </a:r>
          </a:p>
        </p:txBody>
      </p:sp>
      <p:sp>
        <p:nvSpPr>
          <p:cNvPr id="27" name="Rectangle 26"/>
          <p:cNvSpPr/>
          <p:nvPr/>
        </p:nvSpPr>
        <p:spPr>
          <a:xfrm>
            <a:off x="274320" y="3392424"/>
            <a:ext cx="228600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3483864"/>
            <a:ext cx="2103120" cy="457200"/>
          </a:xfrm>
          <a:prstGeom prst="rect">
            <a:avLst/>
          </a:prstGeom>
          <a:noFill/>
        </p:spPr>
        <p:txBody>
          <a:bodyPr wrap="square">
            <a:spAutoFit/>
          </a:bodyPr>
          <a:lstStyle/>
          <a:p>
            <a:pPr algn="l">
              <a:defRPr sz="1100" b="1">
                <a:solidFill>
                  <a:srgbClr val="F8FAFC"/>
                </a:solidFill>
                <a:latin typeface="Be Vietnam Pro"/>
              </a:defRPr>
            </a:pPr>
            <a:r>
              <a:t>Học mà chơi</a:t>
            </a:r>
          </a:p>
        </p:txBody>
      </p:sp>
      <p:sp>
        <p:nvSpPr>
          <p:cNvPr id="29" name="Rectangle 28"/>
          <p:cNvSpPr/>
          <p:nvPr/>
        </p:nvSpPr>
        <p:spPr>
          <a:xfrm>
            <a:off x="2606040" y="3392424"/>
            <a:ext cx="457200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0" y="3438144"/>
            <a:ext cx="4297680" cy="548640"/>
          </a:xfrm>
          <a:prstGeom prst="rect">
            <a:avLst/>
          </a:prstGeom>
          <a:noFill/>
        </p:spPr>
        <p:txBody>
          <a:bodyPr wrap="square">
            <a:spAutoFit/>
          </a:bodyPr>
          <a:lstStyle/>
          <a:p>
            <a:pPr algn="l">
              <a:defRPr sz="1000" b="0">
                <a:solidFill>
                  <a:srgbClr val="FCA5A5"/>
                </a:solidFill>
                <a:latin typeface="Be Vietnam Pro"/>
              </a:defRPr>
            </a:pPr>
            <a:r>
              <a:t>Huy hiệu cơ bản,</a:t>
            </a:r>
            <a:br/>
            <a:r>
              <a:t>không có hệ thống thưởng</a:t>
            </a:r>
          </a:p>
        </p:txBody>
      </p:sp>
      <p:sp>
        <p:nvSpPr>
          <p:cNvPr id="31" name="Rectangle 30"/>
          <p:cNvSpPr/>
          <p:nvPr/>
        </p:nvSpPr>
        <p:spPr>
          <a:xfrm>
            <a:off x="7223760" y="3392424"/>
            <a:ext cx="466344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60920" y="3438144"/>
            <a:ext cx="4389120" cy="548640"/>
          </a:xfrm>
          <a:prstGeom prst="rect">
            <a:avLst/>
          </a:prstGeom>
          <a:noFill/>
        </p:spPr>
        <p:txBody>
          <a:bodyPr wrap="square">
            <a:spAutoFit/>
          </a:bodyPr>
          <a:lstStyle/>
          <a:p>
            <a:pPr algn="l">
              <a:defRPr sz="1000" b="0">
                <a:solidFill>
                  <a:srgbClr val="6EE7B7"/>
                </a:solidFill>
                <a:latin typeface="Be Vietnam Pro"/>
              </a:defRPr>
            </a:pPr>
            <a:r>
              <a:t>Kim cương + Streak + 8 Thành tựu</a:t>
            </a:r>
            <a:br/>
            <a:r>
              <a:t>+ Bảng xếp hạng đầy đủ</a:t>
            </a:r>
          </a:p>
        </p:txBody>
      </p:sp>
      <p:sp>
        <p:nvSpPr>
          <p:cNvPr id="33" name="Rectangle 32"/>
          <p:cNvSpPr/>
          <p:nvPr/>
        </p:nvSpPr>
        <p:spPr>
          <a:xfrm>
            <a:off x="274320" y="4050791"/>
            <a:ext cx="228600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4142231"/>
            <a:ext cx="2103120" cy="457200"/>
          </a:xfrm>
          <a:prstGeom prst="rect">
            <a:avLst/>
          </a:prstGeom>
          <a:noFill/>
        </p:spPr>
        <p:txBody>
          <a:bodyPr wrap="square">
            <a:spAutoFit/>
          </a:bodyPr>
          <a:lstStyle/>
          <a:p>
            <a:pPr algn="l">
              <a:defRPr sz="1100" b="1">
                <a:solidFill>
                  <a:srgbClr val="F8FAFC"/>
                </a:solidFill>
                <a:latin typeface="Be Vietnam Pro"/>
              </a:defRPr>
            </a:pPr>
            <a:r>
              <a:t>Công cụ học</a:t>
            </a:r>
          </a:p>
        </p:txBody>
      </p:sp>
      <p:sp>
        <p:nvSpPr>
          <p:cNvPr id="35" name="Rectangle 34"/>
          <p:cNvSpPr/>
          <p:nvPr/>
        </p:nvSpPr>
        <p:spPr>
          <a:xfrm>
            <a:off x="2606040" y="4050791"/>
            <a:ext cx="457200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0" y="4096511"/>
            <a:ext cx="4297680" cy="548640"/>
          </a:xfrm>
          <a:prstGeom prst="rect">
            <a:avLst/>
          </a:prstGeom>
          <a:noFill/>
        </p:spPr>
        <p:txBody>
          <a:bodyPr wrap="square">
            <a:spAutoFit/>
          </a:bodyPr>
          <a:lstStyle/>
          <a:p>
            <a:pPr algn="l">
              <a:defRPr sz="1000" b="0">
                <a:solidFill>
                  <a:srgbClr val="FCA5A5"/>
                </a:solidFill>
                <a:latin typeface="Be Vietnam Pro"/>
              </a:defRPr>
            </a:pPr>
            <a:r>
              <a:t>Video + quiz là chính</a:t>
            </a:r>
          </a:p>
        </p:txBody>
      </p:sp>
      <p:sp>
        <p:nvSpPr>
          <p:cNvPr id="37" name="Rectangle 36"/>
          <p:cNvSpPr/>
          <p:nvPr/>
        </p:nvSpPr>
        <p:spPr>
          <a:xfrm>
            <a:off x="7223760" y="4050791"/>
            <a:ext cx="466344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60920" y="4096511"/>
            <a:ext cx="4389120" cy="548640"/>
          </a:xfrm>
          <a:prstGeom prst="rect">
            <a:avLst/>
          </a:prstGeom>
          <a:noFill/>
        </p:spPr>
        <p:txBody>
          <a:bodyPr wrap="square">
            <a:spAutoFit/>
          </a:bodyPr>
          <a:lstStyle/>
          <a:p>
            <a:pPr algn="l">
              <a:defRPr sz="1000" b="0">
                <a:solidFill>
                  <a:srgbClr val="6EE7B7"/>
                </a:solidFill>
                <a:latin typeface="Be Vietnam Pro"/>
              </a:defRPr>
            </a:pPr>
            <a:r>
              <a:t>Mind Map AI + Knowledge Graph +</a:t>
            </a:r>
            <a:br/>
            <a:r>
              <a:t>Flashcards (SM-2) + Sơ đồ tư duy</a:t>
            </a:r>
          </a:p>
        </p:txBody>
      </p:sp>
      <p:sp>
        <p:nvSpPr>
          <p:cNvPr id="39" name="Rectangle 38"/>
          <p:cNvSpPr/>
          <p:nvPr/>
        </p:nvSpPr>
        <p:spPr>
          <a:xfrm>
            <a:off x="274320" y="4709159"/>
            <a:ext cx="228600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4800599"/>
            <a:ext cx="2103120" cy="457200"/>
          </a:xfrm>
          <a:prstGeom prst="rect">
            <a:avLst/>
          </a:prstGeom>
          <a:noFill/>
        </p:spPr>
        <p:txBody>
          <a:bodyPr wrap="square">
            <a:spAutoFit/>
          </a:bodyPr>
          <a:lstStyle/>
          <a:p>
            <a:pPr algn="l">
              <a:defRPr sz="1100" b="1">
                <a:solidFill>
                  <a:srgbClr val="F8FAFC"/>
                </a:solidFill>
                <a:latin typeface="Be Vietnam Pro"/>
              </a:defRPr>
            </a:pPr>
            <a:r>
              <a:t>Báo cáo</a:t>
            </a:r>
          </a:p>
        </p:txBody>
      </p:sp>
      <p:sp>
        <p:nvSpPr>
          <p:cNvPr id="41" name="Rectangle 40"/>
          <p:cNvSpPr/>
          <p:nvPr/>
        </p:nvSpPr>
        <p:spPr>
          <a:xfrm>
            <a:off x="2606040" y="4709159"/>
            <a:ext cx="457200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0" y="4754879"/>
            <a:ext cx="4297680" cy="548640"/>
          </a:xfrm>
          <a:prstGeom prst="rect">
            <a:avLst/>
          </a:prstGeom>
          <a:noFill/>
        </p:spPr>
        <p:txBody>
          <a:bodyPr wrap="square">
            <a:spAutoFit/>
          </a:bodyPr>
          <a:lstStyle/>
          <a:p>
            <a:pPr algn="l">
              <a:defRPr sz="1000" b="0">
                <a:solidFill>
                  <a:srgbClr val="FCA5A5"/>
                </a:solidFill>
                <a:latin typeface="Be Vietnam Pro"/>
              </a:defRPr>
            </a:pPr>
            <a:r>
              <a:t>Bảng điểm tĩnh,</a:t>
            </a:r>
            <a:br/>
            <a:r>
              <a:t>không phân tích</a:t>
            </a:r>
          </a:p>
        </p:txBody>
      </p:sp>
      <p:sp>
        <p:nvSpPr>
          <p:cNvPr id="43" name="Rectangle 42"/>
          <p:cNvSpPr/>
          <p:nvPr/>
        </p:nvSpPr>
        <p:spPr>
          <a:xfrm>
            <a:off x="7223760" y="4709159"/>
            <a:ext cx="466344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60920" y="4754879"/>
            <a:ext cx="4389120" cy="548640"/>
          </a:xfrm>
          <a:prstGeom prst="rect">
            <a:avLst/>
          </a:prstGeom>
          <a:noFill/>
        </p:spPr>
        <p:txBody>
          <a:bodyPr wrap="square">
            <a:spAutoFit/>
          </a:bodyPr>
          <a:lstStyle/>
          <a:p>
            <a:pPr algn="l">
              <a:defRPr sz="1000" b="0">
                <a:solidFill>
                  <a:srgbClr val="6EE7B7"/>
                </a:solidFill>
                <a:latin typeface="Be Vietnam Pro"/>
              </a:defRPr>
            </a:pPr>
            <a:r>
              <a:t>AI tạo báo cáo hàng tuần +</a:t>
            </a:r>
            <a:br/>
            <a:r>
              <a:t>Dashboard trực quan theo vai trò</a:t>
            </a:r>
          </a:p>
        </p:txBody>
      </p:sp>
      <p:sp>
        <p:nvSpPr>
          <p:cNvPr id="45" name="Rectangle 44"/>
          <p:cNvSpPr/>
          <p:nvPr/>
        </p:nvSpPr>
        <p:spPr>
          <a:xfrm>
            <a:off x="274320" y="5367528"/>
            <a:ext cx="228600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760" y="5458968"/>
            <a:ext cx="2103120" cy="457200"/>
          </a:xfrm>
          <a:prstGeom prst="rect">
            <a:avLst/>
          </a:prstGeom>
          <a:noFill/>
        </p:spPr>
        <p:txBody>
          <a:bodyPr wrap="square">
            <a:spAutoFit/>
          </a:bodyPr>
          <a:lstStyle/>
          <a:p>
            <a:pPr algn="l">
              <a:defRPr sz="1100" b="1">
                <a:solidFill>
                  <a:srgbClr val="F8FAFC"/>
                </a:solidFill>
                <a:latin typeface="Be Vietnam Pro"/>
              </a:defRPr>
            </a:pPr>
            <a:r>
              <a:t>Ngôn ngữ</a:t>
            </a:r>
          </a:p>
        </p:txBody>
      </p:sp>
      <p:sp>
        <p:nvSpPr>
          <p:cNvPr id="47" name="Rectangle 46"/>
          <p:cNvSpPr/>
          <p:nvPr/>
        </p:nvSpPr>
        <p:spPr>
          <a:xfrm>
            <a:off x="2606040" y="5367528"/>
            <a:ext cx="457200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43200" y="5413248"/>
            <a:ext cx="4297680" cy="548640"/>
          </a:xfrm>
          <a:prstGeom prst="rect">
            <a:avLst/>
          </a:prstGeom>
          <a:noFill/>
        </p:spPr>
        <p:txBody>
          <a:bodyPr wrap="square">
            <a:spAutoFit/>
          </a:bodyPr>
          <a:lstStyle/>
          <a:p>
            <a:pPr algn="l">
              <a:defRPr sz="1000" b="0">
                <a:solidFill>
                  <a:srgbClr val="FCA5A5"/>
                </a:solidFill>
                <a:latin typeface="Be Vietnam Pro"/>
              </a:defRPr>
            </a:pPr>
            <a:r>
              <a:t>Chủ yếu tiếng Anh,</a:t>
            </a:r>
            <a:br/>
            <a:r>
              <a:t>ít hỗ trợ tiếng Việt</a:t>
            </a:r>
          </a:p>
        </p:txBody>
      </p:sp>
      <p:sp>
        <p:nvSpPr>
          <p:cNvPr id="49" name="Rectangle 48"/>
          <p:cNvSpPr/>
          <p:nvPr/>
        </p:nvSpPr>
        <p:spPr>
          <a:xfrm>
            <a:off x="7223760" y="5367528"/>
            <a:ext cx="4663440" cy="621792"/>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60920" y="5413248"/>
            <a:ext cx="4389120" cy="548640"/>
          </a:xfrm>
          <a:prstGeom prst="rect">
            <a:avLst/>
          </a:prstGeom>
          <a:noFill/>
        </p:spPr>
        <p:txBody>
          <a:bodyPr wrap="square">
            <a:spAutoFit/>
          </a:bodyPr>
          <a:lstStyle/>
          <a:p>
            <a:pPr algn="l">
              <a:defRPr sz="1000" b="0">
                <a:solidFill>
                  <a:srgbClr val="6EE7B7"/>
                </a:solidFill>
                <a:latin typeface="Be Vietnam Pro"/>
              </a:defRPr>
            </a:pPr>
            <a:r>
              <a:t>Toàn bộ UI bằng tiếng Việt,</a:t>
            </a:r>
            <a:br/>
            <a:r>
              <a:t>phù hợp chương trình Việt Nam</a:t>
            </a:r>
          </a:p>
        </p:txBody>
      </p:sp>
      <p:sp>
        <p:nvSpPr>
          <p:cNvPr id="51" name="Rectangle 50"/>
          <p:cNvSpPr/>
          <p:nvPr/>
        </p:nvSpPr>
        <p:spPr>
          <a:xfrm>
            <a:off x="274320" y="6025896"/>
            <a:ext cx="228600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5760" y="6117336"/>
            <a:ext cx="2103120" cy="457200"/>
          </a:xfrm>
          <a:prstGeom prst="rect">
            <a:avLst/>
          </a:prstGeom>
          <a:noFill/>
        </p:spPr>
        <p:txBody>
          <a:bodyPr wrap="square">
            <a:spAutoFit/>
          </a:bodyPr>
          <a:lstStyle/>
          <a:p>
            <a:pPr algn="l">
              <a:defRPr sz="1100" b="1">
                <a:solidFill>
                  <a:srgbClr val="F8FAFC"/>
                </a:solidFill>
                <a:latin typeface="Be Vietnam Pro"/>
              </a:defRPr>
            </a:pPr>
            <a:r>
              <a:t>Phân quyền</a:t>
            </a:r>
          </a:p>
        </p:txBody>
      </p:sp>
      <p:sp>
        <p:nvSpPr>
          <p:cNvPr id="53" name="Rectangle 52"/>
          <p:cNvSpPr/>
          <p:nvPr/>
        </p:nvSpPr>
        <p:spPr>
          <a:xfrm>
            <a:off x="2606040" y="6025896"/>
            <a:ext cx="457200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43200" y="6071616"/>
            <a:ext cx="4297680" cy="548640"/>
          </a:xfrm>
          <a:prstGeom prst="rect">
            <a:avLst/>
          </a:prstGeom>
          <a:noFill/>
        </p:spPr>
        <p:txBody>
          <a:bodyPr wrap="square">
            <a:spAutoFit/>
          </a:bodyPr>
          <a:lstStyle/>
          <a:p>
            <a:pPr algn="l">
              <a:defRPr sz="1000" b="0">
                <a:solidFill>
                  <a:srgbClr val="FCA5A5"/>
                </a:solidFill>
                <a:latin typeface="Be Vietnam Pro"/>
              </a:defRPr>
            </a:pPr>
            <a:r>
              <a:t>2-3 vai trò cơ bản</a:t>
            </a:r>
          </a:p>
        </p:txBody>
      </p:sp>
      <p:sp>
        <p:nvSpPr>
          <p:cNvPr id="55" name="Rectangle 54"/>
          <p:cNvSpPr/>
          <p:nvPr/>
        </p:nvSpPr>
        <p:spPr>
          <a:xfrm>
            <a:off x="7223760" y="6025896"/>
            <a:ext cx="4663440" cy="621792"/>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60920" y="6071616"/>
            <a:ext cx="4389120" cy="548640"/>
          </a:xfrm>
          <a:prstGeom prst="rect">
            <a:avLst/>
          </a:prstGeom>
          <a:noFill/>
        </p:spPr>
        <p:txBody>
          <a:bodyPr wrap="square">
            <a:spAutoFit/>
          </a:bodyPr>
          <a:lstStyle/>
          <a:p>
            <a:pPr algn="l">
              <a:defRPr sz="1000" b="0">
                <a:solidFill>
                  <a:srgbClr val="6EE7B7"/>
                </a:solidFill>
                <a:latin typeface="Be Vietnam Pro"/>
              </a:defRPr>
            </a:pPr>
            <a:r>
              <a:t>phân quyền 5 cấp + ma trận</a:t>
            </a:r>
            <a:br/>
            <a:r>
              <a:t>phân quyền chi tiết</a:t>
            </a:r>
          </a:p>
        </p:txBody>
      </p:sp>
      <p:sp>
        <p:nvSpPr>
          <p:cNvPr id="57" name="TextBox 56"/>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19/27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1371600" y="137160"/>
            <a:ext cx="9418320" cy="640080"/>
          </a:xfrm>
          <a:prstGeom prst="rect">
            <a:avLst/>
          </a:prstGeom>
          <a:noFill/>
        </p:spPr>
        <p:txBody>
          <a:bodyPr wrap="square">
            <a:spAutoFit/>
          </a:bodyPr>
          <a:lstStyle/>
          <a:p>
            <a:pPr algn="ctr">
              <a:defRPr sz="3400" b="1">
                <a:solidFill>
                  <a:srgbClr val="F8FAFC"/>
                </a:solidFill>
                <a:latin typeface="Be Vietnam Pro"/>
              </a:defRPr>
            </a:pPr>
            <a:r>
              <a:t>Hiệu quả mang lại</a:t>
            </a:r>
          </a:p>
        </p:txBody>
      </p:sp>
      <p:sp>
        <p:nvSpPr>
          <p:cNvPr id="3" name="Rounded Rectangle 2"/>
          <p:cNvSpPr/>
          <p:nvPr/>
        </p:nvSpPr>
        <p:spPr>
          <a:xfrm>
            <a:off x="457200" y="1005840"/>
            <a:ext cx="3611880" cy="45720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3611880" cy="457200"/>
          </a:xfrm>
          <a:prstGeom prst="rect">
            <a:avLst/>
          </a:prstGeom>
          <a:noFill/>
        </p:spPr>
        <p:txBody>
          <a:bodyPr wrap="square">
            <a:spAutoFit/>
          </a:bodyPr>
          <a:lstStyle/>
          <a:p>
            <a:pPr algn="ctr">
              <a:defRPr sz="3200" b="0">
                <a:solidFill>
                  <a:srgbClr val="F8FAFC"/>
                </a:solidFill>
                <a:latin typeface="Be Vietnam Pro"/>
              </a:defRPr>
            </a:pPr>
            <a:r>
              <a:t>⚙️</a:t>
            </a:r>
          </a:p>
        </p:txBody>
      </p:sp>
      <p:sp>
        <p:nvSpPr>
          <p:cNvPr id="5" name="TextBox 4"/>
          <p:cNvSpPr txBox="1"/>
          <p:nvPr/>
        </p:nvSpPr>
        <p:spPr>
          <a:xfrm>
            <a:off x="457200" y="1645920"/>
            <a:ext cx="3611880" cy="365760"/>
          </a:xfrm>
          <a:prstGeom prst="rect">
            <a:avLst/>
          </a:prstGeom>
          <a:noFill/>
        </p:spPr>
        <p:txBody>
          <a:bodyPr wrap="square">
            <a:spAutoFit/>
          </a:bodyPr>
          <a:lstStyle/>
          <a:p>
            <a:pPr algn="ctr">
              <a:defRPr sz="1700" b="1">
                <a:solidFill>
                  <a:srgbClr val="60A5FA"/>
                </a:solidFill>
                <a:latin typeface="Be Vietnam Pro"/>
              </a:defRPr>
            </a:pPr>
            <a:r>
              <a:t>Hiệu quả Kỹ thuật</a:t>
            </a:r>
          </a:p>
        </p:txBody>
      </p:sp>
      <p:sp>
        <p:nvSpPr>
          <p:cNvPr id="6" name="TextBox 5"/>
          <p:cNvSpPr txBox="1"/>
          <p:nvPr/>
        </p:nvSpPr>
        <p:spPr>
          <a:xfrm>
            <a:off x="640080" y="2194560"/>
            <a:ext cx="3246120" cy="640080"/>
          </a:xfrm>
          <a:prstGeom prst="rect">
            <a:avLst/>
          </a:prstGeom>
          <a:noFill/>
        </p:spPr>
        <p:txBody>
          <a:bodyPr wrap="square">
            <a:spAutoFit/>
          </a:bodyPr>
          <a:lstStyle/>
          <a:p>
            <a:pPr algn="l">
              <a:defRPr sz="1100" b="0">
                <a:solidFill>
                  <a:srgbClr val="94A3B8"/>
                </a:solidFill>
                <a:latin typeface="Be Vietnam Pro"/>
              </a:defRPr>
            </a:pPr>
            <a:r>
              <a:t>▸  Tiết kiệm 70% thời gian soạn &amp; chấm bài</a:t>
            </a:r>
          </a:p>
        </p:txBody>
      </p:sp>
      <p:sp>
        <p:nvSpPr>
          <p:cNvPr id="7" name="TextBox 6"/>
          <p:cNvSpPr txBox="1"/>
          <p:nvPr/>
        </p:nvSpPr>
        <p:spPr>
          <a:xfrm>
            <a:off x="640080" y="2926080"/>
            <a:ext cx="3246120" cy="640080"/>
          </a:xfrm>
          <a:prstGeom prst="rect">
            <a:avLst/>
          </a:prstGeom>
          <a:noFill/>
        </p:spPr>
        <p:txBody>
          <a:bodyPr wrap="square">
            <a:spAutoFit/>
          </a:bodyPr>
          <a:lstStyle/>
          <a:p>
            <a:pPr algn="l">
              <a:defRPr sz="1100" b="0">
                <a:solidFill>
                  <a:srgbClr val="94A3B8"/>
                </a:solidFill>
                <a:latin typeface="Be Vietnam Pro"/>
              </a:defRPr>
            </a:pPr>
            <a:r>
              <a:t>▸  AI 24/7, phản hồi tức thì qua SSE</a:t>
            </a:r>
          </a:p>
        </p:txBody>
      </p:sp>
      <p:sp>
        <p:nvSpPr>
          <p:cNvPr id="8" name="TextBox 7"/>
          <p:cNvSpPr txBox="1"/>
          <p:nvPr/>
        </p:nvSpPr>
        <p:spPr>
          <a:xfrm>
            <a:off x="640080" y="3657600"/>
            <a:ext cx="3246120" cy="640080"/>
          </a:xfrm>
          <a:prstGeom prst="rect">
            <a:avLst/>
          </a:prstGeom>
          <a:noFill/>
        </p:spPr>
        <p:txBody>
          <a:bodyPr wrap="square">
            <a:spAutoFit/>
          </a:bodyPr>
          <a:lstStyle/>
          <a:p>
            <a:pPr algn="l">
              <a:defRPr sz="1100" b="0">
                <a:solidFill>
                  <a:srgbClr val="94A3B8"/>
                </a:solidFill>
                <a:latin typeface="Be Vietnam Pro"/>
              </a:defRPr>
            </a:pPr>
            <a:r>
              <a:t>▸  45+ API endpoints, kiến trúc monorepo</a:t>
            </a:r>
          </a:p>
        </p:txBody>
      </p:sp>
      <p:sp>
        <p:nvSpPr>
          <p:cNvPr id="9" name="TextBox 8"/>
          <p:cNvSpPr txBox="1"/>
          <p:nvPr/>
        </p:nvSpPr>
        <p:spPr>
          <a:xfrm>
            <a:off x="640080" y="4389120"/>
            <a:ext cx="3246120" cy="640080"/>
          </a:xfrm>
          <a:prstGeom prst="rect">
            <a:avLst/>
          </a:prstGeom>
          <a:noFill/>
        </p:spPr>
        <p:txBody>
          <a:bodyPr wrap="square">
            <a:spAutoFit/>
          </a:bodyPr>
          <a:lstStyle/>
          <a:p>
            <a:pPr algn="l">
              <a:defRPr sz="1100" b="0">
                <a:solidFill>
                  <a:srgbClr val="94A3B8"/>
                </a:solidFill>
                <a:latin typeface="Be Vietnam Pro"/>
              </a:defRPr>
            </a:pPr>
            <a:r>
              <a:t>▸  sendBeacon — không mất dữ liệu</a:t>
            </a:r>
          </a:p>
        </p:txBody>
      </p:sp>
      <p:sp>
        <p:nvSpPr>
          <p:cNvPr id="10" name="Rounded Rectangle 9"/>
          <p:cNvSpPr/>
          <p:nvPr/>
        </p:nvSpPr>
        <p:spPr>
          <a:xfrm>
            <a:off x="4343400" y="1005840"/>
            <a:ext cx="3611880" cy="45720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097280"/>
            <a:ext cx="3611880" cy="457200"/>
          </a:xfrm>
          <a:prstGeom prst="rect">
            <a:avLst/>
          </a:prstGeom>
          <a:noFill/>
        </p:spPr>
        <p:txBody>
          <a:bodyPr wrap="square">
            <a:spAutoFit/>
          </a:bodyPr>
          <a:lstStyle/>
          <a:p>
            <a:pPr algn="ctr">
              <a:defRPr sz="3200" b="0">
                <a:solidFill>
                  <a:srgbClr val="F8FAFC"/>
                </a:solidFill>
                <a:latin typeface="Be Vietnam Pro"/>
              </a:defRPr>
            </a:pPr>
            <a:r>
              <a:t>💰</a:t>
            </a:r>
          </a:p>
        </p:txBody>
      </p:sp>
      <p:sp>
        <p:nvSpPr>
          <p:cNvPr id="12" name="TextBox 11"/>
          <p:cNvSpPr txBox="1"/>
          <p:nvPr/>
        </p:nvSpPr>
        <p:spPr>
          <a:xfrm>
            <a:off x="4343400" y="1645920"/>
            <a:ext cx="3611880" cy="365760"/>
          </a:xfrm>
          <a:prstGeom prst="rect">
            <a:avLst/>
          </a:prstGeom>
          <a:noFill/>
        </p:spPr>
        <p:txBody>
          <a:bodyPr wrap="square">
            <a:spAutoFit/>
          </a:bodyPr>
          <a:lstStyle/>
          <a:p>
            <a:pPr algn="ctr">
              <a:defRPr sz="1700" b="1">
                <a:solidFill>
                  <a:srgbClr val="34D399"/>
                </a:solidFill>
                <a:latin typeface="Be Vietnam Pro"/>
              </a:defRPr>
            </a:pPr>
            <a:r>
              <a:t>Hiệu quả Kinh tế</a:t>
            </a:r>
          </a:p>
        </p:txBody>
      </p:sp>
      <p:sp>
        <p:nvSpPr>
          <p:cNvPr id="13" name="TextBox 12"/>
          <p:cNvSpPr txBox="1"/>
          <p:nvPr/>
        </p:nvSpPr>
        <p:spPr>
          <a:xfrm>
            <a:off x="4526280" y="2194560"/>
            <a:ext cx="3246120" cy="640080"/>
          </a:xfrm>
          <a:prstGeom prst="rect">
            <a:avLst/>
          </a:prstGeom>
          <a:noFill/>
        </p:spPr>
        <p:txBody>
          <a:bodyPr wrap="square">
            <a:spAutoFit/>
          </a:bodyPr>
          <a:lstStyle/>
          <a:p>
            <a:pPr algn="l">
              <a:defRPr sz="1100" b="0">
                <a:solidFill>
                  <a:srgbClr val="94A3B8"/>
                </a:solidFill>
                <a:latin typeface="Be Vietnam Pro"/>
              </a:defRPr>
            </a:pPr>
            <a:r>
              <a:t>▸  Chi phí thấp hơn giải pháp nước ngoài</a:t>
            </a:r>
          </a:p>
        </p:txBody>
      </p:sp>
      <p:sp>
        <p:nvSpPr>
          <p:cNvPr id="14" name="TextBox 13"/>
          <p:cNvSpPr txBox="1"/>
          <p:nvPr/>
        </p:nvSpPr>
        <p:spPr>
          <a:xfrm>
            <a:off x="4526280" y="2926080"/>
            <a:ext cx="3246120" cy="640080"/>
          </a:xfrm>
          <a:prstGeom prst="rect">
            <a:avLst/>
          </a:prstGeom>
          <a:noFill/>
        </p:spPr>
        <p:txBody>
          <a:bodyPr wrap="square">
            <a:spAutoFit/>
          </a:bodyPr>
          <a:lstStyle/>
          <a:p>
            <a:pPr algn="l">
              <a:defRPr sz="1100" b="0">
                <a:solidFill>
                  <a:srgbClr val="94A3B8"/>
                </a:solidFill>
                <a:latin typeface="Be Vietnam Pro"/>
              </a:defRPr>
            </a:pPr>
            <a:r>
              <a:t>▸  Giảm chi phí in ấn đề thi, tài liệu</a:t>
            </a:r>
          </a:p>
        </p:txBody>
      </p:sp>
      <p:sp>
        <p:nvSpPr>
          <p:cNvPr id="15" name="TextBox 14"/>
          <p:cNvSpPr txBox="1"/>
          <p:nvPr/>
        </p:nvSpPr>
        <p:spPr>
          <a:xfrm>
            <a:off x="4526280" y="3657600"/>
            <a:ext cx="3246120" cy="640080"/>
          </a:xfrm>
          <a:prstGeom prst="rect">
            <a:avLst/>
          </a:prstGeom>
          <a:noFill/>
        </p:spPr>
        <p:txBody>
          <a:bodyPr wrap="square">
            <a:spAutoFit/>
          </a:bodyPr>
          <a:lstStyle/>
          <a:p>
            <a:pPr algn="l">
              <a:defRPr sz="1100" b="0">
                <a:solidFill>
                  <a:srgbClr val="94A3B8"/>
                </a:solidFill>
                <a:latin typeface="Be Vietnam Pro"/>
              </a:defRPr>
            </a:pPr>
            <a:r>
              <a:t>▸  Mở rộng không giới hạn nhờ cloud</a:t>
            </a:r>
          </a:p>
        </p:txBody>
      </p:sp>
      <p:sp>
        <p:nvSpPr>
          <p:cNvPr id="16" name="TextBox 15"/>
          <p:cNvSpPr txBox="1"/>
          <p:nvPr/>
        </p:nvSpPr>
        <p:spPr>
          <a:xfrm>
            <a:off x="4526280" y="4389120"/>
            <a:ext cx="3246120" cy="640080"/>
          </a:xfrm>
          <a:prstGeom prst="rect">
            <a:avLst/>
          </a:prstGeom>
          <a:noFill/>
        </p:spPr>
        <p:txBody>
          <a:bodyPr wrap="square">
            <a:spAutoFit/>
          </a:bodyPr>
          <a:lstStyle/>
          <a:p>
            <a:pPr algn="l">
              <a:defRPr sz="1100" b="0">
                <a:solidFill>
                  <a:srgbClr val="94A3B8"/>
                </a:solidFill>
                <a:latin typeface="Be Vietnam Pro"/>
              </a:defRPr>
            </a:pPr>
            <a:r>
              <a:t>▸  Không cần mua bản quyền đắt đỏ</a:t>
            </a:r>
          </a:p>
        </p:txBody>
      </p:sp>
      <p:sp>
        <p:nvSpPr>
          <p:cNvPr id="17" name="Rounded Rectangle 16"/>
          <p:cNvSpPr/>
          <p:nvPr/>
        </p:nvSpPr>
        <p:spPr>
          <a:xfrm>
            <a:off x="8229600" y="1005840"/>
            <a:ext cx="3611880" cy="45720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097280"/>
            <a:ext cx="3611880" cy="457200"/>
          </a:xfrm>
          <a:prstGeom prst="rect">
            <a:avLst/>
          </a:prstGeom>
          <a:noFill/>
        </p:spPr>
        <p:txBody>
          <a:bodyPr wrap="square">
            <a:spAutoFit/>
          </a:bodyPr>
          <a:lstStyle/>
          <a:p>
            <a:pPr algn="ctr">
              <a:defRPr sz="3200" b="0">
                <a:solidFill>
                  <a:srgbClr val="F8FAFC"/>
                </a:solidFill>
                <a:latin typeface="Be Vietnam Pro"/>
              </a:defRPr>
            </a:pPr>
            <a:r>
              <a:t>🌍</a:t>
            </a:r>
          </a:p>
        </p:txBody>
      </p:sp>
      <p:sp>
        <p:nvSpPr>
          <p:cNvPr id="19" name="TextBox 18"/>
          <p:cNvSpPr txBox="1"/>
          <p:nvPr/>
        </p:nvSpPr>
        <p:spPr>
          <a:xfrm>
            <a:off x="8229600" y="1645920"/>
            <a:ext cx="3611880" cy="365760"/>
          </a:xfrm>
          <a:prstGeom prst="rect">
            <a:avLst/>
          </a:prstGeom>
          <a:noFill/>
        </p:spPr>
        <p:txBody>
          <a:bodyPr wrap="square">
            <a:spAutoFit/>
          </a:bodyPr>
          <a:lstStyle/>
          <a:p>
            <a:pPr algn="ctr">
              <a:defRPr sz="1700" b="1">
                <a:solidFill>
                  <a:srgbClr val="A78BFA"/>
                </a:solidFill>
                <a:latin typeface="Be Vietnam Pro"/>
              </a:defRPr>
            </a:pPr>
            <a:r>
              <a:t>Hiệu quả Xã hội</a:t>
            </a:r>
          </a:p>
        </p:txBody>
      </p:sp>
      <p:sp>
        <p:nvSpPr>
          <p:cNvPr id="20" name="TextBox 19"/>
          <p:cNvSpPr txBox="1"/>
          <p:nvPr/>
        </p:nvSpPr>
        <p:spPr>
          <a:xfrm>
            <a:off x="8412480" y="2194560"/>
            <a:ext cx="3246120" cy="640080"/>
          </a:xfrm>
          <a:prstGeom prst="rect">
            <a:avLst/>
          </a:prstGeom>
          <a:noFill/>
        </p:spPr>
        <p:txBody>
          <a:bodyPr wrap="square">
            <a:spAutoFit/>
          </a:bodyPr>
          <a:lstStyle/>
          <a:p>
            <a:pPr algn="l">
              <a:defRPr sz="1100" b="0">
                <a:solidFill>
                  <a:srgbClr val="94A3B8"/>
                </a:solidFill>
                <a:latin typeface="Be Vietnam Pro"/>
              </a:defRPr>
            </a:pPr>
            <a:r>
              <a:t>▸  Thu hẹp khoảng cách giáo dục</a:t>
            </a:r>
          </a:p>
        </p:txBody>
      </p:sp>
      <p:sp>
        <p:nvSpPr>
          <p:cNvPr id="21" name="TextBox 20"/>
          <p:cNvSpPr txBox="1"/>
          <p:nvPr/>
        </p:nvSpPr>
        <p:spPr>
          <a:xfrm>
            <a:off x="8412480" y="2926080"/>
            <a:ext cx="3246120" cy="640080"/>
          </a:xfrm>
          <a:prstGeom prst="rect">
            <a:avLst/>
          </a:prstGeom>
          <a:noFill/>
        </p:spPr>
        <p:txBody>
          <a:bodyPr wrap="square">
            <a:spAutoFit/>
          </a:bodyPr>
          <a:lstStyle/>
          <a:p>
            <a:pPr algn="l">
              <a:defRPr sz="1100" b="0">
                <a:solidFill>
                  <a:srgbClr val="94A3B8"/>
                </a:solidFill>
                <a:latin typeface="Be Vietnam Pro"/>
              </a:defRPr>
            </a:pPr>
            <a:r>
              <a:t>▸  Học sinh vùng sâu tiếp cận AI Tutor</a:t>
            </a:r>
          </a:p>
        </p:txBody>
      </p:sp>
      <p:sp>
        <p:nvSpPr>
          <p:cNvPr id="22" name="TextBox 21"/>
          <p:cNvSpPr txBox="1"/>
          <p:nvPr/>
        </p:nvSpPr>
        <p:spPr>
          <a:xfrm>
            <a:off x="8412480" y="3657600"/>
            <a:ext cx="3246120" cy="640080"/>
          </a:xfrm>
          <a:prstGeom prst="rect">
            <a:avLst/>
          </a:prstGeom>
          <a:noFill/>
        </p:spPr>
        <p:txBody>
          <a:bodyPr wrap="square">
            <a:spAutoFit/>
          </a:bodyPr>
          <a:lstStyle/>
          <a:p>
            <a:pPr algn="l">
              <a:defRPr sz="1100" b="0">
                <a:solidFill>
                  <a:srgbClr val="94A3B8"/>
                </a:solidFill>
                <a:latin typeface="Be Vietnam Pro"/>
              </a:defRPr>
            </a:pPr>
            <a:r>
              <a:t>▸  Tăng cường sự tham gia của phụ huynh</a:t>
            </a:r>
          </a:p>
        </p:txBody>
      </p:sp>
      <p:sp>
        <p:nvSpPr>
          <p:cNvPr id="23" name="TextBox 22"/>
          <p:cNvSpPr txBox="1"/>
          <p:nvPr/>
        </p:nvSpPr>
        <p:spPr>
          <a:xfrm>
            <a:off x="8412480" y="4389120"/>
            <a:ext cx="3246120" cy="640080"/>
          </a:xfrm>
          <a:prstGeom prst="rect">
            <a:avLst/>
          </a:prstGeom>
          <a:noFill/>
        </p:spPr>
        <p:txBody>
          <a:bodyPr wrap="square">
            <a:spAutoFit/>
          </a:bodyPr>
          <a:lstStyle/>
          <a:p>
            <a:pPr algn="l">
              <a:defRPr sz="1100" b="0">
                <a:solidFill>
                  <a:srgbClr val="94A3B8"/>
                </a:solidFill>
                <a:latin typeface="Be Vietnam Pro"/>
              </a:defRPr>
            </a:pPr>
            <a:r>
              <a:t>▸  Giảm áp lực công việc cho giáo viên</a:t>
            </a:r>
          </a:p>
        </p:txBody>
      </p:sp>
      <p:sp>
        <p:nvSpPr>
          <p:cNvPr id="24" name="TextBox 23"/>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20/27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914400" y="137160"/>
            <a:ext cx="10332720" cy="640080"/>
          </a:xfrm>
          <a:prstGeom prst="rect">
            <a:avLst/>
          </a:prstGeom>
          <a:noFill/>
        </p:spPr>
        <p:txBody>
          <a:bodyPr wrap="square">
            <a:spAutoFit/>
          </a:bodyPr>
          <a:lstStyle/>
          <a:p>
            <a:pPr algn="ctr">
              <a:defRPr sz="3400" b="1">
                <a:solidFill>
                  <a:srgbClr val="F8FAFC"/>
                </a:solidFill>
                <a:latin typeface="Be Vietnam Pro"/>
              </a:defRPr>
            </a:pPr>
            <a:r>
              <a:t>Khả năng áp dụng</a:t>
            </a:r>
          </a:p>
        </p:txBody>
      </p:sp>
      <p:sp>
        <p:nvSpPr>
          <p:cNvPr id="3" name="Rounded Rectangle 2"/>
          <p:cNvSpPr/>
          <p:nvPr/>
        </p:nvSpPr>
        <p:spPr>
          <a:xfrm>
            <a:off x="274320" y="1097280"/>
            <a:ext cx="5577840" cy="32004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5212080" cy="365760"/>
          </a:xfrm>
          <a:prstGeom prst="rect">
            <a:avLst/>
          </a:prstGeom>
          <a:noFill/>
        </p:spPr>
        <p:txBody>
          <a:bodyPr wrap="square">
            <a:spAutoFit/>
          </a:bodyPr>
          <a:lstStyle/>
          <a:p>
            <a:pPr algn="l">
              <a:defRPr sz="1700" b="1">
                <a:solidFill>
                  <a:srgbClr val="60A5FA"/>
                </a:solidFill>
                <a:latin typeface="Be Vietnam Pro"/>
              </a:defRPr>
            </a:pPr>
            <a:r>
              <a:t>🎯 Đối tượng sử dụng</a:t>
            </a:r>
          </a:p>
        </p:txBody>
      </p:sp>
      <p:sp>
        <p:nvSpPr>
          <p:cNvPr id="5" name="TextBox 4"/>
          <p:cNvSpPr txBox="1"/>
          <p:nvPr/>
        </p:nvSpPr>
        <p:spPr>
          <a:xfrm>
            <a:off x="548640" y="1828800"/>
            <a:ext cx="5029200" cy="457200"/>
          </a:xfrm>
          <a:prstGeom prst="rect">
            <a:avLst/>
          </a:prstGeom>
          <a:noFill/>
        </p:spPr>
        <p:txBody>
          <a:bodyPr wrap="square">
            <a:spAutoFit/>
          </a:bodyPr>
          <a:lstStyle/>
          <a:p>
            <a:pPr algn="l">
              <a:defRPr sz="1300" b="0">
                <a:solidFill>
                  <a:srgbClr val="94A3B8"/>
                </a:solidFill>
                <a:latin typeface="Be Vietnam Pro"/>
              </a:defRPr>
            </a:pPr>
            <a:r>
              <a:t>🏫  Trường học các cấp (Tiểu học, THCS, THPT)</a:t>
            </a:r>
          </a:p>
        </p:txBody>
      </p:sp>
      <p:sp>
        <p:nvSpPr>
          <p:cNvPr id="6" name="TextBox 5"/>
          <p:cNvSpPr txBox="1"/>
          <p:nvPr/>
        </p:nvSpPr>
        <p:spPr>
          <a:xfrm>
            <a:off x="548640" y="2423160"/>
            <a:ext cx="5029200" cy="457200"/>
          </a:xfrm>
          <a:prstGeom prst="rect">
            <a:avLst/>
          </a:prstGeom>
          <a:noFill/>
        </p:spPr>
        <p:txBody>
          <a:bodyPr wrap="square">
            <a:spAutoFit/>
          </a:bodyPr>
          <a:lstStyle/>
          <a:p>
            <a:pPr algn="l">
              <a:defRPr sz="1300" b="0">
                <a:solidFill>
                  <a:srgbClr val="94A3B8"/>
                </a:solidFill>
                <a:latin typeface="Be Vietnam Pro"/>
              </a:defRPr>
            </a:pPr>
            <a:r>
              <a:t>🏠  Học sinh tự học tại nhà</a:t>
            </a:r>
          </a:p>
        </p:txBody>
      </p:sp>
      <p:sp>
        <p:nvSpPr>
          <p:cNvPr id="7" name="TextBox 6"/>
          <p:cNvSpPr txBox="1"/>
          <p:nvPr/>
        </p:nvSpPr>
        <p:spPr>
          <a:xfrm>
            <a:off x="548640" y="3017520"/>
            <a:ext cx="5029200" cy="457200"/>
          </a:xfrm>
          <a:prstGeom prst="rect">
            <a:avLst/>
          </a:prstGeom>
          <a:noFill/>
        </p:spPr>
        <p:txBody>
          <a:bodyPr wrap="square">
            <a:spAutoFit/>
          </a:bodyPr>
          <a:lstStyle/>
          <a:p>
            <a:pPr algn="l">
              <a:defRPr sz="1300" b="0">
                <a:solidFill>
                  <a:srgbClr val="94A3B8"/>
                </a:solidFill>
                <a:latin typeface="Be Vietnam Pro"/>
              </a:defRPr>
            </a:pPr>
            <a:r>
              <a:t>👨‍🏫  Trung tâm dạy thêm, gia sư</a:t>
            </a:r>
          </a:p>
        </p:txBody>
      </p:sp>
      <p:sp>
        <p:nvSpPr>
          <p:cNvPr id="8" name="TextBox 7"/>
          <p:cNvSpPr txBox="1"/>
          <p:nvPr/>
        </p:nvSpPr>
        <p:spPr>
          <a:xfrm>
            <a:off x="548640" y="3611880"/>
            <a:ext cx="5029200" cy="457200"/>
          </a:xfrm>
          <a:prstGeom prst="rect">
            <a:avLst/>
          </a:prstGeom>
          <a:noFill/>
        </p:spPr>
        <p:txBody>
          <a:bodyPr wrap="square">
            <a:spAutoFit/>
          </a:bodyPr>
          <a:lstStyle/>
          <a:p>
            <a:pPr algn="l">
              <a:defRPr sz="1300" b="0">
                <a:solidFill>
                  <a:srgbClr val="94A3B8"/>
                </a:solidFill>
                <a:latin typeface="Be Vietnam Pro"/>
              </a:defRPr>
            </a:pPr>
            <a:r>
              <a:t>🏢  Sở / Phòng GD&amp;ĐT quản lý tập trung</a:t>
            </a:r>
          </a:p>
        </p:txBody>
      </p:sp>
      <p:sp>
        <p:nvSpPr>
          <p:cNvPr id="9" name="Rounded Rectangle 8"/>
          <p:cNvSpPr/>
          <p:nvPr/>
        </p:nvSpPr>
        <p:spPr>
          <a:xfrm>
            <a:off x="6309360" y="1097280"/>
            <a:ext cx="5577840" cy="320040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234440"/>
            <a:ext cx="5212080" cy="365760"/>
          </a:xfrm>
          <a:prstGeom prst="rect">
            <a:avLst/>
          </a:prstGeom>
          <a:noFill/>
        </p:spPr>
        <p:txBody>
          <a:bodyPr wrap="square">
            <a:spAutoFit/>
          </a:bodyPr>
          <a:lstStyle/>
          <a:p>
            <a:pPr algn="l">
              <a:defRPr sz="1700" b="1">
                <a:solidFill>
                  <a:srgbClr val="34D399"/>
                </a:solidFill>
                <a:latin typeface="Be Vietnam Pro"/>
              </a:defRPr>
            </a:pPr>
            <a:r>
              <a:t>📈 Quy mô triển khai</a:t>
            </a:r>
          </a:p>
        </p:txBody>
      </p:sp>
      <p:sp>
        <p:nvSpPr>
          <p:cNvPr id="11" name="TextBox 10"/>
          <p:cNvSpPr txBox="1"/>
          <p:nvPr/>
        </p:nvSpPr>
        <p:spPr>
          <a:xfrm>
            <a:off x="6583680" y="1828800"/>
            <a:ext cx="5029200" cy="457200"/>
          </a:xfrm>
          <a:prstGeom prst="rect">
            <a:avLst/>
          </a:prstGeom>
          <a:noFill/>
        </p:spPr>
        <p:txBody>
          <a:bodyPr wrap="square">
            <a:spAutoFit/>
          </a:bodyPr>
          <a:lstStyle/>
          <a:p>
            <a:pPr algn="l">
              <a:defRPr sz="1300" b="0">
                <a:solidFill>
                  <a:srgbClr val="94A3B8"/>
                </a:solidFill>
                <a:latin typeface="Be Vietnam Pro"/>
              </a:defRPr>
            </a:pPr>
            <a:r>
              <a:t>🏫  1 trường — Triển khai trong 1-2 ngày</a:t>
            </a:r>
          </a:p>
        </p:txBody>
      </p:sp>
      <p:sp>
        <p:nvSpPr>
          <p:cNvPr id="12" name="TextBox 11"/>
          <p:cNvSpPr txBox="1"/>
          <p:nvPr/>
        </p:nvSpPr>
        <p:spPr>
          <a:xfrm>
            <a:off x="6583680" y="2423160"/>
            <a:ext cx="5029200" cy="457200"/>
          </a:xfrm>
          <a:prstGeom prst="rect">
            <a:avLst/>
          </a:prstGeom>
          <a:noFill/>
        </p:spPr>
        <p:txBody>
          <a:bodyPr wrap="square">
            <a:spAutoFit/>
          </a:bodyPr>
          <a:lstStyle/>
          <a:p>
            <a:pPr algn="l">
              <a:defRPr sz="1300" b="0">
                <a:solidFill>
                  <a:srgbClr val="94A3B8"/>
                </a:solidFill>
                <a:latin typeface="Be Vietnam Pro"/>
              </a:defRPr>
            </a:pPr>
            <a:r>
              <a:t>🏘️  Cụm trường — Dùng chung hạ tầng cloud</a:t>
            </a:r>
          </a:p>
        </p:txBody>
      </p:sp>
      <p:sp>
        <p:nvSpPr>
          <p:cNvPr id="13" name="TextBox 12"/>
          <p:cNvSpPr txBox="1"/>
          <p:nvPr/>
        </p:nvSpPr>
        <p:spPr>
          <a:xfrm>
            <a:off x="6583680" y="3017520"/>
            <a:ext cx="5029200" cy="457200"/>
          </a:xfrm>
          <a:prstGeom prst="rect">
            <a:avLst/>
          </a:prstGeom>
          <a:noFill/>
        </p:spPr>
        <p:txBody>
          <a:bodyPr wrap="square">
            <a:spAutoFit/>
          </a:bodyPr>
          <a:lstStyle/>
          <a:p>
            <a:pPr algn="l">
              <a:defRPr sz="1300" b="0">
                <a:solidFill>
                  <a:srgbClr val="94A3B8"/>
                </a:solidFill>
                <a:latin typeface="Be Vietnam Pro"/>
              </a:defRPr>
            </a:pPr>
            <a:r>
              <a:t>🏙️  Cấp tỉnh — Azure Container Apps auto-scale</a:t>
            </a:r>
          </a:p>
        </p:txBody>
      </p:sp>
      <p:sp>
        <p:nvSpPr>
          <p:cNvPr id="14" name="TextBox 13"/>
          <p:cNvSpPr txBox="1"/>
          <p:nvPr/>
        </p:nvSpPr>
        <p:spPr>
          <a:xfrm>
            <a:off x="6583680" y="3611880"/>
            <a:ext cx="5029200" cy="457200"/>
          </a:xfrm>
          <a:prstGeom prst="rect">
            <a:avLst/>
          </a:prstGeom>
          <a:noFill/>
        </p:spPr>
        <p:txBody>
          <a:bodyPr wrap="square">
            <a:spAutoFit/>
          </a:bodyPr>
          <a:lstStyle/>
          <a:p>
            <a:pPr algn="l">
              <a:defRPr sz="1300" b="0">
                <a:solidFill>
                  <a:srgbClr val="94A3B8"/>
                </a:solidFill>
                <a:latin typeface="Be Vietnam Pro"/>
              </a:defRPr>
            </a:pPr>
            <a:r>
              <a:t>🌏  Toàn quốc — Kiến trúc sẵn sàng mở rộng</a:t>
            </a:r>
          </a:p>
        </p:txBody>
      </p:sp>
      <p:sp>
        <p:nvSpPr>
          <p:cNvPr id="15" name="Rounded Rectangle 14"/>
          <p:cNvSpPr/>
          <p:nvPr/>
        </p:nvSpPr>
        <p:spPr>
          <a:xfrm>
            <a:off x="274320" y="4754880"/>
            <a:ext cx="11612880" cy="1188720"/>
          </a:xfrm>
          <a:prstGeom prst="roundRect">
            <a:avLst/>
          </a:prstGeom>
          <a:solidFill>
            <a:srgbClr val="151005"/>
          </a:solidFill>
          <a:ln w="12700">
            <a:solidFill>
              <a:srgbClr val="403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846320"/>
            <a:ext cx="548640" cy="548640"/>
          </a:xfrm>
          <a:prstGeom prst="rect">
            <a:avLst/>
          </a:prstGeom>
          <a:noFill/>
        </p:spPr>
        <p:txBody>
          <a:bodyPr wrap="square">
            <a:spAutoFit/>
          </a:bodyPr>
          <a:lstStyle/>
          <a:p>
            <a:pPr algn="ctr">
              <a:defRPr sz="3000" b="0">
                <a:solidFill>
                  <a:srgbClr val="F8FAFC"/>
                </a:solidFill>
                <a:latin typeface="Be Vietnam Pro"/>
              </a:defRPr>
            </a:pPr>
            <a:r>
              <a:t>🔮</a:t>
            </a:r>
          </a:p>
        </p:txBody>
      </p:sp>
      <p:sp>
        <p:nvSpPr>
          <p:cNvPr id="17" name="TextBox 16"/>
          <p:cNvSpPr txBox="1"/>
          <p:nvPr/>
        </p:nvSpPr>
        <p:spPr>
          <a:xfrm>
            <a:off x="1005840" y="4846320"/>
            <a:ext cx="10515600" cy="365760"/>
          </a:xfrm>
          <a:prstGeom prst="rect">
            <a:avLst/>
          </a:prstGeom>
          <a:noFill/>
        </p:spPr>
        <p:txBody>
          <a:bodyPr wrap="square">
            <a:spAutoFit/>
          </a:bodyPr>
          <a:lstStyle/>
          <a:p>
            <a:pPr algn="l">
              <a:defRPr sz="1400" b="1">
                <a:solidFill>
                  <a:srgbClr val="FBBF24"/>
                </a:solidFill>
                <a:latin typeface="Be Vietnam Pro"/>
              </a:defRPr>
            </a:pPr>
            <a:r>
              <a:t>Định hướng phát triển</a:t>
            </a:r>
          </a:p>
        </p:txBody>
      </p:sp>
      <p:sp>
        <p:nvSpPr>
          <p:cNvPr id="18" name="TextBox 17"/>
          <p:cNvSpPr txBox="1"/>
          <p:nvPr/>
        </p:nvSpPr>
        <p:spPr>
          <a:xfrm>
            <a:off x="1005840" y="5257800"/>
            <a:ext cx="10515600" cy="457200"/>
          </a:xfrm>
          <a:prstGeom prst="rect">
            <a:avLst/>
          </a:prstGeom>
          <a:noFill/>
        </p:spPr>
        <p:txBody>
          <a:bodyPr wrap="square">
            <a:spAutoFit/>
          </a:bodyPr>
          <a:lstStyle/>
          <a:p>
            <a:pPr algn="l">
              <a:defRPr sz="1200" b="0">
                <a:solidFill>
                  <a:srgbClr val="94A3B8"/>
                </a:solidFill>
                <a:latin typeface="Be Vietnam Pro"/>
              </a:defRPr>
            </a:pPr>
            <a:r>
              <a:t>Voice Chat AI • Quiz Battle • Study Planner • Tích hợp SIS • Mobile App iOS/Android</a:t>
            </a:r>
          </a:p>
        </p:txBody>
      </p:sp>
      <p:sp>
        <p:nvSpPr>
          <p:cNvPr id="19" name="TextBox 18"/>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21/27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0" y="1371600"/>
            <a:ext cx="12191695" cy="2743200"/>
          </a:xfrm>
          <a:prstGeom prst="rect">
            <a:avLst/>
          </a:prstGeom>
          <a:noFill/>
        </p:spPr>
        <p:txBody>
          <a:bodyPr wrap="square">
            <a:spAutoFit/>
          </a:bodyPr>
          <a:lstStyle/>
          <a:p>
            <a:pPr algn="ctr">
              <a:defRPr sz="14000" b="1">
                <a:solidFill>
                  <a:srgbClr val="0D1530"/>
                </a:solidFill>
                <a:latin typeface="Be Vietnam Pro"/>
              </a:defRPr>
            </a:pPr>
            <a:r>
              <a:t>08</a:t>
            </a:r>
          </a:p>
        </p:txBody>
      </p:sp>
      <p:sp>
        <p:nvSpPr>
          <p:cNvPr id="3" name="TextBox 2"/>
          <p:cNvSpPr txBox="1"/>
          <p:nvPr/>
        </p:nvSpPr>
        <p:spPr>
          <a:xfrm>
            <a:off x="0" y="2560320"/>
            <a:ext cx="12191695" cy="914400"/>
          </a:xfrm>
          <a:prstGeom prst="rect">
            <a:avLst/>
          </a:prstGeom>
          <a:noFill/>
        </p:spPr>
        <p:txBody>
          <a:bodyPr wrap="square">
            <a:spAutoFit/>
          </a:bodyPr>
          <a:lstStyle/>
          <a:p>
            <a:pPr algn="ctr">
              <a:defRPr sz="4400" b="1">
                <a:solidFill>
                  <a:srgbClr val="F8FAFC"/>
                </a:solidFill>
                <a:latin typeface="Be Vietnam Pro"/>
              </a:defRPr>
            </a:pPr>
            <a:r>
              <a:t>Hành trình phát triển</a:t>
            </a:r>
          </a:p>
        </p:txBody>
      </p:sp>
      <p:sp>
        <p:nvSpPr>
          <p:cNvPr id="4" name="TextBox 3"/>
          <p:cNvSpPr txBox="1"/>
          <p:nvPr/>
        </p:nvSpPr>
        <p:spPr>
          <a:xfrm>
            <a:off x="1371600" y="3657600"/>
            <a:ext cx="9418320" cy="1371600"/>
          </a:xfrm>
          <a:prstGeom prst="rect">
            <a:avLst/>
          </a:prstGeom>
          <a:noFill/>
        </p:spPr>
        <p:txBody>
          <a:bodyPr wrap="square">
            <a:spAutoFit/>
          </a:bodyPr>
          <a:lstStyle/>
          <a:p>
            <a:pPr algn="ctr">
              <a:defRPr sz="1800" b="0">
                <a:solidFill>
                  <a:srgbClr val="94A3B8"/>
                </a:solidFill>
                <a:latin typeface="Be Vietnam Pro"/>
              </a:defRPr>
            </a:pPr>
            <a:r>
              <a:t>Từ ý tưởng ban đầu đến sản phẩm hoàn thiện trong gần 6 tuần làm việc liên tục</a:t>
            </a:r>
          </a:p>
        </p:txBody>
      </p:sp>
      <p:sp>
        <p:nvSpPr>
          <p:cNvPr id="5" name="TextBox 4"/>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22/27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pPr algn="ctr">
              <a:defRPr sz="3200" b="1">
                <a:solidFill>
                  <a:srgbClr val="F8FAFC"/>
                </a:solidFill>
                <a:latin typeface="Be Vietnam Pro"/>
              </a:defRPr>
            </a:pPr>
            <a:r>
              <a:t>Từ ý tưởng đến sản phẩm</a:t>
            </a:r>
          </a:p>
        </p:txBody>
      </p:sp>
      <p:sp>
        <p:nvSpPr>
          <p:cNvPr id="3" name="Rounded Rectangle 2"/>
          <p:cNvSpPr/>
          <p:nvPr/>
        </p:nvSpPr>
        <p:spPr>
          <a:xfrm>
            <a:off x="457200" y="1005840"/>
            <a:ext cx="11247120" cy="109728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1325880"/>
            <a:ext cx="457200" cy="457200"/>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457200" cy="457200"/>
          </a:xfrm>
          <a:prstGeom prst="rect">
            <a:avLst/>
          </a:prstGeom>
          <a:noFill/>
        </p:spPr>
        <p:txBody>
          <a:bodyPr wrap="square">
            <a:spAutoFit/>
          </a:bodyPr>
          <a:lstStyle/>
          <a:p>
            <a:pPr algn="ctr">
              <a:defRPr sz="1600" b="1">
                <a:solidFill>
                  <a:srgbClr val="FFFFFF"/>
                </a:solidFill>
                <a:latin typeface="Be Vietnam Pro"/>
              </a:defRPr>
            </a:pPr>
            <a:r>
              <a:t>1</a:t>
            </a:r>
          </a:p>
        </p:txBody>
      </p:sp>
      <p:sp>
        <p:nvSpPr>
          <p:cNvPr id="6" name="TextBox 5"/>
          <p:cNvSpPr txBox="1"/>
          <p:nvPr/>
        </p:nvSpPr>
        <p:spPr>
          <a:xfrm>
            <a:off x="1325880" y="1097280"/>
            <a:ext cx="10058400" cy="320040"/>
          </a:xfrm>
          <a:prstGeom prst="rect">
            <a:avLst/>
          </a:prstGeom>
          <a:noFill/>
        </p:spPr>
        <p:txBody>
          <a:bodyPr wrap="square">
            <a:spAutoFit/>
          </a:bodyPr>
          <a:lstStyle/>
          <a:p>
            <a:pPr algn="l">
              <a:defRPr sz="1400" b="1">
                <a:solidFill>
                  <a:srgbClr val="F8FAFC"/>
                </a:solidFill>
                <a:latin typeface="Be Vietnam Pro"/>
              </a:defRPr>
            </a:pPr>
            <a:r>
              <a:t>Tuần 1 (7/5 – 14/5/2026) — Khởi động &amp; Nền móng</a:t>
            </a:r>
          </a:p>
        </p:txBody>
      </p:sp>
      <p:sp>
        <p:nvSpPr>
          <p:cNvPr id="7" name="TextBox 6"/>
          <p:cNvSpPr txBox="1"/>
          <p:nvPr/>
        </p:nvSpPr>
        <p:spPr>
          <a:xfrm>
            <a:off x="1325880" y="1508760"/>
            <a:ext cx="10058400" cy="457200"/>
          </a:xfrm>
          <a:prstGeom prst="rect">
            <a:avLst/>
          </a:prstGeom>
          <a:noFill/>
        </p:spPr>
        <p:txBody>
          <a:bodyPr wrap="square">
            <a:spAutoFit/>
          </a:bodyPr>
          <a:lstStyle/>
          <a:p>
            <a:pPr algn="l">
              <a:defRPr sz="1100" b="0">
                <a:solidFill>
                  <a:srgbClr val="94A3B8"/>
                </a:solidFill>
                <a:latin typeface="Be Vietnam Pro"/>
              </a:defRPr>
            </a:pPr>
            <a:r>
              <a:t>Khởi tạo Next.js + Go. Xác thực, phân quyền, trình xem PDF, AI Tutor nền tảng.</a:t>
            </a:r>
          </a:p>
        </p:txBody>
      </p:sp>
      <p:sp>
        <p:nvSpPr>
          <p:cNvPr id="8" name="Rounded Rectangle 7"/>
          <p:cNvSpPr/>
          <p:nvPr/>
        </p:nvSpPr>
        <p:spPr>
          <a:xfrm>
            <a:off x="457200" y="2331720"/>
            <a:ext cx="11247120" cy="109728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 y="2651760"/>
            <a:ext cx="457200" cy="457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51760"/>
            <a:ext cx="457200" cy="457200"/>
          </a:xfrm>
          <a:prstGeom prst="rect">
            <a:avLst/>
          </a:prstGeom>
          <a:noFill/>
        </p:spPr>
        <p:txBody>
          <a:bodyPr wrap="square">
            <a:spAutoFit/>
          </a:bodyPr>
          <a:lstStyle/>
          <a:p>
            <a:pPr algn="ctr">
              <a:defRPr sz="1600" b="1">
                <a:solidFill>
                  <a:srgbClr val="FFFFFF"/>
                </a:solidFill>
                <a:latin typeface="Be Vietnam Pro"/>
              </a:defRPr>
            </a:pPr>
            <a:r>
              <a:t>2</a:t>
            </a:r>
          </a:p>
        </p:txBody>
      </p:sp>
      <p:sp>
        <p:nvSpPr>
          <p:cNvPr id="11" name="TextBox 10"/>
          <p:cNvSpPr txBox="1"/>
          <p:nvPr/>
        </p:nvSpPr>
        <p:spPr>
          <a:xfrm>
            <a:off x="1325880" y="2423160"/>
            <a:ext cx="10058400" cy="320040"/>
          </a:xfrm>
          <a:prstGeom prst="rect">
            <a:avLst/>
          </a:prstGeom>
          <a:noFill/>
        </p:spPr>
        <p:txBody>
          <a:bodyPr wrap="square">
            <a:spAutoFit/>
          </a:bodyPr>
          <a:lstStyle/>
          <a:p>
            <a:pPr algn="l">
              <a:defRPr sz="1400" b="1">
                <a:solidFill>
                  <a:srgbClr val="F8FAFC"/>
                </a:solidFill>
                <a:latin typeface="Be Vietnam Pro"/>
              </a:defRPr>
            </a:pPr>
            <a:r>
              <a:t>Tuần 2 (15/5 – 21/5/2026) — AI &amp; Học tập thông minh</a:t>
            </a:r>
          </a:p>
        </p:txBody>
      </p:sp>
      <p:sp>
        <p:nvSpPr>
          <p:cNvPr id="12" name="TextBox 11"/>
          <p:cNvSpPr txBox="1"/>
          <p:nvPr/>
        </p:nvSpPr>
        <p:spPr>
          <a:xfrm>
            <a:off x="1325880" y="2834639"/>
            <a:ext cx="10058400" cy="457200"/>
          </a:xfrm>
          <a:prstGeom prst="rect">
            <a:avLst/>
          </a:prstGeom>
          <a:noFill/>
        </p:spPr>
        <p:txBody>
          <a:bodyPr wrap="square">
            <a:spAutoFit/>
          </a:bodyPr>
          <a:lstStyle/>
          <a:p>
            <a:pPr algn="l">
              <a:defRPr sz="1100" b="0">
                <a:solidFill>
                  <a:srgbClr val="94A3B8"/>
                </a:solidFill>
                <a:latin typeface="Be Vietnam Pro"/>
              </a:defRPr>
            </a:pPr>
            <a:r>
              <a:t>AI Socratic Tutor, streaming chat, quiz, chấm điểm. Flashcards, Mind Map, Knowledge Graph.</a:t>
            </a:r>
          </a:p>
        </p:txBody>
      </p:sp>
      <p:sp>
        <p:nvSpPr>
          <p:cNvPr id="13" name="Rounded Rectangle 12"/>
          <p:cNvSpPr/>
          <p:nvPr/>
        </p:nvSpPr>
        <p:spPr>
          <a:xfrm>
            <a:off x="457200" y="3657600"/>
            <a:ext cx="11247120" cy="109728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3977639"/>
            <a:ext cx="457200" cy="457200"/>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977639"/>
            <a:ext cx="457200" cy="457200"/>
          </a:xfrm>
          <a:prstGeom prst="rect">
            <a:avLst/>
          </a:prstGeom>
          <a:noFill/>
        </p:spPr>
        <p:txBody>
          <a:bodyPr wrap="square">
            <a:spAutoFit/>
          </a:bodyPr>
          <a:lstStyle/>
          <a:p>
            <a:pPr algn="ctr">
              <a:defRPr sz="1600" b="1">
                <a:solidFill>
                  <a:srgbClr val="FFFFFF"/>
                </a:solidFill>
                <a:latin typeface="Be Vietnam Pro"/>
              </a:defRPr>
            </a:pPr>
            <a:r>
              <a:t>3</a:t>
            </a:r>
          </a:p>
        </p:txBody>
      </p:sp>
      <p:sp>
        <p:nvSpPr>
          <p:cNvPr id="16" name="TextBox 15"/>
          <p:cNvSpPr txBox="1"/>
          <p:nvPr/>
        </p:nvSpPr>
        <p:spPr>
          <a:xfrm>
            <a:off x="1325880" y="3749039"/>
            <a:ext cx="10058400" cy="320040"/>
          </a:xfrm>
          <a:prstGeom prst="rect">
            <a:avLst/>
          </a:prstGeom>
          <a:noFill/>
        </p:spPr>
        <p:txBody>
          <a:bodyPr wrap="square">
            <a:spAutoFit/>
          </a:bodyPr>
          <a:lstStyle/>
          <a:p>
            <a:pPr algn="l">
              <a:defRPr sz="1400" b="1">
                <a:solidFill>
                  <a:srgbClr val="F8FAFC"/>
                </a:solidFill>
                <a:latin typeface="Be Vietnam Pro"/>
              </a:defRPr>
            </a:pPr>
            <a:r>
              <a:t>Tuần 3 (22/5 – 28/5/2026) — Hoàn thiện hệ sinh thái</a:t>
            </a:r>
          </a:p>
        </p:txBody>
      </p:sp>
      <p:sp>
        <p:nvSpPr>
          <p:cNvPr id="17" name="TextBox 16"/>
          <p:cNvSpPr txBox="1"/>
          <p:nvPr/>
        </p:nvSpPr>
        <p:spPr>
          <a:xfrm>
            <a:off x="1325880" y="4160520"/>
            <a:ext cx="10058400" cy="457200"/>
          </a:xfrm>
          <a:prstGeom prst="rect">
            <a:avLst/>
          </a:prstGeom>
          <a:noFill/>
        </p:spPr>
        <p:txBody>
          <a:bodyPr wrap="square">
            <a:spAutoFit/>
          </a:bodyPr>
          <a:lstStyle/>
          <a:p>
            <a:pPr algn="l">
              <a:defRPr sz="1100" b="0">
                <a:solidFill>
                  <a:srgbClr val="94A3B8"/>
                </a:solidFill>
                <a:latin typeface="Be Vietnam Pro"/>
              </a:defRPr>
            </a:pPr>
            <a:r>
              <a:t>Module Phụ huynh, Kế hoạch học tập, Ngân hàng câu hỏi, Điểm danh, Báo cáo AI.</a:t>
            </a:r>
          </a:p>
        </p:txBody>
      </p:sp>
      <p:sp>
        <p:nvSpPr>
          <p:cNvPr id="18" name="Rounded Rectangle 17"/>
          <p:cNvSpPr/>
          <p:nvPr/>
        </p:nvSpPr>
        <p:spPr>
          <a:xfrm>
            <a:off x="457200" y="4983479"/>
            <a:ext cx="11247120" cy="109728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5303519"/>
            <a:ext cx="457200" cy="45720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303519"/>
            <a:ext cx="457200" cy="457200"/>
          </a:xfrm>
          <a:prstGeom prst="rect">
            <a:avLst/>
          </a:prstGeom>
          <a:noFill/>
        </p:spPr>
        <p:txBody>
          <a:bodyPr wrap="square">
            <a:spAutoFit/>
          </a:bodyPr>
          <a:lstStyle/>
          <a:p>
            <a:pPr algn="ctr">
              <a:defRPr sz="1600" b="1">
                <a:solidFill>
                  <a:srgbClr val="FFFFFF"/>
                </a:solidFill>
                <a:latin typeface="Be Vietnam Pro"/>
              </a:defRPr>
            </a:pPr>
            <a:r>
              <a:t>4</a:t>
            </a:r>
          </a:p>
        </p:txBody>
      </p:sp>
      <p:sp>
        <p:nvSpPr>
          <p:cNvPr id="21" name="TextBox 20"/>
          <p:cNvSpPr txBox="1"/>
          <p:nvPr/>
        </p:nvSpPr>
        <p:spPr>
          <a:xfrm>
            <a:off x="1325880" y="5074919"/>
            <a:ext cx="10058400" cy="320040"/>
          </a:xfrm>
          <a:prstGeom prst="rect">
            <a:avLst/>
          </a:prstGeom>
          <a:noFill/>
        </p:spPr>
        <p:txBody>
          <a:bodyPr wrap="square">
            <a:spAutoFit/>
          </a:bodyPr>
          <a:lstStyle/>
          <a:p>
            <a:pPr algn="l">
              <a:defRPr sz="1400" b="1">
                <a:solidFill>
                  <a:srgbClr val="F8FAFC"/>
                </a:solidFill>
                <a:latin typeface="Be Vietnam Pro"/>
              </a:defRPr>
            </a:pPr>
            <a:r>
              <a:t>Tuần 4-5 (29/5 – 15/6) — Triển khai &amp; Hoàn thiện</a:t>
            </a:r>
          </a:p>
        </p:txBody>
      </p:sp>
      <p:sp>
        <p:nvSpPr>
          <p:cNvPr id="22" name="TextBox 21"/>
          <p:cNvSpPr txBox="1"/>
          <p:nvPr/>
        </p:nvSpPr>
        <p:spPr>
          <a:xfrm>
            <a:off x="1325880" y="5486399"/>
            <a:ext cx="10058400" cy="457200"/>
          </a:xfrm>
          <a:prstGeom prst="rect">
            <a:avLst/>
          </a:prstGeom>
          <a:noFill/>
        </p:spPr>
        <p:txBody>
          <a:bodyPr wrap="square">
            <a:spAutoFit/>
          </a:bodyPr>
          <a:lstStyle/>
          <a:p>
            <a:pPr algn="l">
              <a:defRPr sz="1100" b="0">
                <a:solidFill>
                  <a:srgbClr val="94A3B8"/>
                </a:solidFill>
                <a:latin typeface="Be Vietnam Pro"/>
              </a:defRPr>
            </a:pPr>
            <a:r>
              <a:t>Deploy Vercel + Azure. Kiểm thử, sửa lỗi, tối ưu. Hoàn thiện UI/UX tiếng Việt.</a:t>
            </a:r>
          </a:p>
        </p:txBody>
      </p:sp>
      <p:sp>
        <p:nvSpPr>
          <p:cNvPr id="23" name="Rounded Rectangle 22"/>
          <p:cNvSpPr/>
          <p:nvPr/>
        </p:nvSpPr>
        <p:spPr>
          <a:xfrm>
            <a:off x="457200" y="6400800"/>
            <a:ext cx="11247120" cy="914400"/>
          </a:xfrm>
          <a:prstGeom prst="roundRect">
            <a:avLst/>
          </a:prstGeom>
          <a:solidFill>
            <a:srgbClr val="151005"/>
          </a:solidFill>
          <a:ln w="12700">
            <a:solidFill>
              <a:srgbClr val="403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537960"/>
            <a:ext cx="10515600" cy="320040"/>
          </a:xfrm>
          <a:prstGeom prst="rect">
            <a:avLst/>
          </a:prstGeom>
          <a:noFill/>
        </p:spPr>
        <p:txBody>
          <a:bodyPr wrap="square">
            <a:spAutoFit/>
          </a:bodyPr>
          <a:lstStyle/>
          <a:p>
            <a:pPr algn="l">
              <a:defRPr sz="1400" b="1">
                <a:solidFill>
                  <a:srgbClr val="FBBF24"/>
                </a:solidFill>
                <a:latin typeface="Be Vietnam Pro"/>
              </a:defRPr>
            </a:pPr>
            <a:r>
              <a:t>🚀  Hiện tại — Sẵn sàng ra mắt</a:t>
            </a:r>
          </a:p>
        </p:txBody>
      </p:sp>
      <p:sp>
        <p:nvSpPr>
          <p:cNvPr id="25" name="TextBox 24"/>
          <p:cNvSpPr txBox="1"/>
          <p:nvPr/>
        </p:nvSpPr>
        <p:spPr>
          <a:xfrm>
            <a:off x="640080" y="6858000"/>
            <a:ext cx="10515600" cy="320040"/>
          </a:xfrm>
          <a:prstGeom prst="rect">
            <a:avLst/>
          </a:prstGeom>
          <a:noFill/>
        </p:spPr>
        <p:txBody>
          <a:bodyPr wrap="square">
            <a:spAutoFit/>
          </a:bodyPr>
          <a:lstStyle/>
          <a:p>
            <a:pPr algn="l">
              <a:defRPr sz="1100" b="0">
                <a:solidFill>
                  <a:srgbClr val="94A3B8"/>
                </a:solidFill>
                <a:latin typeface="Be Vietnam Pro"/>
              </a:defRPr>
            </a:pPr>
            <a:r>
              <a:t>10 nhóm tính năng, 45+ dịch vụ, 5 vai trò. Sẵn sàng triển khai cho trường học.</a:t>
            </a:r>
          </a:p>
        </p:txBody>
      </p:sp>
      <p:sp>
        <p:nvSpPr>
          <p:cNvPr id="26" name="TextBox 25"/>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23/27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pPr algn="ctr">
              <a:defRPr sz="3000" b="1">
                <a:solidFill>
                  <a:srgbClr val="F8FAFC"/>
                </a:solidFill>
                <a:latin typeface="Be Vietnam Pro"/>
              </a:defRPr>
            </a:pPr>
            <a:r>
              <a:t>Một buổi học điển hình trên EduSelf</a:t>
            </a:r>
          </a:p>
        </p:txBody>
      </p:sp>
      <p:sp>
        <p:nvSpPr>
          <p:cNvPr id="3" name="Rounded Rectangle 2"/>
          <p:cNvSpPr/>
          <p:nvPr/>
        </p:nvSpPr>
        <p:spPr>
          <a:xfrm>
            <a:off x="274320" y="1005840"/>
            <a:ext cx="1508760" cy="11887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51560"/>
            <a:ext cx="1508760" cy="365760"/>
          </a:xfrm>
          <a:prstGeom prst="rect">
            <a:avLst/>
          </a:prstGeom>
          <a:noFill/>
        </p:spPr>
        <p:txBody>
          <a:bodyPr wrap="square">
            <a:spAutoFit/>
          </a:bodyPr>
          <a:lstStyle/>
          <a:p>
            <a:pPr algn="ctr">
              <a:defRPr sz="2200" b="0">
                <a:solidFill>
                  <a:srgbClr val="F8FAFC"/>
                </a:solidFill>
                <a:latin typeface="Be Vietnam Pro"/>
              </a:defRPr>
            </a:pPr>
            <a:r>
              <a:t>🔑</a:t>
            </a:r>
          </a:p>
        </p:txBody>
      </p:sp>
      <p:sp>
        <p:nvSpPr>
          <p:cNvPr id="5" name="TextBox 4"/>
          <p:cNvSpPr txBox="1"/>
          <p:nvPr/>
        </p:nvSpPr>
        <p:spPr>
          <a:xfrm>
            <a:off x="274320" y="1463040"/>
            <a:ext cx="1508760" cy="274320"/>
          </a:xfrm>
          <a:prstGeom prst="rect">
            <a:avLst/>
          </a:prstGeom>
          <a:noFill/>
        </p:spPr>
        <p:txBody>
          <a:bodyPr wrap="square">
            <a:spAutoFit/>
          </a:bodyPr>
          <a:lstStyle/>
          <a:p>
            <a:pPr algn="ctr">
              <a:defRPr sz="1100" b="1">
                <a:solidFill>
                  <a:srgbClr val="F8FAFC"/>
                </a:solidFill>
                <a:latin typeface="Be Vietnam Pro"/>
              </a:defRPr>
            </a:pPr>
            <a:r>
              <a:t>Đăng nhập</a:t>
            </a:r>
          </a:p>
        </p:txBody>
      </p:sp>
      <p:sp>
        <p:nvSpPr>
          <p:cNvPr id="6" name="TextBox 5"/>
          <p:cNvSpPr txBox="1"/>
          <p:nvPr/>
        </p:nvSpPr>
        <p:spPr>
          <a:xfrm>
            <a:off x="274320" y="1783080"/>
            <a:ext cx="1508760" cy="274320"/>
          </a:xfrm>
          <a:prstGeom prst="rect">
            <a:avLst/>
          </a:prstGeom>
          <a:noFill/>
        </p:spPr>
        <p:txBody>
          <a:bodyPr wrap="square">
            <a:spAutoFit/>
          </a:bodyPr>
          <a:lstStyle/>
          <a:p>
            <a:pPr algn="ctr">
              <a:defRPr sz="900" b="0">
                <a:solidFill>
                  <a:srgbClr val="64748B"/>
                </a:solidFill>
                <a:latin typeface="Be Vietnam Pro"/>
              </a:defRPr>
            </a:pPr>
            <a:r>
              <a:t>Mở máy, vào web</a:t>
            </a:r>
          </a:p>
        </p:txBody>
      </p:sp>
      <p:sp>
        <p:nvSpPr>
          <p:cNvPr id="7" name="TextBox 6"/>
          <p:cNvSpPr txBox="1"/>
          <p:nvPr/>
        </p:nvSpPr>
        <p:spPr>
          <a:xfrm>
            <a:off x="1783080" y="1280160"/>
            <a:ext cx="228600" cy="274320"/>
          </a:xfrm>
          <a:prstGeom prst="rect">
            <a:avLst/>
          </a:prstGeom>
          <a:noFill/>
        </p:spPr>
        <p:txBody>
          <a:bodyPr wrap="square">
            <a:spAutoFit/>
          </a:bodyPr>
          <a:lstStyle/>
          <a:p>
            <a:pPr algn="ctr">
              <a:defRPr sz="1600" b="0">
                <a:solidFill>
                  <a:srgbClr val="60A5FA"/>
                </a:solidFill>
                <a:latin typeface="Be Vietnam Pro"/>
              </a:defRPr>
            </a:pPr>
            <a:r>
              <a:t>→</a:t>
            </a:r>
          </a:p>
        </p:txBody>
      </p:sp>
      <p:sp>
        <p:nvSpPr>
          <p:cNvPr id="8" name="Rounded Rectangle 7"/>
          <p:cNvSpPr/>
          <p:nvPr/>
        </p:nvSpPr>
        <p:spPr>
          <a:xfrm>
            <a:off x="1965960" y="1005840"/>
            <a:ext cx="1508760" cy="11887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65960" y="1051560"/>
            <a:ext cx="1508760" cy="365760"/>
          </a:xfrm>
          <a:prstGeom prst="rect">
            <a:avLst/>
          </a:prstGeom>
          <a:noFill/>
        </p:spPr>
        <p:txBody>
          <a:bodyPr wrap="square">
            <a:spAutoFit/>
          </a:bodyPr>
          <a:lstStyle/>
          <a:p>
            <a:pPr algn="ctr">
              <a:defRPr sz="2200" b="0">
                <a:solidFill>
                  <a:srgbClr val="F8FAFC"/>
                </a:solidFill>
                <a:latin typeface="Be Vietnam Pro"/>
              </a:defRPr>
            </a:pPr>
            <a:r>
              <a:t>📊</a:t>
            </a:r>
          </a:p>
        </p:txBody>
      </p:sp>
      <p:sp>
        <p:nvSpPr>
          <p:cNvPr id="10" name="TextBox 9"/>
          <p:cNvSpPr txBox="1"/>
          <p:nvPr/>
        </p:nvSpPr>
        <p:spPr>
          <a:xfrm>
            <a:off x="1965960" y="1463040"/>
            <a:ext cx="1508760" cy="274320"/>
          </a:xfrm>
          <a:prstGeom prst="rect">
            <a:avLst/>
          </a:prstGeom>
          <a:noFill/>
        </p:spPr>
        <p:txBody>
          <a:bodyPr wrap="square">
            <a:spAutoFit/>
          </a:bodyPr>
          <a:lstStyle/>
          <a:p>
            <a:pPr algn="ctr">
              <a:defRPr sz="1100" b="1">
                <a:solidFill>
                  <a:srgbClr val="F8FAFC"/>
                </a:solidFill>
                <a:latin typeface="Be Vietnam Pro"/>
              </a:defRPr>
            </a:pPr>
            <a:r>
              <a:t>Dashboard</a:t>
            </a:r>
          </a:p>
        </p:txBody>
      </p:sp>
      <p:sp>
        <p:nvSpPr>
          <p:cNvPr id="11" name="TextBox 10"/>
          <p:cNvSpPr txBox="1"/>
          <p:nvPr/>
        </p:nvSpPr>
        <p:spPr>
          <a:xfrm>
            <a:off x="1965960" y="1783080"/>
            <a:ext cx="1508760" cy="274320"/>
          </a:xfrm>
          <a:prstGeom prst="rect">
            <a:avLst/>
          </a:prstGeom>
          <a:noFill/>
        </p:spPr>
        <p:txBody>
          <a:bodyPr wrap="square">
            <a:spAutoFit/>
          </a:bodyPr>
          <a:lstStyle/>
          <a:p>
            <a:pPr algn="ctr">
              <a:defRPr sz="900" b="0">
                <a:solidFill>
                  <a:srgbClr val="64748B"/>
                </a:solidFill>
                <a:latin typeface="Be Vietnam Pro"/>
              </a:defRPr>
            </a:pPr>
            <a:r>
              <a:t>Xem tiến độ</a:t>
            </a:r>
          </a:p>
        </p:txBody>
      </p:sp>
      <p:sp>
        <p:nvSpPr>
          <p:cNvPr id="12" name="TextBox 11"/>
          <p:cNvSpPr txBox="1"/>
          <p:nvPr/>
        </p:nvSpPr>
        <p:spPr>
          <a:xfrm>
            <a:off x="3474720" y="1280160"/>
            <a:ext cx="228600" cy="274320"/>
          </a:xfrm>
          <a:prstGeom prst="rect">
            <a:avLst/>
          </a:prstGeom>
          <a:noFill/>
        </p:spPr>
        <p:txBody>
          <a:bodyPr wrap="square">
            <a:spAutoFit/>
          </a:bodyPr>
          <a:lstStyle/>
          <a:p>
            <a:pPr algn="ctr">
              <a:defRPr sz="1600" b="0">
                <a:solidFill>
                  <a:srgbClr val="60A5FA"/>
                </a:solidFill>
                <a:latin typeface="Be Vietnam Pro"/>
              </a:defRPr>
            </a:pPr>
            <a:r>
              <a:t>→</a:t>
            </a:r>
          </a:p>
        </p:txBody>
      </p:sp>
      <p:sp>
        <p:nvSpPr>
          <p:cNvPr id="13" name="Rounded Rectangle 12"/>
          <p:cNvSpPr/>
          <p:nvPr/>
        </p:nvSpPr>
        <p:spPr>
          <a:xfrm>
            <a:off x="3657600" y="1005840"/>
            <a:ext cx="1508760" cy="11887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1051560"/>
            <a:ext cx="1508760" cy="365760"/>
          </a:xfrm>
          <a:prstGeom prst="rect">
            <a:avLst/>
          </a:prstGeom>
          <a:noFill/>
        </p:spPr>
        <p:txBody>
          <a:bodyPr wrap="square">
            <a:spAutoFit/>
          </a:bodyPr>
          <a:lstStyle/>
          <a:p>
            <a:pPr algn="ctr">
              <a:defRPr sz="2200" b="0">
                <a:solidFill>
                  <a:srgbClr val="F8FAFC"/>
                </a:solidFill>
                <a:latin typeface="Be Vietnam Pro"/>
              </a:defRPr>
            </a:pPr>
            <a:r>
              <a:t>📖</a:t>
            </a:r>
          </a:p>
        </p:txBody>
      </p:sp>
      <p:sp>
        <p:nvSpPr>
          <p:cNvPr id="15" name="TextBox 14"/>
          <p:cNvSpPr txBox="1"/>
          <p:nvPr/>
        </p:nvSpPr>
        <p:spPr>
          <a:xfrm>
            <a:off x="3657600" y="1463040"/>
            <a:ext cx="1508760" cy="274320"/>
          </a:xfrm>
          <a:prstGeom prst="rect">
            <a:avLst/>
          </a:prstGeom>
          <a:noFill/>
        </p:spPr>
        <p:txBody>
          <a:bodyPr wrap="square">
            <a:spAutoFit/>
          </a:bodyPr>
          <a:lstStyle/>
          <a:p>
            <a:pPr algn="ctr">
              <a:defRPr sz="1100" b="1">
                <a:solidFill>
                  <a:srgbClr val="F8FAFC"/>
                </a:solidFill>
                <a:latin typeface="Be Vietnam Pro"/>
              </a:defRPr>
            </a:pPr>
            <a:r>
              <a:t>Chọn bài</a:t>
            </a:r>
          </a:p>
        </p:txBody>
      </p:sp>
      <p:sp>
        <p:nvSpPr>
          <p:cNvPr id="16" name="TextBox 15"/>
          <p:cNvSpPr txBox="1"/>
          <p:nvPr/>
        </p:nvSpPr>
        <p:spPr>
          <a:xfrm>
            <a:off x="3657600" y="1783080"/>
            <a:ext cx="1508760" cy="274320"/>
          </a:xfrm>
          <a:prstGeom prst="rect">
            <a:avLst/>
          </a:prstGeom>
          <a:noFill/>
        </p:spPr>
        <p:txBody>
          <a:bodyPr wrap="square">
            <a:spAutoFit/>
          </a:bodyPr>
          <a:lstStyle/>
          <a:p>
            <a:pPr algn="ctr">
              <a:defRPr sz="900" b="0">
                <a:solidFill>
                  <a:srgbClr val="64748B"/>
                </a:solidFill>
                <a:latin typeface="Be Vietnam Pro"/>
              </a:defRPr>
            </a:pPr>
            <a:r>
              <a:t>Môn → Khoá → Bài</a:t>
            </a:r>
          </a:p>
        </p:txBody>
      </p:sp>
      <p:sp>
        <p:nvSpPr>
          <p:cNvPr id="17" name="TextBox 16"/>
          <p:cNvSpPr txBox="1"/>
          <p:nvPr/>
        </p:nvSpPr>
        <p:spPr>
          <a:xfrm>
            <a:off x="5166360" y="1280160"/>
            <a:ext cx="228600" cy="274320"/>
          </a:xfrm>
          <a:prstGeom prst="rect">
            <a:avLst/>
          </a:prstGeom>
          <a:noFill/>
        </p:spPr>
        <p:txBody>
          <a:bodyPr wrap="square">
            <a:spAutoFit/>
          </a:bodyPr>
          <a:lstStyle/>
          <a:p>
            <a:pPr algn="ctr">
              <a:defRPr sz="1600" b="0">
                <a:solidFill>
                  <a:srgbClr val="60A5FA"/>
                </a:solidFill>
                <a:latin typeface="Be Vietnam Pro"/>
              </a:defRPr>
            </a:pPr>
            <a:r>
              <a:t>→</a:t>
            </a:r>
          </a:p>
        </p:txBody>
      </p:sp>
      <p:sp>
        <p:nvSpPr>
          <p:cNvPr id="18" name="Rounded Rectangle 17"/>
          <p:cNvSpPr/>
          <p:nvPr/>
        </p:nvSpPr>
        <p:spPr>
          <a:xfrm>
            <a:off x="5349240" y="1005840"/>
            <a:ext cx="1508760" cy="11887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49240" y="1051560"/>
            <a:ext cx="1508760" cy="365760"/>
          </a:xfrm>
          <a:prstGeom prst="rect">
            <a:avLst/>
          </a:prstGeom>
          <a:noFill/>
        </p:spPr>
        <p:txBody>
          <a:bodyPr wrap="square">
            <a:spAutoFit/>
          </a:bodyPr>
          <a:lstStyle/>
          <a:p>
            <a:pPr algn="ctr">
              <a:defRPr sz="2200" b="0">
                <a:solidFill>
                  <a:srgbClr val="F8FAFC"/>
                </a:solidFill>
                <a:latin typeface="Be Vietnam Pro"/>
              </a:defRPr>
            </a:pPr>
            <a:r>
              <a:t>📄</a:t>
            </a:r>
          </a:p>
        </p:txBody>
      </p:sp>
      <p:sp>
        <p:nvSpPr>
          <p:cNvPr id="20" name="TextBox 19"/>
          <p:cNvSpPr txBox="1"/>
          <p:nvPr/>
        </p:nvSpPr>
        <p:spPr>
          <a:xfrm>
            <a:off x="5349240" y="1463040"/>
            <a:ext cx="1508760" cy="274320"/>
          </a:xfrm>
          <a:prstGeom prst="rect">
            <a:avLst/>
          </a:prstGeom>
          <a:noFill/>
        </p:spPr>
        <p:txBody>
          <a:bodyPr wrap="square">
            <a:spAutoFit/>
          </a:bodyPr>
          <a:lstStyle/>
          <a:p>
            <a:pPr algn="ctr">
              <a:defRPr sz="1100" b="1">
                <a:solidFill>
                  <a:srgbClr val="F8FAFC"/>
                </a:solidFill>
                <a:latin typeface="Be Vietnam Pro"/>
              </a:defRPr>
            </a:pPr>
            <a:r>
              <a:t>Đọc tài liệu</a:t>
            </a:r>
          </a:p>
        </p:txBody>
      </p:sp>
      <p:sp>
        <p:nvSpPr>
          <p:cNvPr id="21" name="TextBox 20"/>
          <p:cNvSpPr txBox="1"/>
          <p:nvPr/>
        </p:nvSpPr>
        <p:spPr>
          <a:xfrm>
            <a:off x="5349240" y="1783080"/>
            <a:ext cx="1508760" cy="274320"/>
          </a:xfrm>
          <a:prstGeom prst="rect">
            <a:avLst/>
          </a:prstGeom>
          <a:noFill/>
        </p:spPr>
        <p:txBody>
          <a:bodyPr wrap="square">
            <a:spAutoFit/>
          </a:bodyPr>
          <a:lstStyle/>
          <a:p>
            <a:pPr algn="ctr">
              <a:defRPr sz="900" b="0">
                <a:solidFill>
                  <a:srgbClr val="64748B"/>
                </a:solidFill>
                <a:latin typeface="Be Vietnam Pro"/>
              </a:defRPr>
            </a:pPr>
            <a:r>
              <a:t>Xem PDF</a:t>
            </a:r>
          </a:p>
        </p:txBody>
      </p:sp>
      <p:sp>
        <p:nvSpPr>
          <p:cNvPr id="22" name="TextBox 21"/>
          <p:cNvSpPr txBox="1"/>
          <p:nvPr/>
        </p:nvSpPr>
        <p:spPr>
          <a:xfrm>
            <a:off x="6858000" y="1280160"/>
            <a:ext cx="228600" cy="274320"/>
          </a:xfrm>
          <a:prstGeom prst="rect">
            <a:avLst/>
          </a:prstGeom>
          <a:noFill/>
        </p:spPr>
        <p:txBody>
          <a:bodyPr wrap="square">
            <a:spAutoFit/>
          </a:bodyPr>
          <a:lstStyle/>
          <a:p>
            <a:pPr algn="ctr">
              <a:defRPr sz="1600" b="0">
                <a:solidFill>
                  <a:srgbClr val="60A5FA"/>
                </a:solidFill>
                <a:latin typeface="Be Vietnam Pro"/>
              </a:defRPr>
            </a:pPr>
            <a:r>
              <a:t>→</a:t>
            </a:r>
          </a:p>
        </p:txBody>
      </p:sp>
      <p:sp>
        <p:nvSpPr>
          <p:cNvPr id="23" name="Rounded Rectangle 22"/>
          <p:cNvSpPr/>
          <p:nvPr/>
        </p:nvSpPr>
        <p:spPr>
          <a:xfrm>
            <a:off x="7040880" y="1005840"/>
            <a:ext cx="1508760" cy="11887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0" y="1051560"/>
            <a:ext cx="1508760" cy="365760"/>
          </a:xfrm>
          <a:prstGeom prst="rect">
            <a:avLst/>
          </a:prstGeom>
          <a:noFill/>
        </p:spPr>
        <p:txBody>
          <a:bodyPr wrap="square">
            <a:spAutoFit/>
          </a:bodyPr>
          <a:lstStyle/>
          <a:p>
            <a:pPr algn="ctr">
              <a:defRPr sz="2200" b="0">
                <a:solidFill>
                  <a:srgbClr val="F8FAFC"/>
                </a:solidFill>
                <a:latin typeface="Be Vietnam Pro"/>
              </a:defRPr>
            </a:pPr>
            <a:r>
              <a:t>💬</a:t>
            </a:r>
          </a:p>
        </p:txBody>
      </p:sp>
      <p:sp>
        <p:nvSpPr>
          <p:cNvPr id="25" name="TextBox 24"/>
          <p:cNvSpPr txBox="1"/>
          <p:nvPr/>
        </p:nvSpPr>
        <p:spPr>
          <a:xfrm>
            <a:off x="7040880" y="1463040"/>
            <a:ext cx="1508760" cy="274320"/>
          </a:xfrm>
          <a:prstGeom prst="rect">
            <a:avLst/>
          </a:prstGeom>
          <a:noFill/>
        </p:spPr>
        <p:txBody>
          <a:bodyPr wrap="square">
            <a:spAutoFit/>
          </a:bodyPr>
          <a:lstStyle/>
          <a:p>
            <a:pPr algn="ctr">
              <a:defRPr sz="1100" b="1">
                <a:solidFill>
                  <a:srgbClr val="F8FAFC"/>
                </a:solidFill>
                <a:latin typeface="Be Vietnam Pro"/>
              </a:defRPr>
            </a:pPr>
            <a:r>
              <a:t>Chat với AI</a:t>
            </a:r>
          </a:p>
        </p:txBody>
      </p:sp>
      <p:sp>
        <p:nvSpPr>
          <p:cNvPr id="26" name="TextBox 25"/>
          <p:cNvSpPr txBox="1"/>
          <p:nvPr/>
        </p:nvSpPr>
        <p:spPr>
          <a:xfrm>
            <a:off x="7040880" y="1783080"/>
            <a:ext cx="1508760" cy="274320"/>
          </a:xfrm>
          <a:prstGeom prst="rect">
            <a:avLst/>
          </a:prstGeom>
          <a:noFill/>
        </p:spPr>
        <p:txBody>
          <a:bodyPr wrap="square">
            <a:spAutoFit/>
          </a:bodyPr>
          <a:lstStyle/>
          <a:p>
            <a:pPr algn="ctr">
              <a:defRPr sz="900" b="0">
                <a:solidFill>
                  <a:srgbClr val="64748B"/>
                </a:solidFill>
                <a:latin typeface="Be Vietnam Pro"/>
              </a:defRPr>
            </a:pPr>
            <a:r>
              <a:t>Hỏi đáp gợi mở</a:t>
            </a:r>
          </a:p>
        </p:txBody>
      </p:sp>
      <p:sp>
        <p:nvSpPr>
          <p:cNvPr id="27" name="TextBox 26"/>
          <p:cNvSpPr txBox="1"/>
          <p:nvPr/>
        </p:nvSpPr>
        <p:spPr>
          <a:xfrm>
            <a:off x="8549640" y="1280160"/>
            <a:ext cx="228600" cy="274320"/>
          </a:xfrm>
          <a:prstGeom prst="rect">
            <a:avLst/>
          </a:prstGeom>
          <a:noFill/>
        </p:spPr>
        <p:txBody>
          <a:bodyPr wrap="square">
            <a:spAutoFit/>
          </a:bodyPr>
          <a:lstStyle/>
          <a:p>
            <a:pPr algn="ctr">
              <a:defRPr sz="1600" b="0">
                <a:solidFill>
                  <a:srgbClr val="60A5FA"/>
                </a:solidFill>
                <a:latin typeface="Be Vietnam Pro"/>
              </a:defRPr>
            </a:pPr>
            <a:r>
              <a:t>→</a:t>
            </a:r>
          </a:p>
        </p:txBody>
      </p:sp>
      <p:sp>
        <p:nvSpPr>
          <p:cNvPr id="28" name="Rounded Rectangle 27"/>
          <p:cNvSpPr/>
          <p:nvPr/>
        </p:nvSpPr>
        <p:spPr>
          <a:xfrm>
            <a:off x="8732520" y="1005840"/>
            <a:ext cx="1508760" cy="11887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32520" y="1051560"/>
            <a:ext cx="1508760" cy="365760"/>
          </a:xfrm>
          <a:prstGeom prst="rect">
            <a:avLst/>
          </a:prstGeom>
          <a:noFill/>
        </p:spPr>
        <p:txBody>
          <a:bodyPr wrap="square">
            <a:spAutoFit/>
          </a:bodyPr>
          <a:lstStyle/>
          <a:p>
            <a:pPr algn="ctr">
              <a:defRPr sz="2200" b="0">
                <a:solidFill>
                  <a:srgbClr val="F8FAFC"/>
                </a:solidFill>
                <a:latin typeface="Be Vietnam Pro"/>
              </a:defRPr>
            </a:pPr>
            <a:r>
              <a:t>✅</a:t>
            </a:r>
          </a:p>
        </p:txBody>
      </p:sp>
      <p:sp>
        <p:nvSpPr>
          <p:cNvPr id="30" name="TextBox 29"/>
          <p:cNvSpPr txBox="1"/>
          <p:nvPr/>
        </p:nvSpPr>
        <p:spPr>
          <a:xfrm>
            <a:off x="8732520" y="1463040"/>
            <a:ext cx="1508760" cy="274320"/>
          </a:xfrm>
          <a:prstGeom prst="rect">
            <a:avLst/>
          </a:prstGeom>
          <a:noFill/>
        </p:spPr>
        <p:txBody>
          <a:bodyPr wrap="square">
            <a:spAutoFit/>
          </a:bodyPr>
          <a:lstStyle/>
          <a:p>
            <a:pPr algn="ctr">
              <a:defRPr sz="1100" b="1">
                <a:solidFill>
                  <a:srgbClr val="F8FAFC"/>
                </a:solidFill>
                <a:latin typeface="Be Vietnam Pro"/>
              </a:defRPr>
            </a:pPr>
            <a:r>
              <a:t>Làm quiz</a:t>
            </a:r>
          </a:p>
        </p:txBody>
      </p:sp>
      <p:sp>
        <p:nvSpPr>
          <p:cNvPr id="31" name="TextBox 30"/>
          <p:cNvSpPr txBox="1"/>
          <p:nvPr/>
        </p:nvSpPr>
        <p:spPr>
          <a:xfrm>
            <a:off x="8732520" y="1783080"/>
            <a:ext cx="1508760" cy="274320"/>
          </a:xfrm>
          <a:prstGeom prst="rect">
            <a:avLst/>
          </a:prstGeom>
          <a:noFill/>
        </p:spPr>
        <p:txBody>
          <a:bodyPr wrap="square">
            <a:spAutoFit/>
          </a:bodyPr>
          <a:lstStyle/>
          <a:p>
            <a:pPr algn="ctr">
              <a:defRPr sz="900" b="0">
                <a:solidFill>
                  <a:srgbClr val="64748B"/>
                </a:solidFill>
                <a:latin typeface="Be Vietnam Pro"/>
              </a:defRPr>
            </a:pPr>
            <a:r>
              <a:t>Kiểm tra hiểu bài</a:t>
            </a:r>
          </a:p>
        </p:txBody>
      </p:sp>
      <p:sp>
        <p:nvSpPr>
          <p:cNvPr id="32" name="TextBox 31"/>
          <p:cNvSpPr txBox="1"/>
          <p:nvPr/>
        </p:nvSpPr>
        <p:spPr>
          <a:xfrm>
            <a:off x="10241280" y="1280160"/>
            <a:ext cx="228600" cy="274320"/>
          </a:xfrm>
          <a:prstGeom prst="rect">
            <a:avLst/>
          </a:prstGeom>
          <a:noFill/>
        </p:spPr>
        <p:txBody>
          <a:bodyPr wrap="square">
            <a:spAutoFit/>
          </a:bodyPr>
          <a:lstStyle/>
          <a:p>
            <a:pPr algn="ctr">
              <a:defRPr sz="1600" b="0">
                <a:solidFill>
                  <a:srgbClr val="60A5FA"/>
                </a:solidFill>
                <a:latin typeface="Be Vietnam Pro"/>
              </a:defRPr>
            </a:pPr>
            <a:r>
              <a:t>→</a:t>
            </a:r>
          </a:p>
        </p:txBody>
      </p:sp>
      <p:sp>
        <p:nvSpPr>
          <p:cNvPr id="33" name="Rounded Rectangle 32"/>
          <p:cNvSpPr/>
          <p:nvPr/>
        </p:nvSpPr>
        <p:spPr>
          <a:xfrm>
            <a:off x="10424160" y="1005840"/>
            <a:ext cx="1508760" cy="11887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0" y="1051560"/>
            <a:ext cx="1508760" cy="365760"/>
          </a:xfrm>
          <a:prstGeom prst="rect">
            <a:avLst/>
          </a:prstGeom>
          <a:noFill/>
        </p:spPr>
        <p:txBody>
          <a:bodyPr wrap="square">
            <a:spAutoFit/>
          </a:bodyPr>
          <a:lstStyle/>
          <a:p>
            <a:pPr algn="ctr">
              <a:defRPr sz="2200" b="0">
                <a:solidFill>
                  <a:srgbClr val="F8FAFC"/>
                </a:solidFill>
                <a:latin typeface="Be Vietnam Pro"/>
              </a:defRPr>
            </a:pPr>
            <a:r>
              <a:t>💎</a:t>
            </a:r>
          </a:p>
        </p:txBody>
      </p:sp>
      <p:sp>
        <p:nvSpPr>
          <p:cNvPr id="35" name="TextBox 34"/>
          <p:cNvSpPr txBox="1"/>
          <p:nvPr/>
        </p:nvSpPr>
        <p:spPr>
          <a:xfrm>
            <a:off x="10424160" y="1463040"/>
            <a:ext cx="1508760" cy="274320"/>
          </a:xfrm>
          <a:prstGeom prst="rect">
            <a:avLst/>
          </a:prstGeom>
          <a:noFill/>
        </p:spPr>
        <p:txBody>
          <a:bodyPr wrap="square">
            <a:spAutoFit/>
          </a:bodyPr>
          <a:lstStyle/>
          <a:p>
            <a:pPr algn="ctr">
              <a:defRPr sz="1100" b="1">
                <a:solidFill>
                  <a:srgbClr val="F8FAFC"/>
                </a:solidFill>
                <a:latin typeface="Be Vietnam Pro"/>
              </a:defRPr>
            </a:pPr>
            <a:r>
              <a:t>Nhận thưởng</a:t>
            </a:r>
          </a:p>
        </p:txBody>
      </p:sp>
      <p:sp>
        <p:nvSpPr>
          <p:cNvPr id="36" name="TextBox 35"/>
          <p:cNvSpPr txBox="1"/>
          <p:nvPr/>
        </p:nvSpPr>
        <p:spPr>
          <a:xfrm>
            <a:off x="10424160" y="1783080"/>
            <a:ext cx="1508760" cy="274320"/>
          </a:xfrm>
          <a:prstGeom prst="rect">
            <a:avLst/>
          </a:prstGeom>
          <a:noFill/>
        </p:spPr>
        <p:txBody>
          <a:bodyPr wrap="square">
            <a:spAutoFit/>
          </a:bodyPr>
          <a:lstStyle/>
          <a:p>
            <a:pPr algn="ctr">
              <a:defRPr sz="900" b="0">
                <a:solidFill>
                  <a:srgbClr val="64748B"/>
                </a:solidFill>
                <a:latin typeface="Be Vietnam Pro"/>
              </a:defRPr>
            </a:pPr>
            <a:r>
              <a:t>Kim cương &amp; streak</a:t>
            </a:r>
          </a:p>
        </p:txBody>
      </p:sp>
      <p:sp>
        <p:nvSpPr>
          <p:cNvPr id="37" name="Rounded Rectangle 36"/>
          <p:cNvSpPr/>
          <p:nvPr/>
        </p:nvSpPr>
        <p:spPr>
          <a:xfrm>
            <a:off x="274320" y="2560320"/>
            <a:ext cx="5577840" cy="34747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2697480"/>
            <a:ext cx="5029200" cy="320040"/>
          </a:xfrm>
          <a:prstGeom prst="rect">
            <a:avLst/>
          </a:prstGeom>
          <a:noFill/>
        </p:spPr>
        <p:txBody>
          <a:bodyPr wrap="square">
            <a:spAutoFit/>
          </a:bodyPr>
          <a:lstStyle/>
          <a:p>
            <a:pPr algn="l">
              <a:defRPr sz="1600" b="1">
                <a:solidFill>
                  <a:srgbClr val="60A5FA"/>
                </a:solidFill>
                <a:latin typeface="Be Vietnam Pro"/>
              </a:defRPr>
            </a:pPr>
            <a:r>
              <a:t>⏱️  Thời lượng: ~45 phút / bài</a:t>
            </a:r>
          </a:p>
        </p:txBody>
      </p:sp>
      <p:sp>
        <p:nvSpPr>
          <p:cNvPr id="39" name="TextBox 38"/>
          <p:cNvSpPr txBox="1"/>
          <p:nvPr/>
        </p:nvSpPr>
        <p:spPr>
          <a:xfrm>
            <a:off x="548640" y="3154680"/>
            <a:ext cx="5029200" cy="457200"/>
          </a:xfrm>
          <a:prstGeom prst="rect">
            <a:avLst/>
          </a:prstGeom>
          <a:noFill/>
        </p:spPr>
        <p:txBody>
          <a:bodyPr wrap="square">
            <a:spAutoFit/>
          </a:bodyPr>
          <a:lstStyle/>
          <a:p>
            <a:pPr algn="l">
              <a:defRPr sz="1200" b="0">
                <a:solidFill>
                  <a:srgbClr val="94A3B8"/>
                </a:solidFill>
                <a:latin typeface="Be Vietnam Pro"/>
              </a:defRPr>
            </a:pPr>
            <a:r>
              <a:t>✓  15 phút đầu: Đọc tài liệu PDF, đánh dấu</a:t>
            </a:r>
          </a:p>
        </p:txBody>
      </p:sp>
      <p:sp>
        <p:nvSpPr>
          <p:cNvPr id="40" name="TextBox 39"/>
          <p:cNvSpPr txBox="1"/>
          <p:nvPr/>
        </p:nvSpPr>
        <p:spPr>
          <a:xfrm>
            <a:off x="548640" y="3794760"/>
            <a:ext cx="5029200" cy="457200"/>
          </a:xfrm>
          <a:prstGeom prst="rect">
            <a:avLst/>
          </a:prstGeom>
          <a:noFill/>
        </p:spPr>
        <p:txBody>
          <a:bodyPr wrap="square">
            <a:spAutoFit/>
          </a:bodyPr>
          <a:lstStyle/>
          <a:p>
            <a:pPr algn="l">
              <a:defRPr sz="1200" b="0">
                <a:solidFill>
                  <a:srgbClr val="94A3B8"/>
                </a:solidFill>
                <a:latin typeface="Be Vietnam Pro"/>
              </a:defRPr>
            </a:pPr>
            <a:r>
              <a:t>✓  15 phút giữa: Trò chuyện với AI — đặt câu hỏi</a:t>
            </a:r>
          </a:p>
        </p:txBody>
      </p:sp>
      <p:sp>
        <p:nvSpPr>
          <p:cNvPr id="41" name="TextBox 40"/>
          <p:cNvSpPr txBox="1"/>
          <p:nvPr/>
        </p:nvSpPr>
        <p:spPr>
          <a:xfrm>
            <a:off x="548640" y="4434840"/>
            <a:ext cx="5029200" cy="457200"/>
          </a:xfrm>
          <a:prstGeom prst="rect">
            <a:avLst/>
          </a:prstGeom>
          <a:noFill/>
        </p:spPr>
        <p:txBody>
          <a:bodyPr wrap="square">
            <a:spAutoFit/>
          </a:bodyPr>
          <a:lstStyle/>
          <a:p>
            <a:pPr algn="l">
              <a:defRPr sz="1200" b="0">
                <a:solidFill>
                  <a:srgbClr val="94A3B8"/>
                </a:solidFill>
                <a:latin typeface="Be Vietnam Pro"/>
              </a:defRPr>
            </a:pPr>
            <a:r>
              <a:t>✓  10 phút cuối: Làm quiz kết thúc bài</a:t>
            </a:r>
          </a:p>
        </p:txBody>
      </p:sp>
      <p:sp>
        <p:nvSpPr>
          <p:cNvPr id="42" name="TextBox 41"/>
          <p:cNvSpPr txBox="1"/>
          <p:nvPr/>
        </p:nvSpPr>
        <p:spPr>
          <a:xfrm>
            <a:off x="548640" y="5074920"/>
            <a:ext cx="5029200" cy="457200"/>
          </a:xfrm>
          <a:prstGeom prst="rect">
            <a:avLst/>
          </a:prstGeom>
          <a:noFill/>
        </p:spPr>
        <p:txBody>
          <a:bodyPr wrap="square">
            <a:spAutoFit/>
          </a:bodyPr>
          <a:lstStyle/>
          <a:p>
            <a:pPr algn="l">
              <a:defRPr sz="1200" b="0">
                <a:solidFill>
                  <a:srgbClr val="94A3B8"/>
                </a:solidFill>
                <a:latin typeface="Be Vietnam Pro"/>
              </a:defRPr>
            </a:pPr>
            <a:r>
              <a:t>✓  5 phút: Nhận kim cương, kiểm tra streak</a:t>
            </a:r>
          </a:p>
        </p:txBody>
      </p:sp>
      <p:sp>
        <p:nvSpPr>
          <p:cNvPr id="43" name="Rounded Rectangle 42"/>
          <p:cNvSpPr/>
          <p:nvPr/>
        </p:nvSpPr>
        <p:spPr>
          <a:xfrm>
            <a:off x="6309360" y="2560320"/>
            <a:ext cx="5577840" cy="3474720"/>
          </a:xfrm>
          <a:prstGeom prst="roundRect">
            <a:avLst/>
          </a:prstGeom>
          <a:solidFill>
            <a:srgbClr val="0F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0" y="2697480"/>
            <a:ext cx="5029200" cy="320040"/>
          </a:xfrm>
          <a:prstGeom prst="rect">
            <a:avLst/>
          </a:prstGeom>
          <a:noFill/>
        </p:spPr>
        <p:txBody>
          <a:bodyPr wrap="square">
            <a:spAutoFit/>
          </a:bodyPr>
          <a:lstStyle/>
          <a:p>
            <a:pPr algn="l">
              <a:defRPr sz="1600" b="1">
                <a:solidFill>
                  <a:srgbClr val="34D399"/>
                </a:solidFill>
                <a:latin typeface="Be Vietnam Pro"/>
              </a:defRPr>
            </a:pPr>
            <a:r>
              <a:t>✨  Điểm đặc biệt</a:t>
            </a:r>
          </a:p>
        </p:txBody>
      </p:sp>
      <p:sp>
        <p:nvSpPr>
          <p:cNvPr id="45" name="TextBox 44"/>
          <p:cNvSpPr txBox="1"/>
          <p:nvPr/>
        </p:nvSpPr>
        <p:spPr>
          <a:xfrm>
            <a:off x="6583680" y="3154680"/>
            <a:ext cx="5029200" cy="457200"/>
          </a:xfrm>
          <a:prstGeom prst="rect">
            <a:avLst/>
          </a:prstGeom>
          <a:noFill/>
        </p:spPr>
        <p:txBody>
          <a:bodyPr wrap="square">
            <a:spAutoFit/>
          </a:bodyPr>
          <a:lstStyle/>
          <a:p>
            <a:pPr algn="l">
              <a:defRPr sz="1200" b="0">
                <a:solidFill>
                  <a:srgbClr val="94A3B8"/>
                </a:solidFill>
                <a:latin typeface="Be Vietnam Pro"/>
              </a:defRPr>
            </a:pPr>
            <a:r>
              <a:t>✓  AI không trả lời thẳng — gợi mở để tự nghĩ</a:t>
            </a:r>
          </a:p>
        </p:txBody>
      </p:sp>
      <p:sp>
        <p:nvSpPr>
          <p:cNvPr id="46" name="TextBox 45"/>
          <p:cNvSpPr txBox="1"/>
          <p:nvPr/>
        </p:nvSpPr>
        <p:spPr>
          <a:xfrm>
            <a:off x="6583680" y="3794760"/>
            <a:ext cx="5029200" cy="457200"/>
          </a:xfrm>
          <a:prstGeom prst="rect">
            <a:avLst/>
          </a:prstGeom>
          <a:noFill/>
        </p:spPr>
        <p:txBody>
          <a:bodyPr wrap="square">
            <a:spAutoFit/>
          </a:bodyPr>
          <a:lstStyle/>
          <a:p>
            <a:pPr algn="l">
              <a:defRPr sz="1200" b="0">
                <a:solidFill>
                  <a:srgbClr val="94A3B8"/>
                </a:solidFill>
                <a:latin typeface="Be Vietnam Pro"/>
              </a:defRPr>
            </a:pPr>
            <a:r>
              <a:t>✓  Công thức toán hiển thị đẹp trong chat</a:t>
            </a:r>
          </a:p>
        </p:txBody>
      </p:sp>
      <p:sp>
        <p:nvSpPr>
          <p:cNvPr id="47" name="TextBox 46"/>
          <p:cNvSpPr txBox="1"/>
          <p:nvPr/>
        </p:nvSpPr>
        <p:spPr>
          <a:xfrm>
            <a:off x="6583680" y="4434840"/>
            <a:ext cx="5029200" cy="457200"/>
          </a:xfrm>
          <a:prstGeom prst="rect">
            <a:avLst/>
          </a:prstGeom>
          <a:noFill/>
        </p:spPr>
        <p:txBody>
          <a:bodyPr wrap="square">
            <a:spAutoFit/>
          </a:bodyPr>
          <a:lstStyle/>
          <a:p>
            <a:pPr algn="l">
              <a:defRPr sz="1200" b="0">
                <a:solidFill>
                  <a:srgbClr val="94A3B8"/>
                </a:solidFill>
                <a:latin typeface="Be Vietnam Pro"/>
              </a:defRPr>
            </a:pPr>
            <a:r>
              <a:t>✓  Quiz hiện ngay trong khung chat</a:t>
            </a:r>
          </a:p>
        </p:txBody>
      </p:sp>
      <p:sp>
        <p:nvSpPr>
          <p:cNvPr id="48" name="TextBox 47"/>
          <p:cNvSpPr txBox="1"/>
          <p:nvPr/>
        </p:nvSpPr>
        <p:spPr>
          <a:xfrm>
            <a:off x="6583680" y="5074920"/>
            <a:ext cx="5029200" cy="457200"/>
          </a:xfrm>
          <a:prstGeom prst="rect">
            <a:avLst/>
          </a:prstGeom>
          <a:noFill/>
        </p:spPr>
        <p:txBody>
          <a:bodyPr wrap="square">
            <a:spAutoFit/>
          </a:bodyPr>
          <a:lstStyle/>
          <a:p>
            <a:pPr algn="l">
              <a:defRPr sz="1200" b="0">
                <a:solidFill>
                  <a:srgbClr val="94A3B8"/>
                </a:solidFill>
                <a:latin typeface="Be Vietnam Pro"/>
              </a:defRPr>
            </a:pPr>
            <a:r>
              <a:t>✓  Sai → AI ghi nhận điểm yếu, tạo bài tập riêng</a:t>
            </a:r>
          </a:p>
        </p:txBody>
      </p:sp>
      <p:sp>
        <p:nvSpPr>
          <p:cNvPr id="49" name="TextBox 48"/>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24/27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914400" y="137160"/>
            <a:ext cx="10332720" cy="640080"/>
          </a:xfrm>
          <a:prstGeom prst="rect">
            <a:avLst/>
          </a:prstGeom>
          <a:noFill/>
        </p:spPr>
        <p:txBody>
          <a:bodyPr wrap="square">
            <a:spAutoFit/>
          </a:bodyPr>
          <a:lstStyle/>
          <a:p>
            <a:pPr algn="ctr">
              <a:defRPr sz="3400" b="1">
                <a:solidFill>
                  <a:srgbClr val="F8FAFC"/>
                </a:solidFill>
                <a:latin typeface="Be Vietnam Pro"/>
              </a:defRPr>
            </a:pPr>
            <a:r>
              <a:t>Chi phí triển khai</a:t>
            </a:r>
          </a:p>
        </p:txBody>
      </p:sp>
      <p:sp>
        <p:nvSpPr>
          <p:cNvPr id="3" name="Rectangle 2"/>
          <p:cNvSpPr/>
          <p:nvPr/>
        </p:nvSpPr>
        <p:spPr>
          <a:xfrm>
            <a:off x="274320" y="1005840"/>
            <a:ext cx="3200400" cy="548640"/>
          </a:xfrm>
          <a:prstGeom prst="rect">
            <a:avLst/>
          </a:prstGeom>
          <a:solidFill>
            <a:srgbClr val="0D1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51560"/>
            <a:ext cx="3200400" cy="457200"/>
          </a:xfrm>
          <a:prstGeom prst="rect">
            <a:avLst/>
          </a:prstGeom>
          <a:noFill/>
        </p:spPr>
        <p:txBody>
          <a:bodyPr wrap="square">
            <a:spAutoFit/>
          </a:bodyPr>
          <a:lstStyle/>
          <a:p>
            <a:pPr algn="ctr">
              <a:defRPr sz="1300" b="1">
                <a:solidFill>
                  <a:srgbClr val="F8FAFC"/>
                </a:solidFill>
                <a:latin typeface="Be Vietnam Pro"/>
              </a:defRPr>
            </a:pPr>
            <a:r>
              <a:t>Hạng mục</a:t>
            </a:r>
          </a:p>
        </p:txBody>
      </p:sp>
      <p:sp>
        <p:nvSpPr>
          <p:cNvPr id="5" name="Rectangle 4"/>
          <p:cNvSpPr/>
          <p:nvPr/>
        </p:nvSpPr>
        <p:spPr>
          <a:xfrm>
            <a:off x="3520440" y="1005840"/>
            <a:ext cx="4114800" cy="548640"/>
          </a:xfrm>
          <a:prstGeom prst="rect">
            <a:avLst/>
          </a:prstGeom>
          <a:solidFill>
            <a:srgbClr val="0D1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20440" y="1051560"/>
            <a:ext cx="4114800" cy="457200"/>
          </a:xfrm>
          <a:prstGeom prst="rect">
            <a:avLst/>
          </a:prstGeom>
          <a:noFill/>
        </p:spPr>
        <p:txBody>
          <a:bodyPr wrap="square">
            <a:spAutoFit/>
          </a:bodyPr>
          <a:lstStyle/>
          <a:p>
            <a:pPr algn="ctr">
              <a:defRPr sz="1300" b="1">
                <a:solidFill>
                  <a:srgbClr val="F8FAFC"/>
                </a:solidFill>
                <a:latin typeface="Be Vietnam Pro"/>
              </a:defRPr>
            </a:pPr>
            <a:r>
              <a:t>EduSelf</a:t>
            </a:r>
          </a:p>
        </p:txBody>
      </p:sp>
      <p:sp>
        <p:nvSpPr>
          <p:cNvPr id="7" name="Rectangle 6"/>
          <p:cNvSpPr/>
          <p:nvPr/>
        </p:nvSpPr>
        <p:spPr>
          <a:xfrm>
            <a:off x="7680960" y="1005840"/>
            <a:ext cx="4206240" cy="548640"/>
          </a:xfrm>
          <a:prstGeom prst="rect">
            <a:avLst/>
          </a:prstGeom>
          <a:solidFill>
            <a:srgbClr val="0D1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051560"/>
            <a:ext cx="4206240" cy="457200"/>
          </a:xfrm>
          <a:prstGeom prst="rect">
            <a:avLst/>
          </a:prstGeom>
          <a:noFill/>
        </p:spPr>
        <p:txBody>
          <a:bodyPr wrap="square">
            <a:spAutoFit/>
          </a:bodyPr>
          <a:lstStyle/>
          <a:p>
            <a:pPr algn="ctr">
              <a:defRPr sz="1300" b="1">
                <a:solidFill>
                  <a:srgbClr val="F8FAFC"/>
                </a:solidFill>
                <a:latin typeface="Be Vietnam Pro"/>
              </a:defRPr>
            </a:pPr>
            <a:r>
              <a:t>Giải pháp khác</a:t>
            </a:r>
          </a:p>
        </p:txBody>
      </p:sp>
      <p:sp>
        <p:nvSpPr>
          <p:cNvPr id="9" name="Rectangle 8"/>
          <p:cNvSpPr/>
          <p:nvPr/>
        </p:nvSpPr>
        <p:spPr>
          <a:xfrm>
            <a:off x="274320" y="1600200"/>
            <a:ext cx="3200400" cy="640080"/>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691640"/>
            <a:ext cx="3017520" cy="457200"/>
          </a:xfrm>
          <a:prstGeom prst="rect">
            <a:avLst/>
          </a:prstGeom>
          <a:noFill/>
        </p:spPr>
        <p:txBody>
          <a:bodyPr wrap="square">
            <a:spAutoFit/>
          </a:bodyPr>
          <a:lstStyle/>
          <a:p>
            <a:pPr algn="l">
              <a:defRPr sz="1200" b="1">
                <a:solidFill>
                  <a:srgbClr val="F8FAFC"/>
                </a:solidFill>
                <a:latin typeface="Be Vietnam Pro"/>
              </a:defRPr>
            </a:pPr>
            <a:r>
              <a:t>Chi phí nền tảng / năm</a:t>
            </a:r>
          </a:p>
        </p:txBody>
      </p:sp>
      <p:sp>
        <p:nvSpPr>
          <p:cNvPr id="11" name="Rectangle 10"/>
          <p:cNvSpPr/>
          <p:nvPr/>
        </p:nvSpPr>
        <p:spPr>
          <a:xfrm>
            <a:off x="3520440" y="1600200"/>
            <a:ext cx="4114800" cy="640080"/>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1691640"/>
            <a:ext cx="3840480" cy="457200"/>
          </a:xfrm>
          <a:prstGeom prst="rect">
            <a:avLst/>
          </a:prstGeom>
          <a:noFill/>
        </p:spPr>
        <p:txBody>
          <a:bodyPr wrap="square">
            <a:spAutoFit/>
          </a:bodyPr>
          <a:lstStyle/>
          <a:p>
            <a:pPr algn="l">
              <a:defRPr sz="1100" b="0">
                <a:solidFill>
                  <a:srgbClr val="6EE7B7"/>
                </a:solidFill>
                <a:latin typeface="Be Vietnam Pro"/>
              </a:defRPr>
            </a:pPr>
            <a:r>
              <a:t>~3-5 triệu VNĐ (cloud + domain)</a:t>
            </a:r>
          </a:p>
        </p:txBody>
      </p:sp>
      <p:sp>
        <p:nvSpPr>
          <p:cNvPr id="13" name="Rectangle 12"/>
          <p:cNvSpPr/>
          <p:nvPr/>
        </p:nvSpPr>
        <p:spPr>
          <a:xfrm>
            <a:off x="7680960" y="1600200"/>
            <a:ext cx="4206240" cy="640080"/>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1691640"/>
            <a:ext cx="3931920" cy="457200"/>
          </a:xfrm>
          <a:prstGeom prst="rect">
            <a:avLst/>
          </a:prstGeom>
          <a:noFill/>
        </p:spPr>
        <p:txBody>
          <a:bodyPr wrap="square">
            <a:spAutoFit/>
          </a:bodyPr>
          <a:lstStyle/>
          <a:p>
            <a:pPr algn="l">
              <a:defRPr sz="1100" b="0">
                <a:solidFill>
                  <a:srgbClr val="FCA5A5"/>
                </a:solidFill>
                <a:latin typeface="Be Vietnam Pro"/>
              </a:defRPr>
            </a:pPr>
            <a:r>
              <a:t>~20-50 triệu (bản quyền + hosting)</a:t>
            </a:r>
          </a:p>
        </p:txBody>
      </p:sp>
      <p:sp>
        <p:nvSpPr>
          <p:cNvPr id="15" name="Rectangle 14"/>
          <p:cNvSpPr/>
          <p:nvPr/>
        </p:nvSpPr>
        <p:spPr>
          <a:xfrm>
            <a:off x="274320" y="2286000"/>
            <a:ext cx="3200400" cy="640080"/>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2377440"/>
            <a:ext cx="3017520" cy="457200"/>
          </a:xfrm>
          <a:prstGeom prst="rect">
            <a:avLst/>
          </a:prstGeom>
          <a:noFill/>
        </p:spPr>
        <p:txBody>
          <a:bodyPr wrap="square">
            <a:spAutoFit/>
          </a:bodyPr>
          <a:lstStyle/>
          <a:p>
            <a:pPr algn="l">
              <a:defRPr sz="1200" b="1">
                <a:solidFill>
                  <a:srgbClr val="F8FAFC"/>
                </a:solidFill>
                <a:latin typeface="Be Vietnam Pro"/>
              </a:defRPr>
            </a:pPr>
            <a:r>
              <a:t>Chi phí AI / năm</a:t>
            </a:r>
          </a:p>
        </p:txBody>
      </p:sp>
      <p:sp>
        <p:nvSpPr>
          <p:cNvPr id="17" name="Rectangle 16"/>
          <p:cNvSpPr/>
          <p:nvPr/>
        </p:nvSpPr>
        <p:spPr>
          <a:xfrm>
            <a:off x="3520440" y="2286000"/>
            <a:ext cx="4114800" cy="640080"/>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0" y="2377440"/>
            <a:ext cx="3840480" cy="457200"/>
          </a:xfrm>
          <a:prstGeom prst="rect">
            <a:avLst/>
          </a:prstGeom>
          <a:noFill/>
        </p:spPr>
        <p:txBody>
          <a:bodyPr wrap="square">
            <a:spAutoFit/>
          </a:bodyPr>
          <a:lstStyle/>
          <a:p>
            <a:pPr algn="l">
              <a:defRPr sz="1100" b="0">
                <a:solidFill>
                  <a:srgbClr val="6EE7B7"/>
                </a:solidFill>
                <a:latin typeface="Be Vietnam Pro"/>
              </a:defRPr>
            </a:pPr>
            <a:r>
              <a:t>~2-3 triệu VNĐ (API)</a:t>
            </a:r>
          </a:p>
        </p:txBody>
      </p:sp>
      <p:sp>
        <p:nvSpPr>
          <p:cNvPr id="19" name="Rectangle 18"/>
          <p:cNvSpPr/>
          <p:nvPr/>
        </p:nvSpPr>
        <p:spPr>
          <a:xfrm>
            <a:off x="7680960" y="2286000"/>
            <a:ext cx="4206240" cy="640080"/>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18120" y="2377440"/>
            <a:ext cx="3931920" cy="457200"/>
          </a:xfrm>
          <a:prstGeom prst="rect">
            <a:avLst/>
          </a:prstGeom>
          <a:noFill/>
        </p:spPr>
        <p:txBody>
          <a:bodyPr wrap="square">
            <a:spAutoFit/>
          </a:bodyPr>
          <a:lstStyle/>
          <a:p>
            <a:pPr algn="l">
              <a:defRPr sz="1100" b="0">
                <a:solidFill>
                  <a:srgbClr val="FCA5A5"/>
                </a:solidFill>
                <a:latin typeface="Be Vietnam Pro"/>
              </a:defRPr>
            </a:pPr>
            <a:r>
              <a:t>Không có sẵn (mua thêm)</a:t>
            </a:r>
          </a:p>
        </p:txBody>
      </p:sp>
      <p:sp>
        <p:nvSpPr>
          <p:cNvPr id="21" name="Rectangle 20"/>
          <p:cNvSpPr/>
          <p:nvPr/>
        </p:nvSpPr>
        <p:spPr>
          <a:xfrm>
            <a:off x="274320" y="2971800"/>
            <a:ext cx="3200400" cy="640080"/>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3063240"/>
            <a:ext cx="3017520" cy="457200"/>
          </a:xfrm>
          <a:prstGeom prst="rect">
            <a:avLst/>
          </a:prstGeom>
          <a:noFill/>
        </p:spPr>
        <p:txBody>
          <a:bodyPr wrap="square">
            <a:spAutoFit/>
          </a:bodyPr>
          <a:lstStyle/>
          <a:p>
            <a:pPr algn="l">
              <a:defRPr sz="1200" b="1">
                <a:solidFill>
                  <a:srgbClr val="F8FAFC"/>
                </a:solidFill>
                <a:latin typeface="Be Vietnam Pro"/>
              </a:defRPr>
            </a:pPr>
            <a:r>
              <a:t>Triển khai</a:t>
            </a:r>
          </a:p>
        </p:txBody>
      </p:sp>
      <p:sp>
        <p:nvSpPr>
          <p:cNvPr id="23" name="Rectangle 22"/>
          <p:cNvSpPr/>
          <p:nvPr/>
        </p:nvSpPr>
        <p:spPr>
          <a:xfrm>
            <a:off x="3520440" y="2971800"/>
            <a:ext cx="4114800" cy="640080"/>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0" y="3063240"/>
            <a:ext cx="3840480" cy="457200"/>
          </a:xfrm>
          <a:prstGeom prst="rect">
            <a:avLst/>
          </a:prstGeom>
          <a:noFill/>
        </p:spPr>
        <p:txBody>
          <a:bodyPr wrap="square">
            <a:spAutoFit/>
          </a:bodyPr>
          <a:lstStyle/>
          <a:p>
            <a:pPr algn="l">
              <a:defRPr sz="1100" b="0">
                <a:solidFill>
                  <a:srgbClr val="6EE7B7"/>
                </a:solidFill>
                <a:latin typeface="Be Vietnam Pro"/>
              </a:defRPr>
            </a:pPr>
            <a:r>
              <a:t>1-2 ngày, miễn phí</a:t>
            </a:r>
          </a:p>
        </p:txBody>
      </p:sp>
      <p:sp>
        <p:nvSpPr>
          <p:cNvPr id="25" name="Rectangle 24"/>
          <p:cNvSpPr/>
          <p:nvPr/>
        </p:nvSpPr>
        <p:spPr>
          <a:xfrm>
            <a:off x="7680960" y="2971800"/>
            <a:ext cx="4206240" cy="640080"/>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18120" y="3063240"/>
            <a:ext cx="3931920" cy="457200"/>
          </a:xfrm>
          <a:prstGeom prst="rect">
            <a:avLst/>
          </a:prstGeom>
          <a:noFill/>
        </p:spPr>
        <p:txBody>
          <a:bodyPr wrap="square">
            <a:spAutoFit/>
          </a:bodyPr>
          <a:lstStyle/>
          <a:p>
            <a:pPr algn="l">
              <a:defRPr sz="1100" b="0">
                <a:solidFill>
                  <a:srgbClr val="FCA5A5"/>
                </a:solidFill>
                <a:latin typeface="Be Vietnam Pro"/>
              </a:defRPr>
            </a:pPr>
            <a:r>
              <a:t>1-4 tuần, cần chuyên gia</a:t>
            </a:r>
          </a:p>
        </p:txBody>
      </p:sp>
      <p:sp>
        <p:nvSpPr>
          <p:cNvPr id="27" name="Rectangle 26"/>
          <p:cNvSpPr/>
          <p:nvPr/>
        </p:nvSpPr>
        <p:spPr>
          <a:xfrm>
            <a:off x="274320" y="3657600"/>
            <a:ext cx="3200400" cy="640080"/>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3749039"/>
            <a:ext cx="3017520" cy="457200"/>
          </a:xfrm>
          <a:prstGeom prst="rect">
            <a:avLst/>
          </a:prstGeom>
          <a:noFill/>
        </p:spPr>
        <p:txBody>
          <a:bodyPr wrap="square">
            <a:spAutoFit/>
          </a:bodyPr>
          <a:lstStyle/>
          <a:p>
            <a:pPr algn="l">
              <a:defRPr sz="1200" b="1">
                <a:solidFill>
                  <a:srgbClr val="F8FAFC"/>
                </a:solidFill>
                <a:latin typeface="Be Vietnam Pro"/>
              </a:defRPr>
            </a:pPr>
            <a:r>
              <a:t>Bảo trì</a:t>
            </a:r>
          </a:p>
        </p:txBody>
      </p:sp>
      <p:sp>
        <p:nvSpPr>
          <p:cNvPr id="29" name="Rectangle 28"/>
          <p:cNvSpPr/>
          <p:nvPr/>
        </p:nvSpPr>
        <p:spPr>
          <a:xfrm>
            <a:off x="3520440" y="3657600"/>
            <a:ext cx="4114800" cy="640080"/>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0" y="3749039"/>
            <a:ext cx="3840480" cy="457200"/>
          </a:xfrm>
          <a:prstGeom prst="rect">
            <a:avLst/>
          </a:prstGeom>
          <a:noFill/>
        </p:spPr>
        <p:txBody>
          <a:bodyPr wrap="square">
            <a:spAutoFit/>
          </a:bodyPr>
          <a:lstStyle/>
          <a:p>
            <a:pPr algn="l">
              <a:defRPr sz="1100" b="0">
                <a:solidFill>
                  <a:srgbClr val="6EE7B7"/>
                </a:solidFill>
                <a:latin typeface="Be Vietnam Pro"/>
              </a:defRPr>
            </a:pPr>
            <a:r>
              <a:t>Tự động qua cloud</a:t>
            </a:r>
          </a:p>
        </p:txBody>
      </p:sp>
      <p:sp>
        <p:nvSpPr>
          <p:cNvPr id="31" name="Rectangle 30"/>
          <p:cNvSpPr/>
          <p:nvPr/>
        </p:nvSpPr>
        <p:spPr>
          <a:xfrm>
            <a:off x="7680960" y="3657600"/>
            <a:ext cx="4206240" cy="640080"/>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18120" y="3749039"/>
            <a:ext cx="3931920" cy="457200"/>
          </a:xfrm>
          <a:prstGeom prst="rect">
            <a:avLst/>
          </a:prstGeom>
          <a:noFill/>
        </p:spPr>
        <p:txBody>
          <a:bodyPr wrap="square">
            <a:spAutoFit/>
          </a:bodyPr>
          <a:lstStyle/>
          <a:p>
            <a:pPr algn="l">
              <a:defRPr sz="1100" b="0">
                <a:solidFill>
                  <a:srgbClr val="FCA5A5"/>
                </a:solidFill>
                <a:latin typeface="Be Vietnam Pro"/>
              </a:defRPr>
            </a:pPr>
            <a:r>
              <a:t>Thủ công / thuê ngoài</a:t>
            </a:r>
          </a:p>
        </p:txBody>
      </p:sp>
      <p:sp>
        <p:nvSpPr>
          <p:cNvPr id="33" name="Rectangle 32"/>
          <p:cNvSpPr/>
          <p:nvPr/>
        </p:nvSpPr>
        <p:spPr>
          <a:xfrm>
            <a:off x="274320" y="4343400"/>
            <a:ext cx="3200400" cy="640080"/>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4434840"/>
            <a:ext cx="3017520" cy="457200"/>
          </a:xfrm>
          <a:prstGeom prst="rect">
            <a:avLst/>
          </a:prstGeom>
          <a:noFill/>
        </p:spPr>
        <p:txBody>
          <a:bodyPr wrap="square">
            <a:spAutoFit/>
          </a:bodyPr>
          <a:lstStyle/>
          <a:p>
            <a:pPr algn="l">
              <a:defRPr sz="1200" b="1">
                <a:solidFill>
                  <a:srgbClr val="F8FAFC"/>
                </a:solidFill>
                <a:latin typeface="Be Vietnam Pro"/>
              </a:defRPr>
            </a:pPr>
            <a:r>
              <a:t>Ngôn ngữ</a:t>
            </a:r>
          </a:p>
        </p:txBody>
      </p:sp>
      <p:sp>
        <p:nvSpPr>
          <p:cNvPr id="35" name="Rectangle 34"/>
          <p:cNvSpPr/>
          <p:nvPr/>
        </p:nvSpPr>
        <p:spPr>
          <a:xfrm>
            <a:off x="3520440" y="4343400"/>
            <a:ext cx="4114800" cy="640080"/>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0" y="4434840"/>
            <a:ext cx="3840480" cy="457200"/>
          </a:xfrm>
          <a:prstGeom prst="rect">
            <a:avLst/>
          </a:prstGeom>
          <a:noFill/>
        </p:spPr>
        <p:txBody>
          <a:bodyPr wrap="square">
            <a:spAutoFit/>
          </a:bodyPr>
          <a:lstStyle/>
          <a:p>
            <a:pPr algn="l">
              <a:defRPr sz="1100" b="0">
                <a:solidFill>
                  <a:srgbClr val="6EE7B7"/>
                </a:solidFill>
                <a:latin typeface="Be Vietnam Pro"/>
              </a:defRPr>
            </a:pPr>
            <a:r>
              <a:t>Tiếng Việt 100%</a:t>
            </a:r>
          </a:p>
        </p:txBody>
      </p:sp>
      <p:sp>
        <p:nvSpPr>
          <p:cNvPr id="37" name="Rectangle 36"/>
          <p:cNvSpPr/>
          <p:nvPr/>
        </p:nvSpPr>
        <p:spPr>
          <a:xfrm>
            <a:off x="7680960" y="4343400"/>
            <a:ext cx="4206240" cy="640080"/>
          </a:xfrm>
          <a:prstGeom prst="rect">
            <a:avLst/>
          </a:prstGeom>
          <a:solidFill>
            <a:srgbClr val="0A0F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18120" y="4434840"/>
            <a:ext cx="3931920" cy="457200"/>
          </a:xfrm>
          <a:prstGeom prst="rect">
            <a:avLst/>
          </a:prstGeom>
          <a:noFill/>
        </p:spPr>
        <p:txBody>
          <a:bodyPr wrap="square">
            <a:spAutoFit/>
          </a:bodyPr>
          <a:lstStyle/>
          <a:p>
            <a:pPr algn="l">
              <a:defRPr sz="1100" b="0">
                <a:solidFill>
                  <a:srgbClr val="FCA5A5"/>
                </a:solidFill>
                <a:latin typeface="Be Vietnam Pro"/>
              </a:defRPr>
            </a:pPr>
            <a:r>
              <a:t>Tiếng Anh là chính</a:t>
            </a:r>
          </a:p>
        </p:txBody>
      </p:sp>
      <p:sp>
        <p:nvSpPr>
          <p:cNvPr id="39" name="Rectangle 38"/>
          <p:cNvSpPr/>
          <p:nvPr/>
        </p:nvSpPr>
        <p:spPr>
          <a:xfrm>
            <a:off x="274320" y="5029200"/>
            <a:ext cx="3200400" cy="640080"/>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5120640"/>
            <a:ext cx="3017520" cy="457200"/>
          </a:xfrm>
          <a:prstGeom prst="rect">
            <a:avLst/>
          </a:prstGeom>
          <a:noFill/>
        </p:spPr>
        <p:txBody>
          <a:bodyPr wrap="square">
            <a:spAutoFit/>
          </a:bodyPr>
          <a:lstStyle/>
          <a:p>
            <a:pPr algn="l">
              <a:defRPr sz="1200" b="1">
                <a:solidFill>
                  <a:srgbClr val="F8FAFC"/>
                </a:solidFill>
                <a:latin typeface="Be Vietnam Pro"/>
              </a:defRPr>
            </a:pPr>
            <a:r>
              <a:t>Tổng chi phí / năm</a:t>
            </a:r>
          </a:p>
        </p:txBody>
      </p:sp>
      <p:sp>
        <p:nvSpPr>
          <p:cNvPr id="41" name="Rectangle 40"/>
          <p:cNvSpPr/>
          <p:nvPr/>
        </p:nvSpPr>
        <p:spPr>
          <a:xfrm>
            <a:off x="3520440" y="5029200"/>
            <a:ext cx="4114800" cy="640080"/>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0" y="5120640"/>
            <a:ext cx="3840480" cy="457200"/>
          </a:xfrm>
          <a:prstGeom prst="rect">
            <a:avLst/>
          </a:prstGeom>
          <a:noFill/>
        </p:spPr>
        <p:txBody>
          <a:bodyPr wrap="square">
            <a:spAutoFit/>
          </a:bodyPr>
          <a:lstStyle/>
          <a:p>
            <a:pPr algn="l">
              <a:defRPr sz="1100" b="0">
                <a:solidFill>
                  <a:srgbClr val="6EE7B7"/>
                </a:solidFill>
                <a:latin typeface="Be Vietnam Pro"/>
              </a:defRPr>
            </a:pPr>
            <a:r>
              <a:t>5-8 triệu VNĐ</a:t>
            </a:r>
          </a:p>
        </p:txBody>
      </p:sp>
      <p:sp>
        <p:nvSpPr>
          <p:cNvPr id="43" name="Rectangle 42"/>
          <p:cNvSpPr/>
          <p:nvPr/>
        </p:nvSpPr>
        <p:spPr>
          <a:xfrm>
            <a:off x="7680960" y="5029200"/>
            <a:ext cx="4206240" cy="640080"/>
          </a:xfrm>
          <a:prstGeom prst="rect">
            <a:avLst/>
          </a:prstGeom>
          <a:solidFill>
            <a:srgbClr val="0E1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18120" y="5120640"/>
            <a:ext cx="3931920" cy="457200"/>
          </a:xfrm>
          <a:prstGeom prst="rect">
            <a:avLst/>
          </a:prstGeom>
          <a:noFill/>
        </p:spPr>
        <p:txBody>
          <a:bodyPr wrap="square">
            <a:spAutoFit/>
          </a:bodyPr>
          <a:lstStyle/>
          <a:p>
            <a:pPr algn="l">
              <a:defRPr sz="1100" b="0">
                <a:solidFill>
                  <a:srgbClr val="FCA5A5"/>
                </a:solidFill>
                <a:latin typeface="Be Vietnam Pro"/>
              </a:defRPr>
            </a:pPr>
            <a:r>
              <a:t>30-80 triệu VNĐ</a:t>
            </a:r>
          </a:p>
        </p:txBody>
      </p:sp>
      <p:sp>
        <p:nvSpPr>
          <p:cNvPr id="45" name="TextBox 44"/>
          <p:cNvSpPr txBox="1"/>
          <p:nvPr/>
        </p:nvSpPr>
        <p:spPr>
          <a:xfrm>
            <a:off x="457200" y="5943600"/>
            <a:ext cx="11247120" cy="548640"/>
          </a:xfrm>
          <a:prstGeom prst="rect">
            <a:avLst/>
          </a:prstGeom>
          <a:noFill/>
        </p:spPr>
        <p:txBody>
          <a:bodyPr wrap="square">
            <a:spAutoFit/>
          </a:bodyPr>
          <a:lstStyle/>
          <a:p>
            <a:pPr algn="ctr">
              <a:defRPr sz="1200" b="0">
                <a:solidFill>
                  <a:srgbClr val="94A3B8"/>
                </a:solidFill>
                <a:latin typeface="Be Vietnam Pro"/>
              </a:defRPr>
            </a:pPr>
            <a:r>
              <a:t>Ước tính cho quy mô 1 trường (~500-1000 học sinh). EduSelf tiết kiệm 80-90% chi phí nhờ hạ tầng đám mây và công nghệ nguồn mở.</a:t>
            </a:r>
          </a:p>
        </p:txBody>
      </p:sp>
      <p:sp>
        <p:nvSpPr>
          <p:cNvPr id="46" name="TextBox 45"/>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25/27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60612"/>
        </a:solidFill>
        <a:effectLst/>
      </p:bgPr>
    </p:bg>
    <p:spTree>
      <p:nvGrpSpPr>
        <p:cNvPr id="1" name=""/>
        <p:cNvGrpSpPr/>
        <p:nvPr/>
      </p:nvGrpSpPr>
      <p:grpSpPr/>
      <p:sp>
        <p:nvSpPr>
          <p:cNvPr id="2" name="TextBox 1"/>
          <p:cNvSpPr txBox="1"/>
          <p:nvPr/>
        </p:nvSpPr>
        <p:spPr>
          <a:xfrm>
            <a:off x="0" y="1645920"/>
            <a:ext cx="12191695" cy="914400"/>
          </a:xfrm>
          <a:prstGeom prst="rect">
            <a:avLst/>
          </a:prstGeom>
          <a:noFill/>
        </p:spPr>
        <p:txBody>
          <a:bodyPr wrap="square">
            <a:spAutoFit/>
          </a:bodyPr>
          <a:lstStyle/>
          <a:p>
            <a:pPr algn="ctr">
              <a:defRPr sz="6000" b="0">
                <a:solidFill>
                  <a:srgbClr val="F8FAFC"/>
                </a:solidFill>
                <a:latin typeface="Be Vietnam Pro"/>
              </a:defRPr>
            </a:pPr>
            <a:r>
              <a:t>🙏</a:t>
            </a:r>
          </a:p>
        </p:txBody>
      </p:sp>
      <p:sp>
        <p:nvSpPr>
          <p:cNvPr id="3" name="TextBox 2"/>
          <p:cNvSpPr txBox="1"/>
          <p:nvPr/>
        </p:nvSpPr>
        <p:spPr>
          <a:xfrm>
            <a:off x="0" y="2926080"/>
            <a:ext cx="12191695" cy="1097280"/>
          </a:xfrm>
          <a:prstGeom prst="rect">
            <a:avLst/>
          </a:prstGeom>
          <a:noFill/>
        </p:spPr>
        <p:txBody>
          <a:bodyPr wrap="square">
            <a:spAutoFit/>
          </a:bodyPr>
          <a:lstStyle/>
          <a:p>
            <a:pPr algn="ctr">
              <a:defRPr sz="5800" b="1">
                <a:solidFill>
                  <a:srgbClr val="F8FAFC"/>
                </a:solidFill>
                <a:latin typeface="Be Vietnam Pro"/>
              </a:defRPr>
            </a:pPr>
            <a:r>
              <a:t>Xin cảm ơn!</a:t>
            </a:r>
          </a:p>
        </p:txBody>
      </p:sp>
      <p:sp>
        <p:nvSpPr>
          <p:cNvPr id="4" name="TextBox 3"/>
          <p:cNvSpPr txBox="1"/>
          <p:nvPr/>
        </p:nvSpPr>
        <p:spPr>
          <a:xfrm>
            <a:off x="0" y="4206240"/>
            <a:ext cx="12191695" cy="731520"/>
          </a:xfrm>
          <a:prstGeom prst="rect">
            <a:avLst/>
          </a:prstGeom>
          <a:noFill/>
        </p:spPr>
        <p:txBody>
          <a:bodyPr wrap="square">
            <a:spAutoFit/>
          </a:bodyPr>
          <a:lstStyle/>
          <a:p>
            <a:pPr algn="ctr">
              <a:defRPr sz="2000" b="0">
                <a:solidFill>
                  <a:srgbClr val="94A3B8"/>
                </a:solidFill>
                <a:latin typeface="Be Vietnam Pro"/>
              </a:defRPr>
            </a:pPr>
            <a:r>
              <a:t>Hệ thống Quản lý Học tập Thông minh</a:t>
            </a:r>
            <a:br/>
            <a:r>
              <a:t>Sẵn sàng cho tương lai giáo dục Việt Nam</a:t>
            </a:r>
          </a:p>
        </p:txBody>
      </p:sp>
      <p:sp>
        <p:nvSpPr>
          <p:cNvPr id="5" name="TextBox 4"/>
          <p:cNvSpPr txBox="1"/>
          <p:nvPr/>
        </p:nvSpPr>
        <p:spPr>
          <a:xfrm>
            <a:off x="3200400" y="5303520"/>
            <a:ext cx="2103120" cy="365760"/>
          </a:xfrm>
          <a:prstGeom prst="rect">
            <a:avLst/>
          </a:prstGeom>
          <a:noFill/>
        </p:spPr>
        <p:txBody>
          <a:bodyPr wrap="square">
            <a:spAutoFit/>
          </a:bodyPr>
          <a:lstStyle/>
          <a:p>
            <a:pPr algn="ctr">
              <a:defRPr sz="1200" b="0">
                <a:solidFill>
                  <a:srgbClr val="C4B5FD"/>
                </a:solidFill>
                <a:latin typeface="Be Vietnam Pro"/>
              </a:defRPr>
            </a:pPr>
            <a:r>
              <a:t>🤖 AI-Powered</a:t>
            </a:r>
          </a:p>
        </p:txBody>
      </p:sp>
      <p:sp>
        <p:nvSpPr>
          <p:cNvPr id="6" name="TextBox 5"/>
          <p:cNvSpPr txBox="1"/>
          <p:nvPr/>
        </p:nvSpPr>
        <p:spPr>
          <a:xfrm>
            <a:off x="5486400" y="5303520"/>
            <a:ext cx="2103120" cy="365760"/>
          </a:xfrm>
          <a:prstGeom prst="rect">
            <a:avLst/>
          </a:prstGeom>
          <a:noFill/>
        </p:spPr>
        <p:txBody>
          <a:bodyPr wrap="square">
            <a:spAutoFit/>
          </a:bodyPr>
          <a:lstStyle/>
          <a:p>
            <a:pPr algn="ctr">
              <a:defRPr sz="1200" b="0">
                <a:solidFill>
                  <a:srgbClr val="93C5FD"/>
                </a:solidFill>
                <a:latin typeface="Be Vietnam Pro"/>
              </a:defRPr>
            </a:pPr>
            <a:r>
              <a:t>🇻🇳 Made in Vietnam</a:t>
            </a:r>
          </a:p>
        </p:txBody>
      </p:sp>
      <p:sp>
        <p:nvSpPr>
          <p:cNvPr id="7" name="TextBox 6"/>
          <p:cNvSpPr txBox="1"/>
          <p:nvPr/>
        </p:nvSpPr>
        <p:spPr>
          <a:xfrm>
            <a:off x="7772400" y="5303520"/>
            <a:ext cx="2103120" cy="365760"/>
          </a:xfrm>
          <a:prstGeom prst="rect">
            <a:avLst/>
          </a:prstGeom>
          <a:noFill/>
        </p:spPr>
        <p:txBody>
          <a:bodyPr wrap="square">
            <a:spAutoFit/>
          </a:bodyPr>
          <a:lstStyle/>
          <a:p>
            <a:pPr algn="ctr">
              <a:defRPr sz="1200" b="0">
                <a:solidFill>
                  <a:srgbClr val="6EE7B7"/>
                </a:solidFill>
                <a:latin typeface="Be Vietnam Pro"/>
              </a:defRPr>
            </a:pPr>
            <a:r>
              <a:t>📚 Education First</a:t>
            </a:r>
          </a:p>
        </p:txBody>
      </p:sp>
      <p:sp>
        <p:nvSpPr>
          <p:cNvPr id="8" name="TextBox 7"/>
          <p:cNvSpPr txBox="1"/>
          <p:nvPr/>
        </p:nvSpPr>
        <p:spPr>
          <a:xfrm>
            <a:off x="11247120" y="6446520"/>
            <a:ext cx="731520" cy="320040"/>
          </a:xfrm>
          <a:prstGeom prst="rect">
            <a:avLst/>
          </a:prstGeom>
          <a:noFill/>
        </p:spPr>
        <p:txBody>
          <a:bodyPr wrap="square">
            <a:spAutoFit/>
          </a:bodyPr>
          <a:lstStyle/>
          <a:p>
            <a:pPr algn="r">
              <a:defRPr sz="900" b="0">
                <a:solidFill>
                  <a:srgbClr val="64748B"/>
                </a:solidFill>
                <a:latin typeface="Be Vietnam Pro"/>
              </a:defRPr>
            </a:pPr>
            <a:r>
              <a:t>22/27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